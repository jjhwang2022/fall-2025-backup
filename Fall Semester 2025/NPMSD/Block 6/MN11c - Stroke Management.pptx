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5.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19.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6" r:id="rId1"/>
  </p:sldMasterIdLst>
  <p:notesMasterIdLst>
    <p:notesMasterId r:id="rId72"/>
  </p:notesMasterIdLst>
  <p:sldIdLst>
    <p:sldId id="256" r:id="rId2"/>
    <p:sldId id="257" r:id="rId3"/>
    <p:sldId id="343" r:id="rId4"/>
    <p:sldId id="258" r:id="rId5"/>
    <p:sldId id="259" r:id="rId6"/>
    <p:sldId id="260" r:id="rId7"/>
    <p:sldId id="262" r:id="rId8"/>
    <p:sldId id="294" r:id="rId9"/>
    <p:sldId id="280" r:id="rId10"/>
    <p:sldId id="265" r:id="rId11"/>
    <p:sldId id="279" r:id="rId12"/>
    <p:sldId id="291" r:id="rId13"/>
    <p:sldId id="303" r:id="rId14"/>
    <p:sldId id="318" r:id="rId15"/>
    <p:sldId id="295" r:id="rId16"/>
    <p:sldId id="293" r:id="rId17"/>
    <p:sldId id="263" r:id="rId18"/>
    <p:sldId id="271" r:id="rId19"/>
    <p:sldId id="296" r:id="rId20"/>
    <p:sldId id="338" r:id="rId21"/>
    <p:sldId id="297" r:id="rId22"/>
    <p:sldId id="284" r:id="rId23"/>
    <p:sldId id="285" r:id="rId24"/>
    <p:sldId id="286" r:id="rId25"/>
    <p:sldId id="288" r:id="rId26"/>
    <p:sldId id="304" r:id="rId27"/>
    <p:sldId id="283" r:id="rId28"/>
    <p:sldId id="317" r:id="rId29"/>
    <p:sldId id="292" r:id="rId30"/>
    <p:sldId id="298" r:id="rId31"/>
    <p:sldId id="299" r:id="rId32"/>
    <p:sldId id="301" r:id="rId33"/>
    <p:sldId id="339" r:id="rId34"/>
    <p:sldId id="341" r:id="rId35"/>
    <p:sldId id="305" r:id="rId36"/>
    <p:sldId id="300" r:id="rId37"/>
    <p:sldId id="302" r:id="rId38"/>
    <p:sldId id="273" r:id="rId39"/>
    <p:sldId id="274" r:id="rId40"/>
    <p:sldId id="275" r:id="rId41"/>
    <p:sldId id="264" r:id="rId42"/>
    <p:sldId id="342" r:id="rId43"/>
    <p:sldId id="281" r:id="rId44"/>
    <p:sldId id="307" r:id="rId45"/>
    <p:sldId id="308" r:id="rId46"/>
    <p:sldId id="309" r:id="rId47"/>
    <p:sldId id="310" r:id="rId48"/>
    <p:sldId id="311" r:id="rId49"/>
    <p:sldId id="312" r:id="rId50"/>
    <p:sldId id="313" r:id="rId51"/>
    <p:sldId id="314" r:id="rId52"/>
    <p:sldId id="315" r:id="rId53"/>
    <p:sldId id="316" r:id="rId54"/>
    <p:sldId id="319" r:id="rId55"/>
    <p:sldId id="320" r:id="rId56"/>
    <p:sldId id="322" r:id="rId57"/>
    <p:sldId id="321" r:id="rId58"/>
    <p:sldId id="323" r:id="rId59"/>
    <p:sldId id="324" r:id="rId60"/>
    <p:sldId id="325" r:id="rId61"/>
    <p:sldId id="326" r:id="rId62"/>
    <p:sldId id="327" r:id="rId63"/>
    <p:sldId id="282" r:id="rId64"/>
    <p:sldId id="330" r:id="rId65"/>
    <p:sldId id="331" r:id="rId66"/>
    <p:sldId id="333" r:id="rId67"/>
    <p:sldId id="334" r:id="rId68"/>
    <p:sldId id="335" r:id="rId69"/>
    <p:sldId id="336" r:id="rId70"/>
    <p:sldId id="337"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13"/>
    <p:restoredTop sz="82609"/>
  </p:normalViewPr>
  <p:slideViewPr>
    <p:cSldViewPr snapToGrid="0" snapToObjects="1">
      <p:cViewPr varScale="1">
        <p:scale>
          <a:sx n="122" d="100"/>
          <a:sy n="122" d="100"/>
        </p:scale>
        <p:origin x="30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FEC8091-2F7B-4A6E-ACAC-A11D5AB0F263}" type="doc">
      <dgm:prSet loTypeId="urn:microsoft.com/office/officeart/2005/8/layout/list1" loCatId="list" qsTypeId="urn:microsoft.com/office/officeart/2005/8/quickstyle/simple3" qsCatId="simple" csTypeId="urn:microsoft.com/office/officeart/2005/8/colors/accent1_2" csCatId="accent1" phldr="1"/>
      <dgm:spPr/>
      <dgm:t>
        <a:bodyPr/>
        <a:lstStyle/>
        <a:p>
          <a:endParaRPr lang="en-US"/>
        </a:p>
      </dgm:t>
    </dgm:pt>
    <dgm:pt modelId="{5DF0634D-13B8-41A5-991A-46C2B223F334}">
      <dgm:prSet/>
      <dgm:spPr/>
      <dgm:t>
        <a:bodyPr/>
        <a:lstStyle/>
        <a:p>
          <a:r>
            <a:rPr lang="en-US" dirty="0"/>
            <a:t>Ischemic stroke</a:t>
          </a:r>
        </a:p>
      </dgm:t>
    </dgm:pt>
    <dgm:pt modelId="{972B50A5-4277-4E7D-9C01-30A258F25994}" type="parTrans" cxnId="{D6C7331D-A798-4726-A309-BB9E942D1024}">
      <dgm:prSet/>
      <dgm:spPr/>
      <dgm:t>
        <a:bodyPr/>
        <a:lstStyle/>
        <a:p>
          <a:endParaRPr lang="en-US"/>
        </a:p>
      </dgm:t>
    </dgm:pt>
    <dgm:pt modelId="{E70C7DFE-07D4-4F8B-9641-AC8DA60062B6}" type="sibTrans" cxnId="{D6C7331D-A798-4726-A309-BB9E942D1024}">
      <dgm:prSet/>
      <dgm:spPr/>
      <dgm:t>
        <a:bodyPr/>
        <a:lstStyle/>
        <a:p>
          <a:endParaRPr lang="en-US"/>
        </a:p>
      </dgm:t>
    </dgm:pt>
    <dgm:pt modelId="{51D8432A-4643-4FA5-8205-365EB7CAF328}">
      <dgm:prSet/>
      <dgm:spPr/>
      <dgm:t>
        <a:bodyPr/>
        <a:lstStyle/>
        <a:p>
          <a:r>
            <a:rPr lang="en-US" dirty="0"/>
            <a:t>Large Vessel Occlusion</a:t>
          </a:r>
        </a:p>
      </dgm:t>
    </dgm:pt>
    <dgm:pt modelId="{604DED11-916A-4E88-863D-EC80E2EFF565}" type="parTrans" cxnId="{31C13BF9-807B-4E0C-AE36-A77F0DF0950E}">
      <dgm:prSet/>
      <dgm:spPr/>
      <dgm:t>
        <a:bodyPr/>
        <a:lstStyle/>
        <a:p>
          <a:endParaRPr lang="en-US"/>
        </a:p>
      </dgm:t>
    </dgm:pt>
    <dgm:pt modelId="{F0E8145C-8144-458E-8A5D-75FBA752E326}" type="sibTrans" cxnId="{31C13BF9-807B-4E0C-AE36-A77F0DF0950E}">
      <dgm:prSet/>
      <dgm:spPr/>
      <dgm:t>
        <a:bodyPr/>
        <a:lstStyle/>
        <a:p>
          <a:endParaRPr lang="en-US"/>
        </a:p>
      </dgm:t>
    </dgm:pt>
    <dgm:pt modelId="{BF30BD0F-B81C-491E-A36C-851952A02D1F}">
      <dgm:prSet/>
      <dgm:spPr/>
      <dgm:t>
        <a:bodyPr/>
        <a:lstStyle/>
        <a:p>
          <a:r>
            <a:rPr lang="en-US" dirty="0"/>
            <a:t>Small Vessel Occlusion</a:t>
          </a:r>
        </a:p>
      </dgm:t>
    </dgm:pt>
    <dgm:pt modelId="{49D77008-C54E-43E1-A69A-A4A4EB248459}" type="parTrans" cxnId="{2609F32F-2CDF-4B21-A9E1-31DF52E377BA}">
      <dgm:prSet/>
      <dgm:spPr/>
      <dgm:t>
        <a:bodyPr/>
        <a:lstStyle/>
        <a:p>
          <a:endParaRPr lang="en-US"/>
        </a:p>
      </dgm:t>
    </dgm:pt>
    <dgm:pt modelId="{90726AA5-6894-4BB3-81CF-EF58E4549226}" type="sibTrans" cxnId="{2609F32F-2CDF-4B21-A9E1-31DF52E377BA}">
      <dgm:prSet/>
      <dgm:spPr/>
      <dgm:t>
        <a:bodyPr/>
        <a:lstStyle/>
        <a:p>
          <a:endParaRPr lang="en-US"/>
        </a:p>
      </dgm:t>
    </dgm:pt>
    <dgm:pt modelId="{84F15EB9-A3F5-4984-9DCA-EDC282B44CB3}">
      <dgm:prSet/>
      <dgm:spPr/>
      <dgm:t>
        <a:bodyPr/>
        <a:lstStyle/>
        <a:p>
          <a:r>
            <a:rPr lang="en-US" dirty="0"/>
            <a:t>Cardioembolic</a:t>
          </a:r>
        </a:p>
      </dgm:t>
    </dgm:pt>
    <dgm:pt modelId="{0F25BFF4-07EB-41A5-B674-2FFBA42B35CB}" type="parTrans" cxnId="{33F1D9E2-E411-47DA-9F53-E4C8CB14CD6F}">
      <dgm:prSet/>
      <dgm:spPr/>
      <dgm:t>
        <a:bodyPr/>
        <a:lstStyle/>
        <a:p>
          <a:endParaRPr lang="en-US"/>
        </a:p>
      </dgm:t>
    </dgm:pt>
    <dgm:pt modelId="{368F650E-C2BA-41A7-A9F5-FFFF6FCF10E8}" type="sibTrans" cxnId="{33F1D9E2-E411-47DA-9F53-E4C8CB14CD6F}">
      <dgm:prSet/>
      <dgm:spPr/>
      <dgm:t>
        <a:bodyPr/>
        <a:lstStyle/>
        <a:p>
          <a:endParaRPr lang="en-US"/>
        </a:p>
      </dgm:t>
    </dgm:pt>
    <dgm:pt modelId="{09CB3A9F-CDC3-4743-9EF6-95690D48AD45}">
      <dgm:prSet/>
      <dgm:spPr/>
      <dgm:t>
        <a:bodyPr/>
        <a:lstStyle/>
        <a:p>
          <a:r>
            <a:rPr lang="en-US" dirty="0"/>
            <a:t>Hemorrhagic stroke</a:t>
          </a:r>
        </a:p>
      </dgm:t>
    </dgm:pt>
    <dgm:pt modelId="{3A248BB7-CE77-46BC-BD81-26290F85BB23}" type="parTrans" cxnId="{9868C026-A43E-4032-867F-18F53F19A6EE}">
      <dgm:prSet/>
      <dgm:spPr/>
      <dgm:t>
        <a:bodyPr/>
        <a:lstStyle/>
        <a:p>
          <a:endParaRPr lang="en-US"/>
        </a:p>
      </dgm:t>
    </dgm:pt>
    <dgm:pt modelId="{D28DAAB7-E9AE-4515-8D7A-85C7DBDC7A08}" type="sibTrans" cxnId="{9868C026-A43E-4032-867F-18F53F19A6EE}">
      <dgm:prSet/>
      <dgm:spPr/>
      <dgm:t>
        <a:bodyPr/>
        <a:lstStyle/>
        <a:p>
          <a:endParaRPr lang="en-US"/>
        </a:p>
      </dgm:t>
    </dgm:pt>
    <dgm:pt modelId="{3976C73C-7979-49C9-8F0D-10638BF39029}">
      <dgm:prSet/>
      <dgm:spPr/>
      <dgm:t>
        <a:bodyPr/>
        <a:lstStyle/>
        <a:p>
          <a:r>
            <a:rPr lang="en-US"/>
            <a:t>Intracerebral hemorrhage</a:t>
          </a:r>
        </a:p>
      </dgm:t>
    </dgm:pt>
    <dgm:pt modelId="{57A80398-FEED-431D-9607-CE235D5DA9FF}" type="parTrans" cxnId="{27674F43-E094-46D8-85A1-9ECDA0E0A5B1}">
      <dgm:prSet/>
      <dgm:spPr/>
      <dgm:t>
        <a:bodyPr/>
        <a:lstStyle/>
        <a:p>
          <a:endParaRPr lang="en-US"/>
        </a:p>
      </dgm:t>
    </dgm:pt>
    <dgm:pt modelId="{289759BE-D13E-4996-B206-8D34A10DF9B2}" type="sibTrans" cxnId="{27674F43-E094-46D8-85A1-9ECDA0E0A5B1}">
      <dgm:prSet/>
      <dgm:spPr/>
      <dgm:t>
        <a:bodyPr/>
        <a:lstStyle/>
        <a:p>
          <a:endParaRPr lang="en-US"/>
        </a:p>
      </dgm:t>
    </dgm:pt>
    <dgm:pt modelId="{10AD1BD5-FBE4-4169-8598-AF207562FBD1}">
      <dgm:prSet/>
      <dgm:spPr/>
      <dgm:t>
        <a:bodyPr/>
        <a:lstStyle/>
        <a:p>
          <a:r>
            <a:rPr lang="en-US"/>
            <a:t>Subarachnoid hemorrhage</a:t>
          </a:r>
        </a:p>
      </dgm:t>
    </dgm:pt>
    <dgm:pt modelId="{8B2B0C41-AE07-418F-8EE4-7DABC3EAC0C6}" type="parTrans" cxnId="{98FD1BED-1552-41D7-B4BF-4870253DCD03}">
      <dgm:prSet/>
      <dgm:spPr/>
      <dgm:t>
        <a:bodyPr/>
        <a:lstStyle/>
        <a:p>
          <a:endParaRPr lang="en-US"/>
        </a:p>
      </dgm:t>
    </dgm:pt>
    <dgm:pt modelId="{1C3CE0F4-6FF7-4886-9B98-1EE2A8EC4CDE}" type="sibTrans" cxnId="{98FD1BED-1552-41D7-B4BF-4870253DCD03}">
      <dgm:prSet/>
      <dgm:spPr/>
      <dgm:t>
        <a:bodyPr/>
        <a:lstStyle/>
        <a:p>
          <a:endParaRPr lang="en-US"/>
        </a:p>
      </dgm:t>
    </dgm:pt>
    <dgm:pt modelId="{3B1B1D88-269E-4A05-82FA-DDC406BE5D3F}">
      <dgm:prSet/>
      <dgm:spPr/>
      <dgm:t>
        <a:bodyPr/>
        <a:lstStyle/>
        <a:p>
          <a:r>
            <a:rPr lang="en-US" dirty="0"/>
            <a:t>Venous thrombosis</a:t>
          </a:r>
        </a:p>
      </dgm:t>
    </dgm:pt>
    <dgm:pt modelId="{B9BC3F94-7BDA-4500-9DCC-C6FB4E52A669}" type="parTrans" cxnId="{B291F5AF-E850-482D-8EA4-56F50458493E}">
      <dgm:prSet/>
      <dgm:spPr/>
      <dgm:t>
        <a:bodyPr/>
        <a:lstStyle/>
        <a:p>
          <a:endParaRPr lang="en-US"/>
        </a:p>
      </dgm:t>
    </dgm:pt>
    <dgm:pt modelId="{CE2B26BE-3F2F-4ED2-99A7-66C4AA3DE85B}" type="sibTrans" cxnId="{B291F5AF-E850-482D-8EA4-56F50458493E}">
      <dgm:prSet/>
      <dgm:spPr/>
      <dgm:t>
        <a:bodyPr/>
        <a:lstStyle/>
        <a:p>
          <a:endParaRPr lang="en-US"/>
        </a:p>
      </dgm:t>
    </dgm:pt>
    <dgm:pt modelId="{AA0B148D-8A60-0F49-9DB8-FCB3A5483A4F}">
      <dgm:prSet/>
      <dgm:spPr/>
      <dgm:t>
        <a:bodyPr/>
        <a:lstStyle/>
        <a:p>
          <a:r>
            <a:rPr lang="en-US" dirty="0"/>
            <a:t>Artery-Artery embolism </a:t>
          </a:r>
        </a:p>
      </dgm:t>
    </dgm:pt>
    <dgm:pt modelId="{B97A669B-52E1-3049-A038-353FB52317AC}" type="parTrans" cxnId="{0FFC9FFE-594F-3548-9E85-C5177FD0D91E}">
      <dgm:prSet/>
      <dgm:spPr/>
      <dgm:t>
        <a:bodyPr/>
        <a:lstStyle/>
        <a:p>
          <a:endParaRPr lang="en-US"/>
        </a:p>
      </dgm:t>
    </dgm:pt>
    <dgm:pt modelId="{35BC6588-C843-7D4B-9D19-CF0E6DEC54E1}" type="sibTrans" cxnId="{0FFC9FFE-594F-3548-9E85-C5177FD0D91E}">
      <dgm:prSet/>
      <dgm:spPr/>
      <dgm:t>
        <a:bodyPr/>
        <a:lstStyle/>
        <a:p>
          <a:endParaRPr lang="en-US"/>
        </a:p>
      </dgm:t>
    </dgm:pt>
    <dgm:pt modelId="{26EEA116-9DA4-8E4C-82ED-10CD61E1A5CE}" type="pres">
      <dgm:prSet presAssocID="{CFEC8091-2F7B-4A6E-ACAC-A11D5AB0F263}" presName="linear" presStyleCnt="0">
        <dgm:presLayoutVars>
          <dgm:dir/>
          <dgm:animLvl val="lvl"/>
          <dgm:resizeHandles val="exact"/>
        </dgm:presLayoutVars>
      </dgm:prSet>
      <dgm:spPr/>
    </dgm:pt>
    <dgm:pt modelId="{BF560D1E-0FC9-3B4B-8F46-530857CC05CC}" type="pres">
      <dgm:prSet presAssocID="{5DF0634D-13B8-41A5-991A-46C2B223F334}" presName="parentLin" presStyleCnt="0"/>
      <dgm:spPr/>
    </dgm:pt>
    <dgm:pt modelId="{52DA2C93-ECD8-BA41-B2BE-A183BF08D72A}" type="pres">
      <dgm:prSet presAssocID="{5DF0634D-13B8-41A5-991A-46C2B223F334}" presName="parentLeftMargin" presStyleLbl="node1" presStyleIdx="0" presStyleCnt="3"/>
      <dgm:spPr/>
    </dgm:pt>
    <dgm:pt modelId="{F140CA75-6A83-844A-8AE2-B374037E4847}" type="pres">
      <dgm:prSet presAssocID="{5DF0634D-13B8-41A5-991A-46C2B223F334}" presName="parentText" presStyleLbl="node1" presStyleIdx="0" presStyleCnt="3">
        <dgm:presLayoutVars>
          <dgm:chMax val="0"/>
          <dgm:bulletEnabled val="1"/>
        </dgm:presLayoutVars>
      </dgm:prSet>
      <dgm:spPr/>
    </dgm:pt>
    <dgm:pt modelId="{E407D6A0-B20E-284A-AD68-92649C055745}" type="pres">
      <dgm:prSet presAssocID="{5DF0634D-13B8-41A5-991A-46C2B223F334}" presName="negativeSpace" presStyleCnt="0"/>
      <dgm:spPr/>
    </dgm:pt>
    <dgm:pt modelId="{2BC49CA7-C1F4-A44F-A4C0-A1E1268513B2}" type="pres">
      <dgm:prSet presAssocID="{5DF0634D-13B8-41A5-991A-46C2B223F334}" presName="childText" presStyleLbl="conFgAcc1" presStyleIdx="0" presStyleCnt="3">
        <dgm:presLayoutVars>
          <dgm:bulletEnabled val="1"/>
        </dgm:presLayoutVars>
      </dgm:prSet>
      <dgm:spPr/>
    </dgm:pt>
    <dgm:pt modelId="{A487315A-18DD-2949-8C81-7F12C1E72662}" type="pres">
      <dgm:prSet presAssocID="{E70C7DFE-07D4-4F8B-9641-AC8DA60062B6}" presName="spaceBetweenRectangles" presStyleCnt="0"/>
      <dgm:spPr/>
    </dgm:pt>
    <dgm:pt modelId="{ADEFDD58-0E58-E041-B591-F4E305A2371A}" type="pres">
      <dgm:prSet presAssocID="{09CB3A9F-CDC3-4743-9EF6-95690D48AD45}" presName="parentLin" presStyleCnt="0"/>
      <dgm:spPr/>
    </dgm:pt>
    <dgm:pt modelId="{E4F1310E-8F40-6D48-94B3-C19C3BE8136B}" type="pres">
      <dgm:prSet presAssocID="{09CB3A9F-CDC3-4743-9EF6-95690D48AD45}" presName="parentLeftMargin" presStyleLbl="node1" presStyleIdx="0" presStyleCnt="3"/>
      <dgm:spPr/>
    </dgm:pt>
    <dgm:pt modelId="{E6F40565-F4EF-724F-A058-66CBE1707C18}" type="pres">
      <dgm:prSet presAssocID="{09CB3A9F-CDC3-4743-9EF6-95690D48AD45}" presName="parentText" presStyleLbl="node1" presStyleIdx="1" presStyleCnt="3">
        <dgm:presLayoutVars>
          <dgm:chMax val="0"/>
          <dgm:bulletEnabled val="1"/>
        </dgm:presLayoutVars>
      </dgm:prSet>
      <dgm:spPr/>
    </dgm:pt>
    <dgm:pt modelId="{4103C87D-F835-1849-B579-1A9AE600090A}" type="pres">
      <dgm:prSet presAssocID="{09CB3A9F-CDC3-4743-9EF6-95690D48AD45}" presName="negativeSpace" presStyleCnt="0"/>
      <dgm:spPr/>
    </dgm:pt>
    <dgm:pt modelId="{0CFF3857-1009-074C-B4E8-619179AA9E97}" type="pres">
      <dgm:prSet presAssocID="{09CB3A9F-CDC3-4743-9EF6-95690D48AD45}" presName="childText" presStyleLbl="conFgAcc1" presStyleIdx="1" presStyleCnt="3">
        <dgm:presLayoutVars>
          <dgm:bulletEnabled val="1"/>
        </dgm:presLayoutVars>
      </dgm:prSet>
      <dgm:spPr/>
    </dgm:pt>
    <dgm:pt modelId="{3DEC23BE-D1AF-1E48-B0E0-2DAB32ACA1C1}" type="pres">
      <dgm:prSet presAssocID="{D28DAAB7-E9AE-4515-8D7A-85C7DBDC7A08}" presName="spaceBetweenRectangles" presStyleCnt="0"/>
      <dgm:spPr/>
    </dgm:pt>
    <dgm:pt modelId="{B9CCECEE-1C58-4148-A764-FB7C0051E1F1}" type="pres">
      <dgm:prSet presAssocID="{3B1B1D88-269E-4A05-82FA-DDC406BE5D3F}" presName="parentLin" presStyleCnt="0"/>
      <dgm:spPr/>
    </dgm:pt>
    <dgm:pt modelId="{834E47D2-877B-CD43-BB0E-BFDC378111F8}" type="pres">
      <dgm:prSet presAssocID="{3B1B1D88-269E-4A05-82FA-DDC406BE5D3F}" presName="parentLeftMargin" presStyleLbl="node1" presStyleIdx="1" presStyleCnt="3"/>
      <dgm:spPr/>
    </dgm:pt>
    <dgm:pt modelId="{6D6725E4-0C5F-604B-A486-31BCC8AA7659}" type="pres">
      <dgm:prSet presAssocID="{3B1B1D88-269E-4A05-82FA-DDC406BE5D3F}" presName="parentText" presStyleLbl="node1" presStyleIdx="2" presStyleCnt="3">
        <dgm:presLayoutVars>
          <dgm:chMax val="0"/>
          <dgm:bulletEnabled val="1"/>
        </dgm:presLayoutVars>
      </dgm:prSet>
      <dgm:spPr/>
    </dgm:pt>
    <dgm:pt modelId="{831D9C70-C6BA-1D41-B96B-71AC4C2609DB}" type="pres">
      <dgm:prSet presAssocID="{3B1B1D88-269E-4A05-82FA-DDC406BE5D3F}" presName="negativeSpace" presStyleCnt="0"/>
      <dgm:spPr/>
    </dgm:pt>
    <dgm:pt modelId="{E1AD4F80-2731-1848-9FF8-B5E18D23CB23}" type="pres">
      <dgm:prSet presAssocID="{3B1B1D88-269E-4A05-82FA-DDC406BE5D3F}" presName="childText" presStyleLbl="conFgAcc1" presStyleIdx="2" presStyleCnt="3">
        <dgm:presLayoutVars>
          <dgm:bulletEnabled val="1"/>
        </dgm:presLayoutVars>
      </dgm:prSet>
      <dgm:spPr/>
    </dgm:pt>
  </dgm:ptLst>
  <dgm:cxnLst>
    <dgm:cxn modelId="{977BCD05-8CE1-3E4F-9159-878580244E09}" type="presOf" srcId="{3976C73C-7979-49C9-8F0D-10638BF39029}" destId="{0CFF3857-1009-074C-B4E8-619179AA9E97}" srcOrd="0" destOrd="0" presId="urn:microsoft.com/office/officeart/2005/8/layout/list1"/>
    <dgm:cxn modelId="{D6C7331D-A798-4726-A309-BB9E942D1024}" srcId="{CFEC8091-2F7B-4A6E-ACAC-A11D5AB0F263}" destId="{5DF0634D-13B8-41A5-991A-46C2B223F334}" srcOrd="0" destOrd="0" parTransId="{972B50A5-4277-4E7D-9C01-30A258F25994}" sibTransId="{E70C7DFE-07D4-4F8B-9641-AC8DA60062B6}"/>
    <dgm:cxn modelId="{9868C026-A43E-4032-867F-18F53F19A6EE}" srcId="{CFEC8091-2F7B-4A6E-ACAC-A11D5AB0F263}" destId="{09CB3A9F-CDC3-4743-9EF6-95690D48AD45}" srcOrd="1" destOrd="0" parTransId="{3A248BB7-CE77-46BC-BD81-26290F85BB23}" sibTransId="{D28DAAB7-E9AE-4515-8D7A-85C7DBDC7A08}"/>
    <dgm:cxn modelId="{767DE12F-E474-ED44-9474-FF14D2AAF108}" type="presOf" srcId="{5DF0634D-13B8-41A5-991A-46C2B223F334}" destId="{F140CA75-6A83-844A-8AE2-B374037E4847}" srcOrd="1" destOrd="0" presId="urn:microsoft.com/office/officeart/2005/8/layout/list1"/>
    <dgm:cxn modelId="{2609F32F-2CDF-4B21-A9E1-31DF52E377BA}" srcId="{5DF0634D-13B8-41A5-991A-46C2B223F334}" destId="{BF30BD0F-B81C-491E-A36C-851952A02D1F}" srcOrd="1" destOrd="0" parTransId="{49D77008-C54E-43E1-A69A-A4A4EB248459}" sibTransId="{90726AA5-6894-4BB3-81CF-EF58E4549226}"/>
    <dgm:cxn modelId="{27674F43-E094-46D8-85A1-9ECDA0E0A5B1}" srcId="{09CB3A9F-CDC3-4743-9EF6-95690D48AD45}" destId="{3976C73C-7979-49C9-8F0D-10638BF39029}" srcOrd="0" destOrd="0" parTransId="{57A80398-FEED-431D-9607-CE235D5DA9FF}" sibTransId="{289759BE-D13E-4996-B206-8D34A10DF9B2}"/>
    <dgm:cxn modelId="{C7D45D4D-2A63-FB43-A990-B97AF489C765}" type="presOf" srcId="{CFEC8091-2F7B-4A6E-ACAC-A11D5AB0F263}" destId="{26EEA116-9DA4-8E4C-82ED-10CD61E1A5CE}" srcOrd="0" destOrd="0" presId="urn:microsoft.com/office/officeart/2005/8/layout/list1"/>
    <dgm:cxn modelId="{56B73C53-CF68-814A-8C5C-B39881794514}" type="presOf" srcId="{BF30BD0F-B81C-491E-A36C-851952A02D1F}" destId="{2BC49CA7-C1F4-A44F-A4C0-A1E1268513B2}" srcOrd="0" destOrd="3" presId="urn:microsoft.com/office/officeart/2005/8/layout/list1"/>
    <dgm:cxn modelId="{3FCCC65F-101D-EA40-BEA0-353F75F8E6C0}" type="presOf" srcId="{3B1B1D88-269E-4A05-82FA-DDC406BE5D3F}" destId="{834E47D2-877B-CD43-BB0E-BFDC378111F8}" srcOrd="0" destOrd="0" presId="urn:microsoft.com/office/officeart/2005/8/layout/list1"/>
    <dgm:cxn modelId="{DBA18078-9A85-1144-9A1B-2ECD5D688B1D}" type="presOf" srcId="{09CB3A9F-CDC3-4743-9EF6-95690D48AD45}" destId="{E6F40565-F4EF-724F-A058-66CBE1707C18}" srcOrd="1" destOrd="0" presId="urn:microsoft.com/office/officeart/2005/8/layout/list1"/>
    <dgm:cxn modelId="{4485FA7C-B97A-C14B-AD69-A24B2CFAFC92}" type="presOf" srcId="{3B1B1D88-269E-4A05-82FA-DDC406BE5D3F}" destId="{6D6725E4-0C5F-604B-A486-31BCC8AA7659}" srcOrd="1" destOrd="0" presId="urn:microsoft.com/office/officeart/2005/8/layout/list1"/>
    <dgm:cxn modelId="{AF41D58F-76E5-8049-9033-347AE772D22B}" type="presOf" srcId="{51D8432A-4643-4FA5-8205-365EB7CAF328}" destId="{2BC49CA7-C1F4-A44F-A4C0-A1E1268513B2}" srcOrd="0" destOrd="0" presId="urn:microsoft.com/office/officeart/2005/8/layout/list1"/>
    <dgm:cxn modelId="{35BA0A9E-D0AE-6E48-AD94-C74C02BAE45B}" type="presOf" srcId="{5DF0634D-13B8-41A5-991A-46C2B223F334}" destId="{52DA2C93-ECD8-BA41-B2BE-A183BF08D72A}" srcOrd="0" destOrd="0" presId="urn:microsoft.com/office/officeart/2005/8/layout/list1"/>
    <dgm:cxn modelId="{B291F5AF-E850-482D-8EA4-56F50458493E}" srcId="{CFEC8091-2F7B-4A6E-ACAC-A11D5AB0F263}" destId="{3B1B1D88-269E-4A05-82FA-DDC406BE5D3F}" srcOrd="2" destOrd="0" parTransId="{B9BC3F94-7BDA-4500-9DCC-C6FB4E52A669}" sibTransId="{CE2B26BE-3F2F-4ED2-99A7-66C4AA3DE85B}"/>
    <dgm:cxn modelId="{F01816BA-E8C5-3340-BD3A-1FCEF7C7B330}" type="presOf" srcId="{84F15EB9-A3F5-4984-9DCA-EDC282B44CB3}" destId="{2BC49CA7-C1F4-A44F-A4C0-A1E1268513B2}" srcOrd="0" destOrd="1" presId="urn:microsoft.com/office/officeart/2005/8/layout/list1"/>
    <dgm:cxn modelId="{DFC44EBA-698A-5A48-A474-19CC5C4A7338}" type="presOf" srcId="{10AD1BD5-FBE4-4169-8598-AF207562FBD1}" destId="{0CFF3857-1009-074C-B4E8-619179AA9E97}" srcOrd="0" destOrd="1" presId="urn:microsoft.com/office/officeart/2005/8/layout/list1"/>
    <dgm:cxn modelId="{9DF1F9C3-964A-CB48-B51C-6A70D552C0C3}" type="presOf" srcId="{09CB3A9F-CDC3-4743-9EF6-95690D48AD45}" destId="{E4F1310E-8F40-6D48-94B3-C19C3BE8136B}" srcOrd="0" destOrd="0" presId="urn:microsoft.com/office/officeart/2005/8/layout/list1"/>
    <dgm:cxn modelId="{33F1D9E2-E411-47DA-9F53-E4C8CB14CD6F}" srcId="{51D8432A-4643-4FA5-8205-365EB7CAF328}" destId="{84F15EB9-A3F5-4984-9DCA-EDC282B44CB3}" srcOrd="0" destOrd="0" parTransId="{0F25BFF4-07EB-41A5-B674-2FFBA42B35CB}" sibTransId="{368F650E-C2BA-41A7-A9F5-FFFF6FCF10E8}"/>
    <dgm:cxn modelId="{98FD1BED-1552-41D7-B4BF-4870253DCD03}" srcId="{09CB3A9F-CDC3-4743-9EF6-95690D48AD45}" destId="{10AD1BD5-FBE4-4169-8598-AF207562FBD1}" srcOrd="1" destOrd="0" parTransId="{8B2B0C41-AE07-418F-8EE4-7DABC3EAC0C6}" sibTransId="{1C3CE0F4-6FF7-4886-9B98-1EE2A8EC4CDE}"/>
    <dgm:cxn modelId="{31C13BF9-807B-4E0C-AE36-A77F0DF0950E}" srcId="{5DF0634D-13B8-41A5-991A-46C2B223F334}" destId="{51D8432A-4643-4FA5-8205-365EB7CAF328}" srcOrd="0" destOrd="0" parTransId="{604DED11-916A-4E88-863D-EC80E2EFF565}" sibTransId="{F0E8145C-8144-458E-8A5D-75FBA752E326}"/>
    <dgm:cxn modelId="{0FFC9FFE-594F-3548-9E85-C5177FD0D91E}" srcId="{51D8432A-4643-4FA5-8205-365EB7CAF328}" destId="{AA0B148D-8A60-0F49-9DB8-FCB3A5483A4F}" srcOrd="1" destOrd="0" parTransId="{B97A669B-52E1-3049-A038-353FB52317AC}" sibTransId="{35BC6588-C843-7D4B-9D19-CF0E6DEC54E1}"/>
    <dgm:cxn modelId="{82D8E3FF-CE41-1244-BB66-BC60FA405F75}" type="presOf" srcId="{AA0B148D-8A60-0F49-9DB8-FCB3A5483A4F}" destId="{2BC49CA7-C1F4-A44F-A4C0-A1E1268513B2}" srcOrd="0" destOrd="2" presId="urn:microsoft.com/office/officeart/2005/8/layout/list1"/>
    <dgm:cxn modelId="{41AE2AE7-47A4-D34C-96C9-88C8F966AF6B}" type="presParOf" srcId="{26EEA116-9DA4-8E4C-82ED-10CD61E1A5CE}" destId="{BF560D1E-0FC9-3B4B-8F46-530857CC05CC}" srcOrd="0" destOrd="0" presId="urn:microsoft.com/office/officeart/2005/8/layout/list1"/>
    <dgm:cxn modelId="{47D7D08B-D092-C44C-B665-0D3BC48D01AD}" type="presParOf" srcId="{BF560D1E-0FC9-3B4B-8F46-530857CC05CC}" destId="{52DA2C93-ECD8-BA41-B2BE-A183BF08D72A}" srcOrd="0" destOrd="0" presId="urn:microsoft.com/office/officeart/2005/8/layout/list1"/>
    <dgm:cxn modelId="{4AF7237A-6A7B-F644-A12D-B0024A1A25FB}" type="presParOf" srcId="{BF560D1E-0FC9-3B4B-8F46-530857CC05CC}" destId="{F140CA75-6A83-844A-8AE2-B374037E4847}" srcOrd="1" destOrd="0" presId="urn:microsoft.com/office/officeart/2005/8/layout/list1"/>
    <dgm:cxn modelId="{763B4B9A-F871-3D45-80C4-71E632E4302B}" type="presParOf" srcId="{26EEA116-9DA4-8E4C-82ED-10CD61E1A5CE}" destId="{E407D6A0-B20E-284A-AD68-92649C055745}" srcOrd="1" destOrd="0" presId="urn:microsoft.com/office/officeart/2005/8/layout/list1"/>
    <dgm:cxn modelId="{8DEEBCD3-7859-5040-8E26-98A131020966}" type="presParOf" srcId="{26EEA116-9DA4-8E4C-82ED-10CD61E1A5CE}" destId="{2BC49CA7-C1F4-A44F-A4C0-A1E1268513B2}" srcOrd="2" destOrd="0" presId="urn:microsoft.com/office/officeart/2005/8/layout/list1"/>
    <dgm:cxn modelId="{6D0D92FB-35AD-B345-BDC5-E8FECDC67E45}" type="presParOf" srcId="{26EEA116-9DA4-8E4C-82ED-10CD61E1A5CE}" destId="{A487315A-18DD-2949-8C81-7F12C1E72662}" srcOrd="3" destOrd="0" presId="urn:microsoft.com/office/officeart/2005/8/layout/list1"/>
    <dgm:cxn modelId="{02144BCE-5E92-2A4D-AEC4-124D3206831F}" type="presParOf" srcId="{26EEA116-9DA4-8E4C-82ED-10CD61E1A5CE}" destId="{ADEFDD58-0E58-E041-B591-F4E305A2371A}" srcOrd="4" destOrd="0" presId="urn:microsoft.com/office/officeart/2005/8/layout/list1"/>
    <dgm:cxn modelId="{9F5669C2-0C75-DE4D-B251-DC8D35D03BB9}" type="presParOf" srcId="{ADEFDD58-0E58-E041-B591-F4E305A2371A}" destId="{E4F1310E-8F40-6D48-94B3-C19C3BE8136B}" srcOrd="0" destOrd="0" presId="urn:microsoft.com/office/officeart/2005/8/layout/list1"/>
    <dgm:cxn modelId="{8FFC0826-2806-4F44-BF5A-25C709EA30FB}" type="presParOf" srcId="{ADEFDD58-0E58-E041-B591-F4E305A2371A}" destId="{E6F40565-F4EF-724F-A058-66CBE1707C18}" srcOrd="1" destOrd="0" presId="urn:microsoft.com/office/officeart/2005/8/layout/list1"/>
    <dgm:cxn modelId="{4225667A-4470-2749-B860-E335C32FA39D}" type="presParOf" srcId="{26EEA116-9DA4-8E4C-82ED-10CD61E1A5CE}" destId="{4103C87D-F835-1849-B579-1A9AE600090A}" srcOrd="5" destOrd="0" presId="urn:microsoft.com/office/officeart/2005/8/layout/list1"/>
    <dgm:cxn modelId="{BCAEB286-DD60-BA41-88FA-B49806B5FE34}" type="presParOf" srcId="{26EEA116-9DA4-8E4C-82ED-10CD61E1A5CE}" destId="{0CFF3857-1009-074C-B4E8-619179AA9E97}" srcOrd="6" destOrd="0" presId="urn:microsoft.com/office/officeart/2005/8/layout/list1"/>
    <dgm:cxn modelId="{FCE38513-BC05-B545-8650-71B329155EB0}" type="presParOf" srcId="{26EEA116-9DA4-8E4C-82ED-10CD61E1A5CE}" destId="{3DEC23BE-D1AF-1E48-B0E0-2DAB32ACA1C1}" srcOrd="7" destOrd="0" presId="urn:microsoft.com/office/officeart/2005/8/layout/list1"/>
    <dgm:cxn modelId="{4A45F59D-4205-1C42-AE56-6BCEA9BB99EA}" type="presParOf" srcId="{26EEA116-9DA4-8E4C-82ED-10CD61E1A5CE}" destId="{B9CCECEE-1C58-4148-A764-FB7C0051E1F1}" srcOrd="8" destOrd="0" presId="urn:microsoft.com/office/officeart/2005/8/layout/list1"/>
    <dgm:cxn modelId="{27DDF60C-31DF-B842-A43B-9D62340DD0D8}" type="presParOf" srcId="{B9CCECEE-1C58-4148-A764-FB7C0051E1F1}" destId="{834E47D2-877B-CD43-BB0E-BFDC378111F8}" srcOrd="0" destOrd="0" presId="urn:microsoft.com/office/officeart/2005/8/layout/list1"/>
    <dgm:cxn modelId="{DE234E29-DC65-B54A-83C0-800872D4714F}" type="presParOf" srcId="{B9CCECEE-1C58-4148-A764-FB7C0051E1F1}" destId="{6D6725E4-0C5F-604B-A486-31BCC8AA7659}" srcOrd="1" destOrd="0" presId="urn:microsoft.com/office/officeart/2005/8/layout/list1"/>
    <dgm:cxn modelId="{C64C827C-B1BF-234F-85DB-0A49E4549456}" type="presParOf" srcId="{26EEA116-9DA4-8E4C-82ED-10CD61E1A5CE}" destId="{831D9C70-C6BA-1D41-B96B-71AC4C2609DB}" srcOrd="9" destOrd="0" presId="urn:microsoft.com/office/officeart/2005/8/layout/list1"/>
    <dgm:cxn modelId="{C5AB294E-22E5-9646-99DC-D293684C97DD}" type="presParOf" srcId="{26EEA116-9DA4-8E4C-82ED-10CD61E1A5CE}" destId="{E1AD4F80-2731-1848-9FF8-B5E18D23CB23}"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F1A608B-738A-4087-9783-8434FB3BA724}"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5C1AA3F8-74A7-4E8C-9B31-7D35EA1A08C7}">
      <dgm:prSet/>
      <dgm:spPr/>
      <dgm:t>
        <a:bodyPr/>
        <a:lstStyle/>
        <a:p>
          <a:r>
            <a:rPr lang="en-US" dirty="0"/>
            <a:t>Large Vessel Occlusion</a:t>
          </a:r>
        </a:p>
      </dgm:t>
    </dgm:pt>
    <dgm:pt modelId="{E2AF7167-5AF5-4BED-AF68-C2E62EC4BDD7}" type="parTrans" cxnId="{26FBCED6-5890-44EB-BFEE-DFBAB80C544B}">
      <dgm:prSet/>
      <dgm:spPr/>
      <dgm:t>
        <a:bodyPr/>
        <a:lstStyle/>
        <a:p>
          <a:endParaRPr lang="en-US"/>
        </a:p>
      </dgm:t>
    </dgm:pt>
    <dgm:pt modelId="{0272A5BE-7DC3-4B55-A607-3FF61D57FCAF}" type="sibTrans" cxnId="{26FBCED6-5890-44EB-BFEE-DFBAB80C544B}">
      <dgm:prSet/>
      <dgm:spPr/>
      <dgm:t>
        <a:bodyPr/>
        <a:lstStyle/>
        <a:p>
          <a:endParaRPr lang="en-US"/>
        </a:p>
      </dgm:t>
    </dgm:pt>
    <dgm:pt modelId="{5C9187EE-D3EB-40EF-B598-6AAECDFAF8F1}">
      <dgm:prSet/>
      <dgm:spPr/>
      <dgm:t>
        <a:bodyPr/>
        <a:lstStyle/>
        <a:p>
          <a:r>
            <a:rPr lang="en-US" dirty="0"/>
            <a:t>Small Vessel or Lacunar Infarct</a:t>
          </a:r>
        </a:p>
      </dgm:t>
    </dgm:pt>
    <dgm:pt modelId="{DA1CAB2B-4AAA-4374-B514-114FBD188A0A}" type="parTrans" cxnId="{104890F6-F200-45BB-9F24-9EF942AF739B}">
      <dgm:prSet/>
      <dgm:spPr/>
      <dgm:t>
        <a:bodyPr/>
        <a:lstStyle/>
        <a:p>
          <a:endParaRPr lang="en-US"/>
        </a:p>
      </dgm:t>
    </dgm:pt>
    <dgm:pt modelId="{9BC688EC-18F1-427B-B690-4E227CFF1B17}" type="sibTrans" cxnId="{104890F6-F200-45BB-9F24-9EF942AF739B}">
      <dgm:prSet/>
      <dgm:spPr/>
      <dgm:t>
        <a:bodyPr/>
        <a:lstStyle/>
        <a:p>
          <a:endParaRPr lang="en-US"/>
        </a:p>
      </dgm:t>
    </dgm:pt>
    <dgm:pt modelId="{8845225E-1087-401D-8ECB-1314B056402D}">
      <dgm:prSet/>
      <dgm:spPr/>
      <dgm:t>
        <a:bodyPr/>
        <a:lstStyle/>
        <a:p>
          <a:r>
            <a:rPr lang="en-US" dirty="0"/>
            <a:t>Local (in situ) thrombosis within the small arteries causes infarct directly in the tissue where it starts</a:t>
          </a:r>
        </a:p>
      </dgm:t>
    </dgm:pt>
    <dgm:pt modelId="{23543EFF-05F9-4478-9286-1D72E5FDB708}" type="parTrans" cxnId="{E685526F-A092-4740-9F04-14BB693AA8C7}">
      <dgm:prSet/>
      <dgm:spPr/>
      <dgm:t>
        <a:bodyPr/>
        <a:lstStyle/>
        <a:p>
          <a:endParaRPr lang="en-US"/>
        </a:p>
      </dgm:t>
    </dgm:pt>
    <dgm:pt modelId="{2EC01354-DDE8-4065-9B48-ED6003161437}" type="sibTrans" cxnId="{E685526F-A092-4740-9F04-14BB693AA8C7}">
      <dgm:prSet/>
      <dgm:spPr/>
      <dgm:t>
        <a:bodyPr/>
        <a:lstStyle/>
        <a:p>
          <a:endParaRPr lang="en-US"/>
        </a:p>
      </dgm:t>
    </dgm:pt>
    <dgm:pt modelId="{AC35CB12-E2DE-D940-ACFE-BBEC38B31021}">
      <dgm:prSet/>
      <dgm:spPr/>
      <dgm:t>
        <a:bodyPr/>
        <a:lstStyle/>
        <a:p>
          <a:r>
            <a:rPr lang="en-US" dirty="0"/>
            <a:t>Blood clot, air, septic debris, or fat is launched into the cerebral vasculature by the heart</a:t>
          </a:r>
        </a:p>
      </dgm:t>
    </dgm:pt>
    <dgm:pt modelId="{52302515-2FA6-3F4D-9FA2-895A38671990}" type="parTrans" cxnId="{7901D9FE-ED88-3142-8F91-77FA6EF4FDFB}">
      <dgm:prSet/>
      <dgm:spPr/>
      <dgm:t>
        <a:bodyPr/>
        <a:lstStyle/>
        <a:p>
          <a:endParaRPr lang="en-US"/>
        </a:p>
      </dgm:t>
    </dgm:pt>
    <dgm:pt modelId="{1E0851FB-F8D2-4E46-A917-AA566ECD4681}" type="sibTrans" cxnId="{7901D9FE-ED88-3142-8F91-77FA6EF4FDFB}">
      <dgm:prSet/>
      <dgm:spPr/>
      <dgm:t>
        <a:bodyPr/>
        <a:lstStyle/>
        <a:p>
          <a:endParaRPr lang="en-US"/>
        </a:p>
      </dgm:t>
    </dgm:pt>
    <dgm:pt modelId="{9DC0426A-EBDF-2444-A1BF-0294ECADDC59}">
      <dgm:prSet/>
      <dgm:spPr/>
      <dgm:t>
        <a:bodyPr/>
        <a:lstStyle/>
        <a:p>
          <a:r>
            <a:rPr lang="en-US" dirty="0"/>
            <a:t>Cardioembolic stroke</a:t>
          </a:r>
        </a:p>
      </dgm:t>
    </dgm:pt>
    <dgm:pt modelId="{9B0DB061-F53F-7746-B043-0429D9813566}" type="parTrans" cxnId="{1D95CA06-7C89-EB4A-8ADA-7651555FF187}">
      <dgm:prSet/>
      <dgm:spPr/>
      <dgm:t>
        <a:bodyPr/>
        <a:lstStyle/>
        <a:p>
          <a:endParaRPr lang="en-US"/>
        </a:p>
      </dgm:t>
    </dgm:pt>
    <dgm:pt modelId="{7B3A0A85-B230-BA4B-B9F2-D36BBF4FF5B0}" type="sibTrans" cxnId="{1D95CA06-7C89-EB4A-8ADA-7651555FF187}">
      <dgm:prSet/>
      <dgm:spPr/>
      <dgm:t>
        <a:bodyPr/>
        <a:lstStyle/>
        <a:p>
          <a:endParaRPr lang="en-US"/>
        </a:p>
      </dgm:t>
    </dgm:pt>
    <dgm:pt modelId="{DA7077F3-A734-F342-A0C0-74FDD29BBD88}">
      <dgm:prSet/>
      <dgm:spPr/>
      <dgm:t>
        <a:bodyPr/>
        <a:lstStyle/>
        <a:p>
          <a:r>
            <a:rPr lang="en-US" b="0" i="0" u="none" dirty="0"/>
            <a:t>Due to thrombotic or embolic occlusion of the major arteries of the brain like the internal carotid artery, middle cerebral artery, anterior cerebral artery or the vertebrobasilar system</a:t>
          </a:r>
          <a:endParaRPr lang="en-US" dirty="0"/>
        </a:p>
      </dgm:t>
    </dgm:pt>
    <dgm:pt modelId="{375C47D8-6BB6-FD4C-82EE-321BE6398521}" type="parTrans" cxnId="{D071790E-BD26-504C-8B12-25B8F5721A1C}">
      <dgm:prSet/>
      <dgm:spPr/>
      <dgm:t>
        <a:bodyPr/>
        <a:lstStyle/>
        <a:p>
          <a:endParaRPr lang="en-US"/>
        </a:p>
      </dgm:t>
    </dgm:pt>
    <dgm:pt modelId="{94560351-4612-1D4E-A1BC-8FD554DBF52A}" type="sibTrans" cxnId="{D071790E-BD26-504C-8B12-25B8F5721A1C}">
      <dgm:prSet/>
      <dgm:spPr/>
      <dgm:t>
        <a:bodyPr/>
        <a:lstStyle/>
        <a:p>
          <a:endParaRPr lang="en-US"/>
        </a:p>
      </dgm:t>
    </dgm:pt>
    <dgm:pt modelId="{1BE14B71-2A5E-AC49-ABCD-4A25BA65C487}" type="pres">
      <dgm:prSet presAssocID="{FF1A608B-738A-4087-9783-8434FB3BA724}" presName="linear" presStyleCnt="0">
        <dgm:presLayoutVars>
          <dgm:animLvl val="lvl"/>
          <dgm:resizeHandles val="exact"/>
        </dgm:presLayoutVars>
      </dgm:prSet>
      <dgm:spPr/>
    </dgm:pt>
    <dgm:pt modelId="{8686B24B-9069-3049-B4C6-968C16EE4314}" type="pres">
      <dgm:prSet presAssocID="{5C1AA3F8-74A7-4E8C-9B31-7D35EA1A08C7}" presName="parentText" presStyleLbl="node1" presStyleIdx="0" presStyleCnt="2">
        <dgm:presLayoutVars>
          <dgm:chMax val="0"/>
          <dgm:bulletEnabled val="1"/>
        </dgm:presLayoutVars>
      </dgm:prSet>
      <dgm:spPr/>
    </dgm:pt>
    <dgm:pt modelId="{ECB22C88-E919-FA40-B54F-99C0934E3C0E}" type="pres">
      <dgm:prSet presAssocID="{5C1AA3F8-74A7-4E8C-9B31-7D35EA1A08C7}" presName="childText" presStyleLbl="revTx" presStyleIdx="0" presStyleCnt="2">
        <dgm:presLayoutVars>
          <dgm:bulletEnabled val="1"/>
        </dgm:presLayoutVars>
      </dgm:prSet>
      <dgm:spPr/>
    </dgm:pt>
    <dgm:pt modelId="{CC596E57-2EC1-4E47-8DC8-33CAB85B2957}" type="pres">
      <dgm:prSet presAssocID="{5C9187EE-D3EB-40EF-B598-6AAECDFAF8F1}" presName="parentText" presStyleLbl="node1" presStyleIdx="1" presStyleCnt="2" custLinFactNeighborX="24" custLinFactNeighborY="4164">
        <dgm:presLayoutVars>
          <dgm:chMax val="0"/>
          <dgm:bulletEnabled val="1"/>
        </dgm:presLayoutVars>
      </dgm:prSet>
      <dgm:spPr/>
    </dgm:pt>
    <dgm:pt modelId="{FE2F217C-0323-9142-93F7-ABCBEF111312}" type="pres">
      <dgm:prSet presAssocID="{5C9187EE-D3EB-40EF-B598-6AAECDFAF8F1}" presName="childText" presStyleLbl="revTx" presStyleIdx="1" presStyleCnt="2">
        <dgm:presLayoutVars>
          <dgm:bulletEnabled val="1"/>
        </dgm:presLayoutVars>
      </dgm:prSet>
      <dgm:spPr/>
    </dgm:pt>
  </dgm:ptLst>
  <dgm:cxnLst>
    <dgm:cxn modelId="{1D95CA06-7C89-EB4A-8ADA-7651555FF187}" srcId="{5C1AA3F8-74A7-4E8C-9B31-7D35EA1A08C7}" destId="{9DC0426A-EBDF-2444-A1BF-0294ECADDC59}" srcOrd="1" destOrd="0" parTransId="{9B0DB061-F53F-7746-B043-0429D9813566}" sibTransId="{7B3A0A85-B230-BA4B-B9F2-D36BBF4FF5B0}"/>
    <dgm:cxn modelId="{D071790E-BD26-504C-8B12-25B8F5721A1C}" srcId="{5C1AA3F8-74A7-4E8C-9B31-7D35EA1A08C7}" destId="{DA7077F3-A734-F342-A0C0-74FDD29BBD88}" srcOrd="0" destOrd="0" parTransId="{375C47D8-6BB6-FD4C-82EE-321BE6398521}" sibTransId="{94560351-4612-1D4E-A1BC-8FD554DBF52A}"/>
    <dgm:cxn modelId="{4ABCD313-0F0A-3845-BFAA-3A66E5690B62}" type="presOf" srcId="{8845225E-1087-401D-8ECB-1314B056402D}" destId="{FE2F217C-0323-9142-93F7-ABCBEF111312}" srcOrd="0" destOrd="0" presId="urn:microsoft.com/office/officeart/2005/8/layout/vList2"/>
    <dgm:cxn modelId="{FBE18119-3C6E-9E48-A342-9D2C2F331D36}" type="presOf" srcId="{9DC0426A-EBDF-2444-A1BF-0294ECADDC59}" destId="{ECB22C88-E919-FA40-B54F-99C0934E3C0E}" srcOrd="0" destOrd="1" presId="urn:microsoft.com/office/officeart/2005/8/layout/vList2"/>
    <dgm:cxn modelId="{990F2A30-9781-2B4A-9685-BC6B1567EE1C}" type="presOf" srcId="{FF1A608B-738A-4087-9783-8434FB3BA724}" destId="{1BE14B71-2A5E-AC49-ABCD-4A25BA65C487}" srcOrd="0" destOrd="0" presId="urn:microsoft.com/office/officeart/2005/8/layout/vList2"/>
    <dgm:cxn modelId="{E451E455-1458-5E46-9269-0F22B041248E}" type="presOf" srcId="{5C1AA3F8-74A7-4E8C-9B31-7D35EA1A08C7}" destId="{8686B24B-9069-3049-B4C6-968C16EE4314}" srcOrd="0" destOrd="0" presId="urn:microsoft.com/office/officeart/2005/8/layout/vList2"/>
    <dgm:cxn modelId="{E685526F-A092-4740-9F04-14BB693AA8C7}" srcId="{5C9187EE-D3EB-40EF-B598-6AAECDFAF8F1}" destId="{8845225E-1087-401D-8ECB-1314B056402D}" srcOrd="0" destOrd="0" parTransId="{23543EFF-05F9-4478-9286-1D72E5FDB708}" sibTransId="{2EC01354-DDE8-4065-9B48-ED6003161437}"/>
    <dgm:cxn modelId="{72A369A0-701D-F243-A09F-8FBEFA78D536}" type="presOf" srcId="{AC35CB12-E2DE-D940-ACFE-BBEC38B31021}" destId="{ECB22C88-E919-FA40-B54F-99C0934E3C0E}" srcOrd="0" destOrd="2" presId="urn:microsoft.com/office/officeart/2005/8/layout/vList2"/>
    <dgm:cxn modelId="{960A77CC-008C-A149-B6D0-B217023EB609}" type="presOf" srcId="{DA7077F3-A734-F342-A0C0-74FDD29BBD88}" destId="{ECB22C88-E919-FA40-B54F-99C0934E3C0E}" srcOrd="0" destOrd="0" presId="urn:microsoft.com/office/officeart/2005/8/layout/vList2"/>
    <dgm:cxn modelId="{26FBCED6-5890-44EB-BFEE-DFBAB80C544B}" srcId="{FF1A608B-738A-4087-9783-8434FB3BA724}" destId="{5C1AA3F8-74A7-4E8C-9B31-7D35EA1A08C7}" srcOrd="0" destOrd="0" parTransId="{E2AF7167-5AF5-4BED-AF68-C2E62EC4BDD7}" sibTransId="{0272A5BE-7DC3-4B55-A607-3FF61D57FCAF}"/>
    <dgm:cxn modelId="{0EA98BE8-B67B-6042-B55D-DF923E90A33E}" type="presOf" srcId="{5C9187EE-D3EB-40EF-B598-6AAECDFAF8F1}" destId="{CC596E57-2EC1-4E47-8DC8-33CAB85B2957}" srcOrd="0" destOrd="0" presId="urn:microsoft.com/office/officeart/2005/8/layout/vList2"/>
    <dgm:cxn modelId="{104890F6-F200-45BB-9F24-9EF942AF739B}" srcId="{FF1A608B-738A-4087-9783-8434FB3BA724}" destId="{5C9187EE-D3EB-40EF-B598-6AAECDFAF8F1}" srcOrd="1" destOrd="0" parTransId="{DA1CAB2B-4AAA-4374-B514-114FBD188A0A}" sibTransId="{9BC688EC-18F1-427B-B690-4E227CFF1B17}"/>
    <dgm:cxn modelId="{7901D9FE-ED88-3142-8F91-77FA6EF4FDFB}" srcId="{9DC0426A-EBDF-2444-A1BF-0294ECADDC59}" destId="{AC35CB12-E2DE-D940-ACFE-BBEC38B31021}" srcOrd="0" destOrd="0" parTransId="{52302515-2FA6-3F4D-9FA2-895A38671990}" sibTransId="{1E0851FB-F8D2-4E46-A917-AA566ECD4681}"/>
    <dgm:cxn modelId="{D122AE16-386F-6247-9247-CEE074A83B2A}" type="presParOf" srcId="{1BE14B71-2A5E-AC49-ABCD-4A25BA65C487}" destId="{8686B24B-9069-3049-B4C6-968C16EE4314}" srcOrd="0" destOrd="0" presId="urn:microsoft.com/office/officeart/2005/8/layout/vList2"/>
    <dgm:cxn modelId="{FD39F6A2-66DB-A84D-99E6-3ECEA895A94C}" type="presParOf" srcId="{1BE14B71-2A5E-AC49-ABCD-4A25BA65C487}" destId="{ECB22C88-E919-FA40-B54F-99C0934E3C0E}" srcOrd="1" destOrd="0" presId="urn:microsoft.com/office/officeart/2005/8/layout/vList2"/>
    <dgm:cxn modelId="{4BD6BFA1-C790-664A-BD16-9544B6AD45D0}" type="presParOf" srcId="{1BE14B71-2A5E-AC49-ABCD-4A25BA65C487}" destId="{CC596E57-2EC1-4E47-8DC8-33CAB85B2957}" srcOrd="2" destOrd="0" presId="urn:microsoft.com/office/officeart/2005/8/layout/vList2"/>
    <dgm:cxn modelId="{9D312565-2A74-0349-9576-573FC7952717}" type="presParOf" srcId="{1BE14B71-2A5E-AC49-ABCD-4A25BA65C487}" destId="{FE2F217C-0323-9142-93F7-ABCBEF111312}"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D85299B-5E83-4865-9CFC-5FE34041F19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6689C911-CCC9-4AD2-B195-F0D404F290B4}">
      <dgm:prSet/>
      <dgm:spPr/>
      <dgm:t>
        <a:bodyPr/>
        <a:lstStyle/>
        <a:p>
          <a:r>
            <a:rPr lang="en-US"/>
            <a:t>Step 1: Establish the time of onset  of stroke which starts the clock on all subsequent time windows and management decisions.</a:t>
          </a:r>
        </a:p>
      </dgm:t>
    </dgm:pt>
    <dgm:pt modelId="{182C5134-1C8B-47A1-8BA5-EB52F3728377}" type="parTrans" cxnId="{3DB86199-48D0-4AFA-A4AA-B284D37660BA}">
      <dgm:prSet/>
      <dgm:spPr/>
      <dgm:t>
        <a:bodyPr/>
        <a:lstStyle/>
        <a:p>
          <a:endParaRPr lang="en-US"/>
        </a:p>
      </dgm:t>
    </dgm:pt>
    <dgm:pt modelId="{4700CEA2-7455-416A-BB34-5F90545450FB}" type="sibTrans" cxnId="{3DB86199-48D0-4AFA-A4AA-B284D37660BA}">
      <dgm:prSet/>
      <dgm:spPr/>
      <dgm:t>
        <a:bodyPr/>
        <a:lstStyle/>
        <a:p>
          <a:endParaRPr lang="en-US"/>
        </a:p>
      </dgm:t>
    </dgm:pt>
    <dgm:pt modelId="{26699EFC-2219-4780-9F04-B674A111308F}">
      <dgm:prSet/>
      <dgm:spPr/>
      <dgm:t>
        <a:bodyPr/>
        <a:lstStyle/>
        <a:p>
          <a:r>
            <a:rPr lang="en-US"/>
            <a:t>“When was the patient last seen well?”</a:t>
          </a:r>
        </a:p>
      </dgm:t>
    </dgm:pt>
    <dgm:pt modelId="{7C0C8DBB-AB77-4152-920E-FDF0FDDC79C2}" type="parTrans" cxnId="{F9A0B5CE-712F-486E-B835-D42428C30CB0}">
      <dgm:prSet/>
      <dgm:spPr/>
      <dgm:t>
        <a:bodyPr/>
        <a:lstStyle/>
        <a:p>
          <a:endParaRPr lang="en-US"/>
        </a:p>
      </dgm:t>
    </dgm:pt>
    <dgm:pt modelId="{E591807B-F104-4986-AC22-F6400DE20446}" type="sibTrans" cxnId="{F9A0B5CE-712F-486E-B835-D42428C30CB0}">
      <dgm:prSet/>
      <dgm:spPr/>
      <dgm:t>
        <a:bodyPr/>
        <a:lstStyle/>
        <a:p>
          <a:endParaRPr lang="en-US"/>
        </a:p>
      </dgm:t>
    </dgm:pt>
    <dgm:pt modelId="{C63D527A-9650-43EC-80E2-7A9FC974472F}">
      <dgm:prSet/>
      <dgm:spPr/>
      <dgm:t>
        <a:bodyPr/>
        <a:lstStyle/>
        <a:p>
          <a:r>
            <a:rPr lang="en-US"/>
            <a:t>“When was the patient last seen normal?”</a:t>
          </a:r>
        </a:p>
      </dgm:t>
    </dgm:pt>
    <dgm:pt modelId="{94E71543-EE07-4595-BA4B-0B879BF8853B}" type="parTrans" cxnId="{60E1D53E-4E79-4126-8869-9CDA61201330}">
      <dgm:prSet/>
      <dgm:spPr/>
      <dgm:t>
        <a:bodyPr/>
        <a:lstStyle/>
        <a:p>
          <a:endParaRPr lang="en-US"/>
        </a:p>
      </dgm:t>
    </dgm:pt>
    <dgm:pt modelId="{BAF24A14-4304-4F0D-BF09-8352963C7695}" type="sibTrans" cxnId="{60E1D53E-4E79-4126-8869-9CDA61201330}">
      <dgm:prSet/>
      <dgm:spPr/>
      <dgm:t>
        <a:bodyPr/>
        <a:lstStyle/>
        <a:p>
          <a:endParaRPr lang="en-US"/>
        </a:p>
      </dgm:t>
    </dgm:pt>
    <dgm:pt modelId="{11CF9243-A68F-47D2-9E7E-C779B8F4DB28}">
      <dgm:prSet/>
      <dgm:spPr/>
      <dgm:t>
        <a:bodyPr/>
        <a:lstStyle/>
        <a:p>
          <a:r>
            <a:rPr lang="en-US"/>
            <a:t>“When was the patient last known well?” (</a:t>
          </a:r>
          <a:r>
            <a:rPr lang="en-US" b="1"/>
            <a:t>LKW</a:t>
          </a:r>
          <a:r>
            <a:rPr lang="en-US"/>
            <a:t>)</a:t>
          </a:r>
        </a:p>
      </dgm:t>
    </dgm:pt>
    <dgm:pt modelId="{96F98647-FBBE-465C-ABF4-34D8584ECEFD}" type="parTrans" cxnId="{BF201EB5-555F-4723-96D7-712D0D967270}">
      <dgm:prSet/>
      <dgm:spPr/>
      <dgm:t>
        <a:bodyPr/>
        <a:lstStyle/>
        <a:p>
          <a:endParaRPr lang="en-US"/>
        </a:p>
      </dgm:t>
    </dgm:pt>
    <dgm:pt modelId="{3BBFA733-90AC-4948-963A-8463CEBB3516}" type="sibTrans" cxnId="{BF201EB5-555F-4723-96D7-712D0D967270}">
      <dgm:prSet/>
      <dgm:spPr/>
      <dgm:t>
        <a:bodyPr/>
        <a:lstStyle/>
        <a:p>
          <a:endParaRPr lang="en-US"/>
        </a:p>
      </dgm:t>
    </dgm:pt>
    <dgm:pt modelId="{8D2980F4-051B-4612-B09D-AE595D82684A}">
      <dgm:prSet/>
      <dgm:spPr/>
      <dgm:t>
        <a:bodyPr/>
        <a:lstStyle/>
        <a:p>
          <a:r>
            <a:rPr lang="en-US"/>
            <a:t>Write down the time, ex: 8:45 am; not “45 minutes ago”. </a:t>
          </a:r>
        </a:p>
      </dgm:t>
    </dgm:pt>
    <dgm:pt modelId="{E9BD3CC2-5083-48E0-884F-1A76ED536EA0}" type="parTrans" cxnId="{04016A56-3DB4-435D-B4DF-337D8237F428}">
      <dgm:prSet/>
      <dgm:spPr/>
      <dgm:t>
        <a:bodyPr/>
        <a:lstStyle/>
        <a:p>
          <a:endParaRPr lang="en-US"/>
        </a:p>
      </dgm:t>
    </dgm:pt>
    <dgm:pt modelId="{F0E3C984-2ACA-4C67-9F25-3B02ABEE1BA7}" type="sibTrans" cxnId="{04016A56-3DB4-435D-B4DF-337D8237F428}">
      <dgm:prSet/>
      <dgm:spPr/>
      <dgm:t>
        <a:bodyPr/>
        <a:lstStyle/>
        <a:p>
          <a:endParaRPr lang="en-US"/>
        </a:p>
      </dgm:t>
    </dgm:pt>
    <dgm:pt modelId="{7823D6F6-6BC6-4D9A-B7D2-DF4B36BFCBF1}">
      <dgm:prSet/>
      <dgm:spPr/>
      <dgm:t>
        <a:bodyPr/>
        <a:lstStyle/>
        <a:p>
          <a:r>
            <a:rPr lang="en-US"/>
            <a:t>Step 2:  History of the presenting symptom (which will help distinguish mimics from stroke). Temporal onset needed. Stroke is “abrupt”, not gradual like migraine for instance.  Are symptoms “stuttering”, fluctuating, improving? </a:t>
          </a:r>
        </a:p>
      </dgm:t>
    </dgm:pt>
    <dgm:pt modelId="{D3FC0B49-EABE-40DD-80CD-C3ED46127A9C}" type="parTrans" cxnId="{BD939FB8-A11B-4B15-A489-34FFC75CE3B0}">
      <dgm:prSet/>
      <dgm:spPr/>
      <dgm:t>
        <a:bodyPr/>
        <a:lstStyle/>
        <a:p>
          <a:endParaRPr lang="en-US"/>
        </a:p>
      </dgm:t>
    </dgm:pt>
    <dgm:pt modelId="{FB8DB355-C86A-4B07-B1A2-2D8B71176E32}" type="sibTrans" cxnId="{BD939FB8-A11B-4B15-A489-34FFC75CE3B0}">
      <dgm:prSet/>
      <dgm:spPr/>
      <dgm:t>
        <a:bodyPr/>
        <a:lstStyle/>
        <a:p>
          <a:endParaRPr lang="en-US"/>
        </a:p>
      </dgm:t>
    </dgm:pt>
    <dgm:pt modelId="{D0C14CF0-F96E-4657-8257-6C6A14CC5E7A}">
      <dgm:prSet/>
      <dgm:spPr/>
      <dgm:t>
        <a:bodyPr/>
        <a:lstStyle/>
        <a:p>
          <a:r>
            <a:rPr lang="en-US"/>
            <a:t>Step 3:  PMHX (to determine risk factors and eligibility for IV rtPA)</a:t>
          </a:r>
        </a:p>
      </dgm:t>
    </dgm:pt>
    <dgm:pt modelId="{519264CB-CA01-4EDD-B936-C7AAE9866A0D}" type="parTrans" cxnId="{097328F5-D1AC-4A63-8465-C36F769F36CA}">
      <dgm:prSet/>
      <dgm:spPr/>
      <dgm:t>
        <a:bodyPr/>
        <a:lstStyle/>
        <a:p>
          <a:endParaRPr lang="en-US"/>
        </a:p>
      </dgm:t>
    </dgm:pt>
    <dgm:pt modelId="{BE137F19-8125-41EC-8ECD-B5F5E7DE0003}" type="sibTrans" cxnId="{097328F5-D1AC-4A63-8465-C36F769F36CA}">
      <dgm:prSet/>
      <dgm:spPr/>
      <dgm:t>
        <a:bodyPr/>
        <a:lstStyle/>
        <a:p>
          <a:endParaRPr lang="en-US"/>
        </a:p>
      </dgm:t>
    </dgm:pt>
    <dgm:pt modelId="{7A320723-6BEF-384F-8115-6E864D606536}" type="pres">
      <dgm:prSet presAssocID="{3D85299B-5E83-4865-9CFC-5FE34041F19A}" presName="linear" presStyleCnt="0">
        <dgm:presLayoutVars>
          <dgm:animLvl val="lvl"/>
          <dgm:resizeHandles val="exact"/>
        </dgm:presLayoutVars>
      </dgm:prSet>
      <dgm:spPr/>
    </dgm:pt>
    <dgm:pt modelId="{9F5DC6FD-6703-DD49-9775-544B116E846F}" type="pres">
      <dgm:prSet presAssocID="{6689C911-CCC9-4AD2-B195-F0D404F290B4}" presName="parentText" presStyleLbl="node1" presStyleIdx="0" presStyleCnt="3">
        <dgm:presLayoutVars>
          <dgm:chMax val="0"/>
          <dgm:bulletEnabled val="1"/>
        </dgm:presLayoutVars>
      </dgm:prSet>
      <dgm:spPr/>
    </dgm:pt>
    <dgm:pt modelId="{5BFC8689-E6FB-D141-809B-D78370B34AC3}" type="pres">
      <dgm:prSet presAssocID="{6689C911-CCC9-4AD2-B195-F0D404F290B4}" presName="childText" presStyleLbl="revTx" presStyleIdx="0" presStyleCnt="1">
        <dgm:presLayoutVars>
          <dgm:bulletEnabled val="1"/>
        </dgm:presLayoutVars>
      </dgm:prSet>
      <dgm:spPr/>
    </dgm:pt>
    <dgm:pt modelId="{6121CFA2-7820-0B47-96DA-D4A0FF07A2A0}" type="pres">
      <dgm:prSet presAssocID="{7823D6F6-6BC6-4D9A-B7D2-DF4B36BFCBF1}" presName="parentText" presStyleLbl="node1" presStyleIdx="1" presStyleCnt="3">
        <dgm:presLayoutVars>
          <dgm:chMax val="0"/>
          <dgm:bulletEnabled val="1"/>
        </dgm:presLayoutVars>
      </dgm:prSet>
      <dgm:spPr/>
    </dgm:pt>
    <dgm:pt modelId="{DFB251D1-4DC8-7D4C-A8FC-A4655480436B}" type="pres">
      <dgm:prSet presAssocID="{FB8DB355-C86A-4B07-B1A2-2D8B71176E32}" presName="spacer" presStyleCnt="0"/>
      <dgm:spPr/>
    </dgm:pt>
    <dgm:pt modelId="{4178016B-D0FB-EA48-BEA8-E888347C44B1}" type="pres">
      <dgm:prSet presAssocID="{D0C14CF0-F96E-4657-8257-6C6A14CC5E7A}" presName="parentText" presStyleLbl="node1" presStyleIdx="2" presStyleCnt="3">
        <dgm:presLayoutVars>
          <dgm:chMax val="0"/>
          <dgm:bulletEnabled val="1"/>
        </dgm:presLayoutVars>
      </dgm:prSet>
      <dgm:spPr/>
    </dgm:pt>
  </dgm:ptLst>
  <dgm:cxnLst>
    <dgm:cxn modelId="{BAFE9705-C5E5-2B42-BB64-7414856AECBB}" type="presOf" srcId="{11CF9243-A68F-47D2-9E7E-C779B8F4DB28}" destId="{5BFC8689-E6FB-D141-809B-D78370B34AC3}" srcOrd="0" destOrd="2" presId="urn:microsoft.com/office/officeart/2005/8/layout/vList2"/>
    <dgm:cxn modelId="{60E1D53E-4E79-4126-8869-9CDA61201330}" srcId="{6689C911-CCC9-4AD2-B195-F0D404F290B4}" destId="{C63D527A-9650-43EC-80E2-7A9FC974472F}" srcOrd="1" destOrd="0" parTransId="{94E71543-EE07-4595-BA4B-0B879BF8853B}" sibTransId="{BAF24A14-4304-4F0D-BF09-8352963C7695}"/>
    <dgm:cxn modelId="{60862B42-EF9A-9149-966B-D95D23C199CB}" type="presOf" srcId="{3D85299B-5E83-4865-9CFC-5FE34041F19A}" destId="{7A320723-6BEF-384F-8115-6E864D606536}" srcOrd="0" destOrd="0" presId="urn:microsoft.com/office/officeart/2005/8/layout/vList2"/>
    <dgm:cxn modelId="{ED6CE250-6B54-634A-AE97-3BC3C2E43C01}" type="presOf" srcId="{26699EFC-2219-4780-9F04-B674A111308F}" destId="{5BFC8689-E6FB-D141-809B-D78370B34AC3}" srcOrd="0" destOrd="0" presId="urn:microsoft.com/office/officeart/2005/8/layout/vList2"/>
    <dgm:cxn modelId="{04016A56-3DB4-435D-B4DF-337D8237F428}" srcId="{6689C911-CCC9-4AD2-B195-F0D404F290B4}" destId="{8D2980F4-051B-4612-B09D-AE595D82684A}" srcOrd="3" destOrd="0" parTransId="{E9BD3CC2-5083-48E0-884F-1A76ED536EA0}" sibTransId="{F0E3C984-2ACA-4C67-9F25-3B02ABEE1BA7}"/>
    <dgm:cxn modelId="{82622091-ADB1-2841-9B20-8111ED9412C9}" type="presOf" srcId="{6689C911-CCC9-4AD2-B195-F0D404F290B4}" destId="{9F5DC6FD-6703-DD49-9775-544B116E846F}" srcOrd="0" destOrd="0" presId="urn:microsoft.com/office/officeart/2005/8/layout/vList2"/>
    <dgm:cxn modelId="{3DB86199-48D0-4AFA-A4AA-B284D37660BA}" srcId="{3D85299B-5E83-4865-9CFC-5FE34041F19A}" destId="{6689C911-CCC9-4AD2-B195-F0D404F290B4}" srcOrd="0" destOrd="0" parTransId="{182C5134-1C8B-47A1-8BA5-EB52F3728377}" sibTransId="{4700CEA2-7455-416A-BB34-5F90545450FB}"/>
    <dgm:cxn modelId="{BF201EB5-555F-4723-96D7-712D0D967270}" srcId="{6689C911-CCC9-4AD2-B195-F0D404F290B4}" destId="{11CF9243-A68F-47D2-9E7E-C779B8F4DB28}" srcOrd="2" destOrd="0" parTransId="{96F98647-FBBE-465C-ABF4-34D8584ECEFD}" sibTransId="{3BBFA733-90AC-4948-963A-8463CEBB3516}"/>
    <dgm:cxn modelId="{D2FB23B5-B533-4B49-814D-9BC3EE995321}" type="presOf" srcId="{8D2980F4-051B-4612-B09D-AE595D82684A}" destId="{5BFC8689-E6FB-D141-809B-D78370B34AC3}" srcOrd="0" destOrd="3" presId="urn:microsoft.com/office/officeart/2005/8/layout/vList2"/>
    <dgm:cxn modelId="{E096A2B7-41DF-5743-AECC-D64284B09D26}" type="presOf" srcId="{7823D6F6-6BC6-4D9A-B7D2-DF4B36BFCBF1}" destId="{6121CFA2-7820-0B47-96DA-D4A0FF07A2A0}" srcOrd="0" destOrd="0" presId="urn:microsoft.com/office/officeart/2005/8/layout/vList2"/>
    <dgm:cxn modelId="{BD939FB8-A11B-4B15-A489-34FFC75CE3B0}" srcId="{3D85299B-5E83-4865-9CFC-5FE34041F19A}" destId="{7823D6F6-6BC6-4D9A-B7D2-DF4B36BFCBF1}" srcOrd="1" destOrd="0" parTransId="{D3FC0B49-EABE-40DD-80CD-C3ED46127A9C}" sibTransId="{FB8DB355-C86A-4B07-B1A2-2D8B71176E32}"/>
    <dgm:cxn modelId="{561E2FCD-0C18-FA43-A9F5-2DA1A3E73FF3}" type="presOf" srcId="{C63D527A-9650-43EC-80E2-7A9FC974472F}" destId="{5BFC8689-E6FB-D141-809B-D78370B34AC3}" srcOrd="0" destOrd="1" presId="urn:microsoft.com/office/officeart/2005/8/layout/vList2"/>
    <dgm:cxn modelId="{F9A0B5CE-712F-486E-B835-D42428C30CB0}" srcId="{6689C911-CCC9-4AD2-B195-F0D404F290B4}" destId="{26699EFC-2219-4780-9F04-B674A111308F}" srcOrd="0" destOrd="0" parTransId="{7C0C8DBB-AB77-4152-920E-FDF0FDDC79C2}" sibTransId="{E591807B-F104-4986-AC22-F6400DE20446}"/>
    <dgm:cxn modelId="{EA5E87D9-CE83-204E-8E8C-2A199B50CAEF}" type="presOf" srcId="{D0C14CF0-F96E-4657-8257-6C6A14CC5E7A}" destId="{4178016B-D0FB-EA48-BEA8-E888347C44B1}" srcOrd="0" destOrd="0" presId="urn:microsoft.com/office/officeart/2005/8/layout/vList2"/>
    <dgm:cxn modelId="{097328F5-D1AC-4A63-8465-C36F769F36CA}" srcId="{3D85299B-5E83-4865-9CFC-5FE34041F19A}" destId="{D0C14CF0-F96E-4657-8257-6C6A14CC5E7A}" srcOrd="2" destOrd="0" parTransId="{519264CB-CA01-4EDD-B936-C7AAE9866A0D}" sibTransId="{BE137F19-8125-41EC-8ECD-B5F5E7DE0003}"/>
    <dgm:cxn modelId="{5E70DCD8-EAF3-5547-89E5-F5C1A2E62830}" type="presParOf" srcId="{7A320723-6BEF-384F-8115-6E864D606536}" destId="{9F5DC6FD-6703-DD49-9775-544B116E846F}" srcOrd="0" destOrd="0" presId="urn:microsoft.com/office/officeart/2005/8/layout/vList2"/>
    <dgm:cxn modelId="{1688C157-8F33-C845-BF75-2C16B9204AD1}" type="presParOf" srcId="{7A320723-6BEF-384F-8115-6E864D606536}" destId="{5BFC8689-E6FB-D141-809B-D78370B34AC3}" srcOrd="1" destOrd="0" presId="urn:microsoft.com/office/officeart/2005/8/layout/vList2"/>
    <dgm:cxn modelId="{5F6340EB-B13C-0245-AA0D-94F195E3A24F}" type="presParOf" srcId="{7A320723-6BEF-384F-8115-6E864D606536}" destId="{6121CFA2-7820-0B47-96DA-D4A0FF07A2A0}" srcOrd="2" destOrd="0" presId="urn:microsoft.com/office/officeart/2005/8/layout/vList2"/>
    <dgm:cxn modelId="{B5103A8C-976D-784D-996A-87F9AC627723}" type="presParOf" srcId="{7A320723-6BEF-384F-8115-6E864D606536}" destId="{DFB251D1-4DC8-7D4C-A8FC-A4655480436B}" srcOrd="3" destOrd="0" presId="urn:microsoft.com/office/officeart/2005/8/layout/vList2"/>
    <dgm:cxn modelId="{30E9C874-3A4F-2441-9E00-90ADAD14D726}" type="presParOf" srcId="{7A320723-6BEF-384F-8115-6E864D606536}" destId="{4178016B-D0FB-EA48-BEA8-E888347C44B1}"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C86B959-8A73-4046-9E61-A2DE78EA3F37}"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99CB5B14-BFF0-4A47-912E-E0C0424E37B0}">
      <dgm:prSet/>
      <dgm:spPr/>
      <dgm:t>
        <a:bodyPr/>
        <a:lstStyle/>
        <a:p>
          <a:r>
            <a:rPr lang="en-US"/>
            <a:t>Seizures</a:t>
          </a:r>
        </a:p>
      </dgm:t>
    </dgm:pt>
    <dgm:pt modelId="{64B21CC7-ED16-47F2-BFBF-6199BCF6CAE6}" type="parTrans" cxnId="{E80D54E8-ABD9-4D88-AFC6-625FDA10CA65}">
      <dgm:prSet/>
      <dgm:spPr/>
      <dgm:t>
        <a:bodyPr/>
        <a:lstStyle/>
        <a:p>
          <a:endParaRPr lang="en-US"/>
        </a:p>
      </dgm:t>
    </dgm:pt>
    <dgm:pt modelId="{7F80651C-9DC2-444C-AC29-D4DE0417CF6F}" type="sibTrans" cxnId="{E80D54E8-ABD9-4D88-AFC6-625FDA10CA65}">
      <dgm:prSet/>
      <dgm:spPr/>
      <dgm:t>
        <a:bodyPr/>
        <a:lstStyle/>
        <a:p>
          <a:endParaRPr lang="en-US"/>
        </a:p>
      </dgm:t>
    </dgm:pt>
    <dgm:pt modelId="{6B53CF8B-6DC6-4AB8-954B-EB2903504878}">
      <dgm:prSet/>
      <dgm:spPr/>
      <dgm:t>
        <a:bodyPr/>
        <a:lstStyle/>
        <a:p>
          <a:r>
            <a:rPr lang="en-US"/>
            <a:t>May occur in 1/3 of adults and nearly 1/2 of children with CVT</a:t>
          </a:r>
        </a:p>
      </dgm:t>
    </dgm:pt>
    <dgm:pt modelId="{AB52FC0F-E09E-449C-89AD-C55AE381352E}" type="parTrans" cxnId="{B2DA1A00-A133-4ABF-8E59-EC890D64DCA9}">
      <dgm:prSet/>
      <dgm:spPr/>
      <dgm:t>
        <a:bodyPr/>
        <a:lstStyle/>
        <a:p>
          <a:endParaRPr lang="en-US"/>
        </a:p>
      </dgm:t>
    </dgm:pt>
    <dgm:pt modelId="{8468494A-A63D-4238-B328-D5175BA6F13F}" type="sibTrans" cxnId="{B2DA1A00-A133-4ABF-8E59-EC890D64DCA9}">
      <dgm:prSet/>
      <dgm:spPr/>
      <dgm:t>
        <a:bodyPr/>
        <a:lstStyle/>
        <a:p>
          <a:endParaRPr lang="en-US"/>
        </a:p>
      </dgm:t>
    </dgm:pt>
    <dgm:pt modelId="{6B8FB233-9D73-460D-A792-52C368D10C48}">
      <dgm:prSet/>
      <dgm:spPr/>
      <dgm:t>
        <a:bodyPr/>
        <a:lstStyle/>
        <a:p>
          <a:r>
            <a:rPr lang="en-US" dirty="0"/>
            <a:t>Factors associated with development of seizures: venous infarction, hemorrhagic conversion, and intracranial hypertension</a:t>
          </a:r>
        </a:p>
      </dgm:t>
    </dgm:pt>
    <dgm:pt modelId="{3240494D-35D8-4AD1-B2A5-76E771E0BEB5}" type="parTrans" cxnId="{5BC03A88-3EE1-430F-89BB-A368F8485BAF}">
      <dgm:prSet/>
      <dgm:spPr/>
      <dgm:t>
        <a:bodyPr/>
        <a:lstStyle/>
        <a:p>
          <a:endParaRPr lang="en-US"/>
        </a:p>
      </dgm:t>
    </dgm:pt>
    <dgm:pt modelId="{A3C2307E-8896-4C1C-8C76-AC07501E0840}" type="sibTrans" cxnId="{5BC03A88-3EE1-430F-89BB-A368F8485BAF}">
      <dgm:prSet/>
      <dgm:spPr/>
      <dgm:t>
        <a:bodyPr/>
        <a:lstStyle/>
        <a:p>
          <a:endParaRPr lang="en-US"/>
        </a:p>
      </dgm:t>
    </dgm:pt>
    <dgm:pt modelId="{77069254-F537-45F3-8116-BB8C293FAF80}">
      <dgm:prSet/>
      <dgm:spPr/>
      <dgm:t>
        <a:bodyPr/>
        <a:lstStyle/>
        <a:p>
          <a:r>
            <a:rPr lang="en-US" dirty="0"/>
            <a:t>No evidence for prophylactic use of antiepileptic drugs </a:t>
          </a:r>
        </a:p>
      </dgm:t>
    </dgm:pt>
    <dgm:pt modelId="{548B166A-2E8C-4631-B5FD-9BA53C688400}" type="parTrans" cxnId="{9542B1ED-B151-42A5-AEEC-B88EBA97FA12}">
      <dgm:prSet/>
      <dgm:spPr/>
      <dgm:t>
        <a:bodyPr/>
        <a:lstStyle/>
        <a:p>
          <a:endParaRPr lang="en-US"/>
        </a:p>
      </dgm:t>
    </dgm:pt>
    <dgm:pt modelId="{A3E2797E-A143-4B3F-8E01-B3A476DA90A6}" type="sibTrans" cxnId="{9542B1ED-B151-42A5-AEEC-B88EBA97FA12}">
      <dgm:prSet/>
      <dgm:spPr/>
      <dgm:t>
        <a:bodyPr/>
        <a:lstStyle/>
        <a:p>
          <a:endParaRPr lang="en-US"/>
        </a:p>
      </dgm:t>
    </dgm:pt>
    <dgm:pt modelId="{E235FEF1-4BAA-44E6-9BF4-4A85E31DBDB4}">
      <dgm:prSet/>
      <dgm:spPr/>
      <dgm:t>
        <a:bodyPr/>
        <a:lstStyle/>
        <a:p>
          <a:r>
            <a:rPr lang="en-US"/>
            <a:t>Guidelines recommend early initiation of antiepileptic drugs in patients 1 or more seizures</a:t>
          </a:r>
        </a:p>
      </dgm:t>
    </dgm:pt>
    <dgm:pt modelId="{DD978588-74D1-4CEA-9E72-FAE02CAD00E4}" type="parTrans" cxnId="{8E860438-5678-46E6-BF32-9881BEF0EC64}">
      <dgm:prSet/>
      <dgm:spPr/>
      <dgm:t>
        <a:bodyPr/>
        <a:lstStyle/>
        <a:p>
          <a:endParaRPr lang="en-US"/>
        </a:p>
      </dgm:t>
    </dgm:pt>
    <dgm:pt modelId="{1262AD37-E7D3-4003-90F3-BD33C16D2861}" type="sibTrans" cxnId="{8E860438-5678-46E6-BF32-9881BEF0EC64}">
      <dgm:prSet/>
      <dgm:spPr/>
      <dgm:t>
        <a:bodyPr/>
        <a:lstStyle/>
        <a:p>
          <a:endParaRPr lang="en-US"/>
        </a:p>
      </dgm:t>
    </dgm:pt>
    <dgm:pt modelId="{DCD216B7-5EB6-49B6-BF40-6E5276A0BAB9}">
      <dgm:prSet/>
      <dgm:spPr/>
      <dgm:t>
        <a:bodyPr/>
        <a:lstStyle/>
        <a:p>
          <a:r>
            <a:rPr lang="en-US"/>
            <a:t>Hydrocephalus</a:t>
          </a:r>
        </a:p>
      </dgm:t>
    </dgm:pt>
    <dgm:pt modelId="{7C1C5255-07AE-40DD-9968-BBEDB6126A51}" type="parTrans" cxnId="{5A2B4CA7-AAEF-4205-BB2F-2E7FDAA86249}">
      <dgm:prSet/>
      <dgm:spPr/>
      <dgm:t>
        <a:bodyPr/>
        <a:lstStyle/>
        <a:p>
          <a:endParaRPr lang="en-US"/>
        </a:p>
      </dgm:t>
    </dgm:pt>
    <dgm:pt modelId="{08D95FF0-8B69-4B12-99BD-E9F42F42A74A}" type="sibTrans" cxnId="{5A2B4CA7-AAEF-4205-BB2F-2E7FDAA86249}">
      <dgm:prSet/>
      <dgm:spPr/>
      <dgm:t>
        <a:bodyPr/>
        <a:lstStyle/>
        <a:p>
          <a:endParaRPr lang="en-US"/>
        </a:p>
      </dgm:t>
    </dgm:pt>
    <dgm:pt modelId="{4CD0B7F6-FEB9-4CF1-86C5-01D8E41FBA91}">
      <dgm:prSet/>
      <dgm:spPr/>
      <dgm:t>
        <a:bodyPr/>
        <a:lstStyle/>
        <a:p>
          <a:r>
            <a:rPr lang="en-US" dirty="0"/>
            <a:t>Thrombosis of major sinuses (</a:t>
          </a:r>
          <a:r>
            <a:rPr lang="en-US" dirty="0" err="1"/>
            <a:t>eg</a:t>
          </a:r>
          <a:r>
            <a:rPr lang="en-US" dirty="0"/>
            <a:t>, superior sagittal, transverse sinuses) may affect CSF drainage, resulting in communicating hydrocephalus</a:t>
          </a:r>
        </a:p>
      </dgm:t>
    </dgm:pt>
    <dgm:pt modelId="{43C69B39-400E-416A-8FB6-A25DDBD00104}" type="parTrans" cxnId="{3C52CA76-5E0C-4A07-9C37-7C582AF5395E}">
      <dgm:prSet/>
      <dgm:spPr/>
      <dgm:t>
        <a:bodyPr/>
        <a:lstStyle/>
        <a:p>
          <a:endParaRPr lang="en-US"/>
        </a:p>
      </dgm:t>
    </dgm:pt>
    <dgm:pt modelId="{470482DB-DA53-4D35-B1B2-9E175C201446}" type="sibTrans" cxnId="{3C52CA76-5E0C-4A07-9C37-7C582AF5395E}">
      <dgm:prSet/>
      <dgm:spPr/>
      <dgm:t>
        <a:bodyPr/>
        <a:lstStyle/>
        <a:p>
          <a:endParaRPr lang="en-US"/>
        </a:p>
      </dgm:t>
    </dgm:pt>
    <dgm:pt modelId="{4AC678E3-1E3A-4D1A-9ECA-ABF6959C8406}">
      <dgm:prSet/>
      <dgm:spPr/>
      <dgm:t>
        <a:bodyPr/>
        <a:lstStyle/>
        <a:p>
          <a:r>
            <a:rPr lang="en-US" dirty="0"/>
            <a:t>Treatment includes measures to decrease the production of CSF, recanalization of the thrombosed sinus, and management of intracranial hypertension.</a:t>
          </a:r>
        </a:p>
      </dgm:t>
    </dgm:pt>
    <dgm:pt modelId="{AE37DFE7-8AD1-4443-927D-6D1BB7CB3A0C}" type="parTrans" cxnId="{C41EED8A-E041-4554-85FA-3FE08FBA76F2}">
      <dgm:prSet/>
      <dgm:spPr/>
      <dgm:t>
        <a:bodyPr/>
        <a:lstStyle/>
        <a:p>
          <a:endParaRPr lang="en-US"/>
        </a:p>
      </dgm:t>
    </dgm:pt>
    <dgm:pt modelId="{9CB3E541-8CE5-403A-81B3-B952F85E24BA}" type="sibTrans" cxnId="{C41EED8A-E041-4554-85FA-3FE08FBA76F2}">
      <dgm:prSet/>
      <dgm:spPr/>
      <dgm:t>
        <a:bodyPr/>
        <a:lstStyle/>
        <a:p>
          <a:endParaRPr lang="en-US"/>
        </a:p>
      </dgm:t>
    </dgm:pt>
    <dgm:pt modelId="{CBB79241-0EBA-4AA9-888A-4AB96A87927F}">
      <dgm:prSet/>
      <dgm:spPr/>
      <dgm:t>
        <a:bodyPr/>
        <a:lstStyle/>
        <a:p>
          <a:r>
            <a:rPr lang="en-US" dirty="0"/>
            <a:t>Neurosurgical consultation for evacuation of CSF either with ventriculostomy or ventriculoperitoneal shunt may be necessary</a:t>
          </a:r>
        </a:p>
      </dgm:t>
    </dgm:pt>
    <dgm:pt modelId="{9DDDBDB6-F179-442B-91EB-3E53F9AD23EC}" type="parTrans" cxnId="{593CB831-CF53-415E-A063-1C56DFFF22C5}">
      <dgm:prSet/>
      <dgm:spPr/>
      <dgm:t>
        <a:bodyPr/>
        <a:lstStyle/>
        <a:p>
          <a:endParaRPr lang="en-US"/>
        </a:p>
      </dgm:t>
    </dgm:pt>
    <dgm:pt modelId="{EB7944D0-C267-425E-B270-12A6F77ECE71}" type="sibTrans" cxnId="{593CB831-CF53-415E-A063-1C56DFFF22C5}">
      <dgm:prSet/>
      <dgm:spPr/>
      <dgm:t>
        <a:bodyPr/>
        <a:lstStyle/>
        <a:p>
          <a:endParaRPr lang="en-US"/>
        </a:p>
      </dgm:t>
    </dgm:pt>
    <dgm:pt modelId="{7BF151AA-3344-425C-B4A2-C2CB08CCCC1B}">
      <dgm:prSet/>
      <dgm:spPr/>
      <dgm:t>
        <a:bodyPr/>
        <a:lstStyle/>
        <a:p>
          <a:r>
            <a:rPr lang="en-US"/>
            <a:t>Intra-cranial Hypertension</a:t>
          </a:r>
        </a:p>
      </dgm:t>
    </dgm:pt>
    <dgm:pt modelId="{D9C61A41-0888-4D9C-9D1A-9C49E52467AA}" type="parTrans" cxnId="{FED5732F-BDD7-48D9-9F26-0EA6DADCC9F3}">
      <dgm:prSet/>
      <dgm:spPr/>
      <dgm:t>
        <a:bodyPr/>
        <a:lstStyle/>
        <a:p>
          <a:endParaRPr lang="en-US"/>
        </a:p>
      </dgm:t>
    </dgm:pt>
    <dgm:pt modelId="{FC2BCEFB-16E3-4AEF-A298-DF9FCAA4B330}" type="sibTrans" cxnId="{FED5732F-BDD7-48D9-9F26-0EA6DADCC9F3}">
      <dgm:prSet/>
      <dgm:spPr/>
      <dgm:t>
        <a:bodyPr/>
        <a:lstStyle/>
        <a:p>
          <a:endParaRPr lang="en-US"/>
        </a:p>
      </dgm:t>
    </dgm:pt>
    <dgm:pt modelId="{D9230622-2A59-40B3-AC97-99B04D109696}">
      <dgm:prSet/>
      <dgm:spPr/>
      <dgm:t>
        <a:bodyPr/>
        <a:lstStyle/>
        <a:p>
          <a:r>
            <a:rPr lang="en-US"/>
            <a:t>Visual Loss</a:t>
          </a:r>
        </a:p>
      </dgm:t>
    </dgm:pt>
    <dgm:pt modelId="{4E240E8D-B43F-4CCC-B9F4-FE9698B7A6B0}" type="parTrans" cxnId="{9E3338D2-F1CC-415C-987D-0D7615CBFF40}">
      <dgm:prSet/>
      <dgm:spPr/>
      <dgm:t>
        <a:bodyPr/>
        <a:lstStyle/>
        <a:p>
          <a:endParaRPr lang="en-US"/>
        </a:p>
      </dgm:t>
    </dgm:pt>
    <dgm:pt modelId="{144B7EE4-2959-499B-A24D-BDA64984785B}" type="sibTrans" cxnId="{9E3338D2-F1CC-415C-987D-0D7615CBFF40}">
      <dgm:prSet/>
      <dgm:spPr/>
      <dgm:t>
        <a:bodyPr/>
        <a:lstStyle/>
        <a:p>
          <a:endParaRPr lang="en-US"/>
        </a:p>
      </dgm:t>
    </dgm:pt>
    <dgm:pt modelId="{29B81078-CBA6-A541-ACF9-EE5B70FDAD0C}">
      <dgm:prSet/>
      <dgm:spPr/>
      <dgm:t>
        <a:bodyPr/>
        <a:lstStyle/>
        <a:p>
          <a:r>
            <a:rPr lang="en-US" dirty="0"/>
            <a:t>Seen in 15%-40% of patients with CVT</a:t>
          </a:r>
        </a:p>
      </dgm:t>
    </dgm:pt>
    <dgm:pt modelId="{FE23718C-89B9-CE41-AF34-8FF6C017027A}" type="parTrans" cxnId="{E8EE5223-C072-BD45-97A1-25DE6859BE56}">
      <dgm:prSet/>
      <dgm:spPr/>
      <dgm:t>
        <a:bodyPr/>
        <a:lstStyle/>
        <a:p>
          <a:endParaRPr lang="en-US"/>
        </a:p>
      </dgm:t>
    </dgm:pt>
    <dgm:pt modelId="{A9BC4C89-28A5-2D48-BA6A-DEFDE756DE2E}" type="sibTrans" cxnId="{E8EE5223-C072-BD45-97A1-25DE6859BE56}">
      <dgm:prSet/>
      <dgm:spPr/>
      <dgm:t>
        <a:bodyPr/>
        <a:lstStyle/>
        <a:p>
          <a:endParaRPr lang="en-US"/>
        </a:p>
      </dgm:t>
    </dgm:pt>
    <dgm:pt modelId="{82896AF6-9859-FB4E-B74F-54B7FD57891A}">
      <dgm:prSet/>
      <dgm:spPr/>
      <dgm:t>
        <a:bodyPr/>
        <a:lstStyle/>
        <a:p>
          <a:r>
            <a:rPr lang="en-US" dirty="0"/>
            <a:t>Caused by venous outflow obstruction and CSF malabsorption. 
Treatment: No RCTs have tested these interventions</a:t>
          </a:r>
        </a:p>
      </dgm:t>
    </dgm:pt>
    <dgm:pt modelId="{36956E6E-1057-7240-8A4A-6B4503312034}" type="parTrans" cxnId="{C2628A57-E2DE-3142-8D70-CC4D9ED60E0B}">
      <dgm:prSet/>
      <dgm:spPr/>
      <dgm:t>
        <a:bodyPr/>
        <a:lstStyle/>
        <a:p>
          <a:endParaRPr lang="en-US"/>
        </a:p>
      </dgm:t>
    </dgm:pt>
    <dgm:pt modelId="{C68262BA-3783-4D40-9697-4F6BF404577D}" type="sibTrans" cxnId="{C2628A57-E2DE-3142-8D70-CC4D9ED60E0B}">
      <dgm:prSet/>
      <dgm:spPr/>
      <dgm:t>
        <a:bodyPr/>
        <a:lstStyle/>
        <a:p>
          <a:endParaRPr lang="en-US"/>
        </a:p>
      </dgm:t>
    </dgm:pt>
    <dgm:pt modelId="{EFD1FE7D-EA46-884F-B1C4-A1C277DB7F39}">
      <dgm:prSet/>
      <dgm:spPr/>
      <dgm:t>
        <a:bodyPr/>
        <a:lstStyle/>
        <a:p>
          <a:r>
            <a:rPr lang="en-US" dirty="0"/>
            <a:t>Diuretics (</a:t>
          </a:r>
          <a:r>
            <a:rPr lang="en-US" dirty="0" err="1"/>
            <a:t>ie</a:t>
          </a:r>
          <a:r>
            <a:rPr lang="en-US" dirty="0"/>
            <a:t>, acetazolamide)</a:t>
          </a:r>
        </a:p>
      </dgm:t>
    </dgm:pt>
    <dgm:pt modelId="{D9E3C9E5-3165-FA4E-BC61-07499308113D}" type="parTrans" cxnId="{C23D8DD0-5AD5-7741-BBE6-96F6ED9E3360}">
      <dgm:prSet/>
      <dgm:spPr/>
      <dgm:t>
        <a:bodyPr/>
        <a:lstStyle/>
        <a:p>
          <a:endParaRPr lang="en-US"/>
        </a:p>
      </dgm:t>
    </dgm:pt>
    <dgm:pt modelId="{03D7A976-2DFD-A046-A74D-CFC9F4CB2509}" type="sibTrans" cxnId="{C23D8DD0-5AD5-7741-BBE6-96F6ED9E3360}">
      <dgm:prSet/>
      <dgm:spPr/>
      <dgm:t>
        <a:bodyPr/>
        <a:lstStyle/>
        <a:p>
          <a:endParaRPr lang="en-US"/>
        </a:p>
      </dgm:t>
    </dgm:pt>
    <dgm:pt modelId="{26054B2D-E8E9-5C4C-AC18-D3AAEB814D07}">
      <dgm:prSet/>
      <dgm:spPr/>
      <dgm:t>
        <a:bodyPr/>
        <a:lstStyle/>
        <a:p>
          <a:r>
            <a:rPr lang="en-US" dirty="0"/>
            <a:t>Serial lumbar punctures</a:t>
          </a:r>
        </a:p>
      </dgm:t>
    </dgm:pt>
    <dgm:pt modelId="{9A46145D-10CC-FB4E-A251-2F62AC62B889}" type="parTrans" cxnId="{B46575A1-FF06-AA40-9839-966427EDEE88}">
      <dgm:prSet/>
      <dgm:spPr/>
      <dgm:t>
        <a:bodyPr/>
        <a:lstStyle/>
        <a:p>
          <a:endParaRPr lang="en-US"/>
        </a:p>
      </dgm:t>
    </dgm:pt>
    <dgm:pt modelId="{5F5A36A9-C8DC-C24F-ACD8-97DF11FB01DA}" type="sibTrans" cxnId="{B46575A1-FF06-AA40-9839-966427EDEE88}">
      <dgm:prSet/>
      <dgm:spPr/>
      <dgm:t>
        <a:bodyPr/>
        <a:lstStyle/>
        <a:p>
          <a:endParaRPr lang="en-US"/>
        </a:p>
      </dgm:t>
    </dgm:pt>
    <dgm:pt modelId="{5273AEED-E096-1348-9328-9BFA1D849B4A}">
      <dgm:prSet/>
      <dgm:spPr/>
      <dgm:t>
        <a:bodyPr/>
        <a:lstStyle/>
        <a:p>
          <a:r>
            <a:rPr lang="en-US" dirty="0"/>
            <a:t>In refractory cases, </a:t>
          </a:r>
          <a:r>
            <a:rPr lang="en-US" dirty="0" err="1"/>
            <a:t>lumboperitoneal</a:t>
          </a:r>
          <a:r>
            <a:rPr lang="en-US" dirty="0"/>
            <a:t> shunt may be required</a:t>
          </a:r>
        </a:p>
      </dgm:t>
    </dgm:pt>
    <dgm:pt modelId="{F7B7F935-BFC9-0C4C-93C5-1C09ED174E1D}" type="parTrans" cxnId="{29C55504-DDF2-AC48-BD04-8D30BBE3F66A}">
      <dgm:prSet/>
      <dgm:spPr/>
      <dgm:t>
        <a:bodyPr/>
        <a:lstStyle/>
        <a:p>
          <a:endParaRPr lang="en-US"/>
        </a:p>
      </dgm:t>
    </dgm:pt>
    <dgm:pt modelId="{E37732C3-3B74-654F-9553-33396CD417A1}" type="sibTrans" cxnId="{29C55504-DDF2-AC48-BD04-8D30BBE3F66A}">
      <dgm:prSet/>
      <dgm:spPr/>
      <dgm:t>
        <a:bodyPr/>
        <a:lstStyle/>
        <a:p>
          <a:endParaRPr lang="en-US"/>
        </a:p>
      </dgm:t>
    </dgm:pt>
    <dgm:pt modelId="{5818F2BC-020A-3345-9DF1-DAA9461C0BE0}">
      <dgm:prSet/>
      <dgm:spPr/>
      <dgm:t>
        <a:bodyPr/>
        <a:lstStyle/>
        <a:p>
          <a:r>
            <a:rPr lang="en-US" dirty="0"/>
            <a:t>Due to pressure on the optic nerves</a:t>
          </a:r>
        </a:p>
      </dgm:t>
    </dgm:pt>
    <dgm:pt modelId="{8D68F176-2A88-B040-9980-B1CDF1C9FCB9}" type="parTrans" cxnId="{82B78EBE-E5F8-7146-A5BC-2EC8F8D48C2B}">
      <dgm:prSet/>
      <dgm:spPr/>
      <dgm:t>
        <a:bodyPr/>
        <a:lstStyle/>
        <a:p>
          <a:endParaRPr lang="en-US"/>
        </a:p>
      </dgm:t>
    </dgm:pt>
    <dgm:pt modelId="{60CF345A-79B5-754B-A11C-074348959EF5}" type="sibTrans" cxnId="{82B78EBE-E5F8-7146-A5BC-2EC8F8D48C2B}">
      <dgm:prSet/>
      <dgm:spPr/>
      <dgm:t>
        <a:bodyPr/>
        <a:lstStyle/>
        <a:p>
          <a:endParaRPr lang="en-US"/>
        </a:p>
      </dgm:t>
    </dgm:pt>
    <dgm:pt modelId="{29772654-3B6D-E140-8C10-8AA3E3FCBB25}">
      <dgm:prSet/>
      <dgm:spPr/>
      <dgm:t>
        <a:bodyPr/>
        <a:lstStyle/>
        <a:p>
          <a:r>
            <a:rPr lang="en-US" dirty="0"/>
            <a:t>Reported in up to 13% of patients</a:t>
          </a:r>
        </a:p>
      </dgm:t>
    </dgm:pt>
    <dgm:pt modelId="{F12B93AD-19EF-E744-8315-859F508A7505}" type="parTrans" cxnId="{E5391DB7-48DD-8443-9A0A-664FD00F06CA}">
      <dgm:prSet/>
      <dgm:spPr/>
      <dgm:t>
        <a:bodyPr/>
        <a:lstStyle/>
        <a:p>
          <a:endParaRPr lang="en-US"/>
        </a:p>
      </dgm:t>
    </dgm:pt>
    <dgm:pt modelId="{74DFBE14-0B56-2447-9578-E7067E4FD892}" type="sibTrans" cxnId="{E5391DB7-48DD-8443-9A0A-664FD00F06CA}">
      <dgm:prSet/>
      <dgm:spPr/>
      <dgm:t>
        <a:bodyPr/>
        <a:lstStyle/>
        <a:p>
          <a:endParaRPr lang="en-US"/>
        </a:p>
      </dgm:t>
    </dgm:pt>
    <dgm:pt modelId="{F2731938-9397-3247-BAA2-87A667DC5CD2}">
      <dgm:prSet/>
      <dgm:spPr/>
      <dgm:t>
        <a:bodyPr/>
        <a:lstStyle/>
        <a:p>
          <a:r>
            <a:rPr lang="en-US" dirty="0"/>
            <a:t>Treatment:</a:t>
          </a:r>
        </a:p>
      </dgm:t>
    </dgm:pt>
    <dgm:pt modelId="{09AC2E63-3DB4-4547-B391-7A1497E05970}" type="parTrans" cxnId="{7A0E7FCA-610C-D642-9AC1-49441740772B}">
      <dgm:prSet/>
      <dgm:spPr/>
      <dgm:t>
        <a:bodyPr/>
        <a:lstStyle/>
        <a:p>
          <a:endParaRPr lang="en-US"/>
        </a:p>
      </dgm:t>
    </dgm:pt>
    <dgm:pt modelId="{94AB98CB-3771-224A-901C-10C0689D1E8D}" type="sibTrans" cxnId="{7A0E7FCA-610C-D642-9AC1-49441740772B}">
      <dgm:prSet/>
      <dgm:spPr/>
      <dgm:t>
        <a:bodyPr/>
        <a:lstStyle/>
        <a:p>
          <a:endParaRPr lang="en-US"/>
        </a:p>
      </dgm:t>
    </dgm:pt>
    <dgm:pt modelId="{611B54A5-E6BF-624D-9309-00BF86AF0C81}">
      <dgm:prSet/>
      <dgm:spPr/>
      <dgm:t>
        <a:bodyPr/>
        <a:lstStyle/>
        <a:p>
          <a:r>
            <a:rPr lang="en-US" dirty="0"/>
            <a:t>Ophthalmic consultation</a:t>
          </a:r>
        </a:p>
      </dgm:t>
    </dgm:pt>
    <dgm:pt modelId="{9892AA1B-3B87-104B-A2BE-7C1791FA8A6B}" type="parTrans" cxnId="{DF6A1158-829F-AA46-8A44-45B041F62BAD}">
      <dgm:prSet/>
      <dgm:spPr/>
      <dgm:t>
        <a:bodyPr/>
        <a:lstStyle/>
        <a:p>
          <a:endParaRPr lang="en-US"/>
        </a:p>
      </dgm:t>
    </dgm:pt>
    <dgm:pt modelId="{8450A6E6-A43E-5947-851F-EEAD4FADF1DA}" type="sibTrans" cxnId="{DF6A1158-829F-AA46-8A44-45B041F62BAD}">
      <dgm:prSet/>
      <dgm:spPr/>
      <dgm:t>
        <a:bodyPr/>
        <a:lstStyle/>
        <a:p>
          <a:endParaRPr lang="en-US"/>
        </a:p>
      </dgm:t>
    </dgm:pt>
    <dgm:pt modelId="{688ADC01-AF68-0B45-BF99-32D88D18161F}">
      <dgm:prSet/>
      <dgm:spPr/>
      <dgm:t>
        <a:bodyPr/>
        <a:lstStyle/>
        <a:p>
          <a:r>
            <a:rPr lang="en-US" dirty="0"/>
            <a:t>Monitor for papilledema</a:t>
          </a:r>
        </a:p>
      </dgm:t>
    </dgm:pt>
    <dgm:pt modelId="{BA68BD23-9FB6-3345-B628-0554C411B0B4}" type="parTrans" cxnId="{A899C3A7-2680-AA48-A0E2-8B27DFADEBEA}">
      <dgm:prSet/>
      <dgm:spPr/>
      <dgm:t>
        <a:bodyPr/>
        <a:lstStyle/>
        <a:p>
          <a:endParaRPr lang="en-US"/>
        </a:p>
      </dgm:t>
    </dgm:pt>
    <dgm:pt modelId="{56F3F671-4656-1D45-82F5-583D1EC9F1AA}" type="sibTrans" cxnId="{A899C3A7-2680-AA48-A0E2-8B27DFADEBEA}">
      <dgm:prSet/>
      <dgm:spPr/>
      <dgm:t>
        <a:bodyPr/>
        <a:lstStyle/>
        <a:p>
          <a:endParaRPr lang="en-US"/>
        </a:p>
      </dgm:t>
    </dgm:pt>
    <dgm:pt modelId="{4129C2EC-D11C-7D4E-8459-87C6DF79B593}">
      <dgm:prSet/>
      <dgm:spPr/>
      <dgm:t>
        <a:bodyPr/>
        <a:lstStyle/>
        <a:p>
          <a:r>
            <a:rPr lang="en-US" dirty="0"/>
            <a:t>Visual field testing</a:t>
          </a:r>
        </a:p>
      </dgm:t>
    </dgm:pt>
    <dgm:pt modelId="{430FB0E5-839B-6F43-A8DF-F7ABDFAD0FC0}" type="parTrans" cxnId="{21B1CFCB-CA66-F84A-8D01-4742FEDE2115}">
      <dgm:prSet/>
      <dgm:spPr/>
      <dgm:t>
        <a:bodyPr/>
        <a:lstStyle/>
        <a:p>
          <a:endParaRPr lang="en-US"/>
        </a:p>
      </dgm:t>
    </dgm:pt>
    <dgm:pt modelId="{8006215E-6594-9C49-BA00-8D7D8008AECC}" type="sibTrans" cxnId="{21B1CFCB-CA66-F84A-8D01-4742FEDE2115}">
      <dgm:prSet/>
      <dgm:spPr/>
      <dgm:t>
        <a:bodyPr/>
        <a:lstStyle/>
        <a:p>
          <a:endParaRPr lang="en-US"/>
        </a:p>
      </dgm:t>
    </dgm:pt>
    <dgm:pt modelId="{BBF4C862-C55F-7D4A-B360-8A705E0A109B}">
      <dgm:prSet/>
      <dgm:spPr/>
      <dgm:t>
        <a:bodyPr/>
        <a:lstStyle/>
        <a:p>
          <a:r>
            <a:rPr lang="en-US" dirty="0"/>
            <a:t>For patients at high risk of blindness, optic nerve fenestration may be considered</a:t>
          </a:r>
        </a:p>
      </dgm:t>
    </dgm:pt>
    <dgm:pt modelId="{20CB5257-32AB-B64D-9E4B-47FD2B089930}" type="parTrans" cxnId="{2F53E7C6-E63A-4143-9B87-E735F260E9F0}">
      <dgm:prSet/>
      <dgm:spPr/>
      <dgm:t>
        <a:bodyPr/>
        <a:lstStyle/>
        <a:p>
          <a:endParaRPr lang="en-US"/>
        </a:p>
      </dgm:t>
    </dgm:pt>
    <dgm:pt modelId="{4494AEE5-83F2-E34D-A77C-918EFA92CD82}" type="sibTrans" cxnId="{2F53E7C6-E63A-4143-9B87-E735F260E9F0}">
      <dgm:prSet/>
      <dgm:spPr/>
      <dgm:t>
        <a:bodyPr/>
        <a:lstStyle/>
        <a:p>
          <a:endParaRPr lang="en-US"/>
        </a:p>
      </dgm:t>
    </dgm:pt>
    <dgm:pt modelId="{8F970473-FDA3-C746-AE32-A2E9882F3124}" type="pres">
      <dgm:prSet presAssocID="{4C86B959-8A73-4046-9E61-A2DE78EA3F37}" presName="Name0" presStyleCnt="0">
        <dgm:presLayoutVars>
          <dgm:dir/>
          <dgm:animLvl val="lvl"/>
          <dgm:resizeHandles val="exact"/>
        </dgm:presLayoutVars>
      </dgm:prSet>
      <dgm:spPr/>
    </dgm:pt>
    <dgm:pt modelId="{5AF795FD-96FA-3B40-AE92-6553216195F9}" type="pres">
      <dgm:prSet presAssocID="{99CB5B14-BFF0-4A47-912E-E0C0424E37B0}" presName="composite" presStyleCnt="0"/>
      <dgm:spPr/>
    </dgm:pt>
    <dgm:pt modelId="{F3519C81-5202-F445-B547-4D6F91F4F5BA}" type="pres">
      <dgm:prSet presAssocID="{99CB5B14-BFF0-4A47-912E-E0C0424E37B0}" presName="parTx" presStyleLbl="alignNode1" presStyleIdx="0" presStyleCnt="4">
        <dgm:presLayoutVars>
          <dgm:chMax val="0"/>
          <dgm:chPref val="0"/>
          <dgm:bulletEnabled val="1"/>
        </dgm:presLayoutVars>
      </dgm:prSet>
      <dgm:spPr/>
    </dgm:pt>
    <dgm:pt modelId="{702340A7-B003-1945-AA16-9A2A971242CB}" type="pres">
      <dgm:prSet presAssocID="{99CB5B14-BFF0-4A47-912E-E0C0424E37B0}" presName="desTx" presStyleLbl="alignAccFollowNode1" presStyleIdx="0" presStyleCnt="4">
        <dgm:presLayoutVars>
          <dgm:bulletEnabled val="1"/>
        </dgm:presLayoutVars>
      </dgm:prSet>
      <dgm:spPr/>
    </dgm:pt>
    <dgm:pt modelId="{E083194C-23F1-0649-8E5B-BB442A6DA2BB}" type="pres">
      <dgm:prSet presAssocID="{7F80651C-9DC2-444C-AC29-D4DE0417CF6F}" presName="space" presStyleCnt="0"/>
      <dgm:spPr/>
    </dgm:pt>
    <dgm:pt modelId="{3437A064-F0FA-5241-9D83-D636BF2AA600}" type="pres">
      <dgm:prSet presAssocID="{DCD216B7-5EB6-49B6-BF40-6E5276A0BAB9}" presName="composite" presStyleCnt="0"/>
      <dgm:spPr/>
    </dgm:pt>
    <dgm:pt modelId="{AF9EDDE1-C4B9-D84A-AD50-6432AD235F59}" type="pres">
      <dgm:prSet presAssocID="{DCD216B7-5EB6-49B6-BF40-6E5276A0BAB9}" presName="parTx" presStyleLbl="alignNode1" presStyleIdx="1" presStyleCnt="4">
        <dgm:presLayoutVars>
          <dgm:chMax val="0"/>
          <dgm:chPref val="0"/>
          <dgm:bulletEnabled val="1"/>
        </dgm:presLayoutVars>
      </dgm:prSet>
      <dgm:spPr/>
    </dgm:pt>
    <dgm:pt modelId="{AF6D0EF2-22DC-0041-B8D5-CB60BFD20930}" type="pres">
      <dgm:prSet presAssocID="{DCD216B7-5EB6-49B6-BF40-6E5276A0BAB9}" presName="desTx" presStyleLbl="alignAccFollowNode1" presStyleIdx="1" presStyleCnt="4">
        <dgm:presLayoutVars>
          <dgm:bulletEnabled val="1"/>
        </dgm:presLayoutVars>
      </dgm:prSet>
      <dgm:spPr/>
    </dgm:pt>
    <dgm:pt modelId="{53B4F66E-ECB4-8D42-8750-E4FE5B780751}" type="pres">
      <dgm:prSet presAssocID="{08D95FF0-8B69-4B12-99BD-E9F42F42A74A}" presName="space" presStyleCnt="0"/>
      <dgm:spPr/>
    </dgm:pt>
    <dgm:pt modelId="{3C8AFD98-2CDA-E048-B30A-13E46C7094A9}" type="pres">
      <dgm:prSet presAssocID="{7BF151AA-3344-425C-B4A2-C2CB08CCCC1B}" presName="composite" presStyleCnt="0"/>
      <dgm:spPr/>
    </dgm:pt>
    <dgm:pt modelId="{A4D1E540-8CAC-FA41-A64E-531902F29580}" type="pres">
      <dgm:prSet presAssocID="{7BF151AA-3344-425C-B4A2-C2CB08CCCC1B}" presName="parTx" presStyleLbl="alignNode1" presStyleIdx="2" presStyleCnt="4">
        <dgm:presLayoutVars>
          <dgm:chMax val="0"/>
          <dgm:chPref val="0"/>
          <dgm:bulletEnabled val="1"/>
        </dgm:presLayoutVars>
      </dgm:prSet>
      <dgm:spPr/>
    </dgm:pt>
    <dgm:pt modelId="{C9F1B079-BD67-ED4D-BD51-ADA9F311ECBD}" type="pres">
      <dgm:prSet presAssocID="{7BF151AA-3344-425C-B4A2-C2CB08CCCC1B}" presName="desTx" presStyleLbl="alignAccFollowNode1" presStyleIdx="2" presStyleCnt="4">
        <dgm:presLayoutVars>
          <dgm:bulletEnabled val="1"/>
        </dgm:presLayoutVars>
      </dgm:prSet>
      <dgm:spPr/>
    </dgm:pt>
    <dgm:pt modelId="{29A6D78F-D463-EA43-902B-B11436860EA2}" type="pres">
      <dgm:prSet presAssocID="{FC2BCEFB-16E3-4AEF-A298-DF9FCAA4B330}" presName="space" presStyleCnt="0"/>
      <dgm:spPr/>
    </dgm:pt>
    <dgm:pt modelId="{15BB3311-553E-2A4E-9FCA-18335C89AABA}" type="pres">
      <dgm:prSet presAssocID="{D9230622-2A59-40B3-AC97-99B04D109696}" presName="composite" presStyleCnt="0"/>
      <dgm:spPr/>
    </dgm:pt>
    <dgm:pt modelId="{D17FBCCD-DFE4-084B-98CC-98B0452584F8}" type="pres">
      <dgm:prSet presAssocID="{D9230622-2A59-40B3-AC97-99B04D109696}" presName="parTx" presStyleLbl="alignNode1" presStyleIdx="3" presStyleCnt="4">
        <dgm:presLayoutVars>
          <dgm:chMax val="0"/>
          <dgm:chPref val="0"/>
          <dgm:bulletEnabled val="1"/>
        </dgm:presLayoutVars>
      </dgm:prSet>
      <dgm:spPr/>
    </dgm:pt>
    <dgm:pt modelId="{210AACAF-81E1-D149-9033-43354A07DDF1}" type="pres">
      <dgm:prSet presAssocID="{D9230622-2A59-40B3-AC97-99B04D109696}" presName="desTx" presStyleLbl="alignAccFollowNode1" presStyleIdx="3" presStyleCnt="4">
        <dgm:presLayoutVars>
          <dgm:bulletEnabled val="1"/>
        </dgm:presLayoutVars>
      </dgm:prSet>
      <dgm:spPr/>
    </dgm:pt>
  </dgm:ptLst>
  <dgm:cxnLst>
    <dgm:cxn modelId="{B2DA1A00-A133-4ABF-8E59-EC890D64DCA9}" srcId="{99CB5B14-BFF0-4A47-912E-E0C0424E37B0}" destId="{6B53CF8B-6DC6-4AB8-954B-EB2903504878}" srcOrd="0" destOrd="0" parTransId="{AB52FC0F-E09E-449C-89AD-C55AE381352E}" sibTransId="{8468494A-A63D-4238-B328-D5175BA6F13F}"/>
    <dgm:cxn modelId="{29C55504-DDF2-AC48-BD04-8D30BBE3F66A}" srcId="{82896AF6-9859-FB4E-B74F-54B7FD57891A}" destId="{5273AEED-E096-1348-9328-9BFA1D849B4A}" srcOrd="2" destOrd="0" parTransId="{F7B7F935-BFC9-0C4C-93C5-1C09ED174E1D}" sibTransId="{E37732C3-3B74-654F-9553-33396CD417A1}"/>
    <dgm:cxn modelId="{FB79C406-F7F1-1340-92A5-FA16EACB82FF}" type="presOf" srcId="{82896AF6-9859-FB4E-B74F-54B7FD57891A}" destId="{C9F1B079-BD67-ED4D-BD51-ADA9F311ECBD}" srcOrd="0" destOrd="1" presId="urn:microsoft.com/office/officeart/2005/8/layout/hList1"/>
    <dgm:cxn modelId="{32D9210D-1C64-114F-8686-E53BB6C58011}" type="presOf" srcId="{26054B2D-E8E9-5C4C-AC18-D3AAEB814D07}" destId="{C9F1B079-BD67-ED4D-BD51-ADA9F311ECBD}" srcOrd="0" destOrd="3" presId="urn:microsoft.com/office/officeart/2005/8/layout/hList1"/>
    <dgm:cxn modelId="{E8EE5223-C072-BD45-97A1-25DE6859BE56}" srcId="{7BF151AA-3344-425C-B4A2-C2CB08CCCC1B}" destId="{29B81078-CBA6-A541-ACF9-EE5B70FDAD0C}" srcOrd="0" destOrd="0" parTransId="{FE23718C-89B9-CE41-AF34-8FF6C017027A}" sibTransId="{A9BC4C89-28A5-2D48-BA6A-DEFDE756DE2E}"/>
    <dgm:cxn modelId="{E44B7823-F888-1147-9BA8-EE6BA7FFC386}" type="presOf" srcId="{EFD1FE7D-EA46-884F-B1C4-A1C277DB7F39}" destId="{C9F1B079-BD67-ED4D-BD51-ADA9F311ECBD}" srcOrd="0" destOrd="2" presId="urn:microsoft.com/office/officeart/2005/8/layout/hList1"/>
    <dgm:cxn modelId="{5FF30B2B-26C5-8649-8609-1F6D351EB0A9}" type="presOf" srcId="{4CD0B7F6-FEB9-4CF1-86C5-01D8E41FBA91}" destId="{AF6D0EF2-22DC-0041-B8D5-CB60BFD20930}" srcOrd="0" destOrd="0" presId="urn:microsoft.com/office/officeart/2005/8/layout/hList1"/>
    <dgm:cxn modelId="{A813192D-826B-8B48-A8B3-AC26C6ED7702}" type="presOf" srcId="{611B54A5-E6BF-624D-9309-00BF86AF0C81}" destId="{210AACAF-81E1-D149-9033-43354A07DDF1}" srcOrd="0" destOrd="3" presId="urn:microsoft.com/office/officeart/2005/8/layout/hList1"/>
    <dgm:cxn modelId="{FED5732F-BDD7-48D9-9F26-0EA6DADCC9F3}" srcId="{4C86B959-8A73-4046-9E61-A2DE78EA3F37}" destId="{7BF151AA-3344-425C-B4A2-C2CB08CCCC1B}" srcOrd="2" destOrd="0" parTransId="{D9C61A41-0888-4D9C-9D1A-9C49E52467AA}" sibTransId="{FC2BCEFB-16E3-4AEF-A298-DF9FCAA4B330}"/>
    <dgm:cxn modelId="{88C1E92F-95F7-734E-9C60-6628F4FF30D6}" type="presOf" srcId="{5273AEED-E096-1348-9328-9BFA1D849B4A}" destId="{C9F1B079-BD67-ED4D-BD51-ADA9F311ECBD}" srcOrd="0" destOrd="4" presId="urn:microsoft.com/office/officeart/2005/8/layout/hList1"/>
    <dgm:cxn modelId="{593CB831-CF53-415E-A063-1C56DFFF22C5}" srcId="{DCD216B7-5EB6-49B6-BF40-6E5276A0BAB9}" destId="{CBB79241-0EBA-4AA9-888A-4AB96A87927F}" srcOrd="2" destOrd="0" parTransId="{9DDDBDB6-F179-442B-91EB-3E53F9AD23EC}" sibTransId="{EB7944D0-C267-425E-B270-12A6F77ECE71}"/>
    <dgm:cxn modelId="{0BE69135-D39E-8D49-94E8-2B3C85E953B4}" type="presOf" srcId="{4AC678E3-1E3A-4D1A-9ECA-ABF6959C8406}" destId="{AF6D0EF2-22DC-0041-B8D5-CB60BFD20930}" srcOrd="0" destOrd="1" presId="urn:microsoft.com/office/officeart/2005/8/layout/hList1"/>
    <dgm:cxn modelId="{8E860438-5678-46E6-BF32-9881BEF0EC64}" srcId="{99CB5B14-BFF0-4A47-912E-E0C0424E37B0}" destId="{E235FEF1-4BAA-44E6-9BF4-4A85E31DBDB4}" srcOrd="3" destOrd="0" parTransId="{DD978588-74D1-4CEA-9E72-FAE02CAD00E4}" sibTransId="{1262AD37-E7D3-4003-90F3-BD33C16D2861}"/>
    <dgm:cxn modelId="{034F6038-2E08-8744-B582-7DFDE57A0FFC}" type="presOf" srcId="{F2731938-9397-3247-BAA2-87A667DC5CD2}" destId="{210AACAF-81E1-D149-9033-43354A07DDF1}" srcOrd="0" destOrd="2" presId="urn:microsoft.com/office/officeart/2005/8/layout/hList1"/>
    <dgm:cxn modelId="{3899B53B-E4B4-BB4B-8B4C-BD7F2C4935CF}" type="presOf" srcId="{BBF4C862-C55F-7D4A-B360-8A705E0A109B}" destId="{210AACAF-81E1-D149-9033-43354A07DDF1}" srcOrd="0" destOrd="6" presId="urn:microsoft.com/office/officeart/2005/8/layout/hList1"/>
    <dgm:cxn modelId="{59BCB33E-37A6-9D42-A661-0EE0679346A0}" type="presOf" srcId="{7BF151AA-3344-425C-B4A2-C2CB08CCCC1B}" destId="{A4D1E540-8CAC-FA41-A64E-531902F29580}" srcOrd="0" destOrd="0" presId="urn:microsoft.com/office/officeart/2005/8/layout/hList1"/>
    <dgm:cxn modelId="{BAD55750-7D97-DD48-8774-BE494BC6AE37}" type="presOf" srcId="{688ADC01-AF68-0B45-BF99-32D88D18161F}" destId="{210AACAF-81E1-D149-9033-43354A07DDF1}" srcOrd="0" destOrd="4" presId="urn:microsoft.com/office/officeart/2005/8/layout/hList1"/>
    <dgm:cxn modelId="{1452E151-5AC4-1E43-B355-17E30443E18A}" type="presOf" srcId="{5818F2BC-020A-3345-9DF1-DAA9461C0BE0}" destId="{210AACAF-81E1-D149-9033-43354A07DDF1}" srcOrd="0" destOrd="0" presId="urn:microsoft.com/office/officeart/2005/8/layout/hList1"/>
    <dgm:cxn modelId="{B492A454-E330-364B-A923-08C909E4DCFA}" type="presOf" srcId="{CBB79241-0EBA-4AA9-888A-4AB96A87927F}" destId="{AF6D0EF2-22DC-0041-B8D5-CB60BFD20930}" srcOrd="0" destOrd="2" presId="urn:microsoft.com/office/officeart/2005/8/layout/hList1"/>
    <dgm:cxn modelId="{C2628A57-E2DE-3142-8D70-CC4D9ED60E0B}" srcId="{7BF151AA-3344-425C-B4A2-C2CB08CCCC1B}" destId="{82896AF6-9859-FB4E-B74F-54B7FD57891A}" srcOrd="1" destOrd="0" parTransId="{36956E6E-1057-7240-8A4A-6B4503312034}" sibTransId="{C68262BA-3783-4D40-9697-4F6BF404577D}"/>
    <dgm:cxn modelId="{DF6A1158-829F-AA46-8A44-45B041F62BAD}" srcId="{F2731938-9397-3247-BAA2-87A667DC5CD2}" destId="{611B54A5-E6BF-624D-9309-00BF86AF0C81}" srcOrd="0" destOrd="0" parTransId="{9892AA1B-3B87-104B-A2BE-7C1791FA8A6B}" sibTransId="{8450A6E6-A43E-5947-851F-EEAD4FADF1DA}"/>
    <dgm:cxn modelId="{B5C42D5C-2D98-9F45-813E-FA1BC0BC09C7}" type="presOf" srcId="{DCD216B7-5EB6-49B6-BF40-6E5276A0BAB9}" destId="{AF9EDDE1-C4B9-D84A-AD50-6432AD235F59}" srcOrd="0" destOrd="0" presId="urn:microsoft.com/office/officeart/2005/8/layout/hList1"/>
    <dgm:cxn modelId="{3C52CA76-5E0C-4A07-9C37-7C582AF5395E}" srcId="{DCD216B7-5EB6-49B6-BF40-6E5276A0BAB9}" destId="{4CD0B7F6-FEB9-4CF1-86C5-01D8E41FBA91}" srcOrd="0" destOrd="0" parTransId="{43C69B39-400E-416A-8FB6-A25DDBD00104}" sibTransId="{470482DB-DA53-4D35-B1B2-9E175C201446}"/>
    <dgm:cxn modelId="{3FD65778-89B2-C644-A426-C3239C31376C}" type="presOf" srcId="{6B53CF8B-6DC6-4AB8-954B-EB2903504878}" destId="{702340A7-B003-1945-AA16-9A2A971242CB}" srcOrd="0" destOrd="0" presId="urn:microsoft.com/office/officeart/2005/8/layout/hList1"/>
    <dgm:cxn modelId="{7AB5E778-11BD-8A4F-A1A0-5CE23BC0157F}" type="presOf" srcId="{4C86B959-8A73-4046-9E61-A2DE78EA3F37}" destId="{8F970473-FDA3-C746-AE32-A2E9882F3124}" srcOrd="0" destOrd="0" presId="urn:microsoft.com/office/officeart/2005/8/layout/hList1"/>
    <dgm:cxn modelId="{5BC03A88-3EE1-430F-89BB-A368F8485BAF}" srcId="{99CB5B14-BFF0-4A47-912E-E0C0424E37B0}" destId="{6B8FB233-9D73-460D-A792-52C368D10C48}" srcOrd="1" destOrd="0" parTransId="{3240494D-35D8-4AD1-B2A5-76E771E0BEB5}" sibTransId="{A3C2307E-8896-4C1C-8C76-AC07501E0840}"/>
    <dgm:cxn modelId="{C41EED8A-E041-4554-85FA-3FE08FBA76F2}" srcId="{DCD216B7-5EB6-49B6-BF40-6E5276A0BAB9}" destId="{4AC678E3-1E3A-4D1A-9ECA-ABF6959C8406}" srcOrd="1" destOrd="0" parTransId="{AE37DFE7-8AD1-4443-927D-6D1BB7CB3A0C}" sibTransId="{9CB3E541-8CE5-403A-81B3-B952F85E24BA}"/>
    <dgm:cxn modelId="{7713C99F-B5F4-4647-AFE4-D421BFD68DC9}" type="presOf" srcId="{6B8FB233-9D73-460D-A792-52C368D10C48}" destId="{702340A7-B003-1945-AA16-9A2A971242CB}" srcOrd="0" destOrd="1" presId="urn:microsoft.com/office/officeart/2005/8/layout/hList1"/>
    <dgm:cxn modelId="{B46575A1-FF06-AA40-9839-966427EDEE88}" srcId="{82896AF6-9859-FB4E-B74F-54B7FD57891A}" destId="{26054B2D-E8E9-5C4C-AC18-D3AAEB814D07}" srcOrd="1" destOrd="0" parTransId="{9A46145D-10CC-FB4E-A251-2F62AC62B889}" sibTransId="{5F5A36A9-C8DC-C24F-ACD8-97DF11FB01DA}"/>
    <dgm:cxn modelId="{F4FA72A6-8156-B044-AE37-21AEA1E719B0}" type="presOf" srcId="{99CB5B14-BFF0-4A47-912E-E0C0424E37B0}" destId="{F3519C81-5202-F445-B547-4D6F91F4F5BA}" srcOrd="0" destOrd="0" presId="urn:microsoft.com/office/officeart/2005/8/layout/hList1"/>
    <dgm:cxn modelId="{5A2B4CA7-AAEF-4205-BB2F-2E7FDAA86249}" srcId="{4C86B959-8A73-4046-9E61-A2DE78EA3F37}" destId="{DCD216B7-5EB6-49B6-BF40-6E5276A0BAB9}" srcOrd="1" destOrd="0" parTransId="{7C1C5255-07AE-40DD-9968-BBEDB6126A51}" sibTransId="{08D95FF0-8B69-4B12-99BD-E9F42F42A74A}"/>
    <dgm:cxn modelId="{A899C3A7-2680-AA48-A0E2-8B27DFADEBEA}" srcId="{F2731938-9397-3247-BAA2-87A667DC5CD2}" destId="{688ADC01-AF68-0B45-BF99-32D88D18161F}" srcOrd="1" destOrd="0" parTransId="{BA68BD23-9FB6-3345-B628-0554C411B0B4}" sibTransId="{56F3F671-4656-1D45-82F5-583D1EC9F1AA}"/>
    <dgm:cxn modelId="{E5391DB7-48DD-8443-9A0A-664FD00F06CA}" srcId="{D9230622-2A59-40B3-AC97-99B04D109696}" destId="{29772654-3B6D-E140-8C10-8AA3E3FCBB25}" srcOrd="1" destOrd="0" parTransId="{F12B93AD-19EF-E744-8315-859F508A7505}" sibTransId="{74DFBE14-0B56-2447-9578-E7067E4FD892}"/>
    <dgm:cxn modelId="{597212B8-C253-2F4A-ADA8-FAAAC0A25121}" type="presOf" srcId="{77069254-F537-45F3-8116-BB8C293FAF80}" destId="{702340A7-B003-1945-AA16-9A2A971242CB}" srcOrd="0" destOrd="2" presId="urn:microsoft.com/office/officeart/2005/8/layout/hList1"/>
    <dgm:cxn modelId="{82B78EBE-E5F8-7146-A5BC-2EC8F8D48C2B}" srcId="{D9230622-2A59-40B3-AC97-99B04D109696}" destId="{5818F2BC-020A-3345-9DF1-DAA9461C0BE0}" srcOrd="0" destOrd="0" parTransId="{8D68F176-2A88-B040-9980-B1CDF1C9FCB9}" sibTransId="{60CF345A-79B5-754B-A11C-074348959EF5}"/>
    <dgm:cxn modelId="{2F53E7C6-E63A-4143-9B87-E735F260E9F0}" srcId="{F2731938-9397-3247-BAA2-87A667DC5CD2}" destId="{BBF4C862-C55F-7D4A-B360-8A705E0A109B}" srcOrd="3" destOrd="0" parTransId="{20CB5257-32AB-B64D-9E4B-47FD2B089930}" sibTransId="{4494AEE5-83F2-E34D-A77C-918EFA92CD82}"/>
    <dgm:cxn modelId="{159E2BC9-DBFB-174D-BC84-1FBDC481996F}" type="presOf" srcId="{29B81078-CBA6-A541-ACF9-EE5B70FDAD0C}" destId="{C9F1B079-BD67-ED4D-BD51-ADA9F311ECBD}" srcOrd="0" destOrd="0" presId="urn:microsoft.com/office/officeart/2005/8/layout/hList1"/>
    <dgm:cxn modelId="{7A0E7FCA-610C-D642-9AC1-49441740772B}" srcId="{D9230622-2A59-40B3-AC97-99B04D109696}" destId="{F2731938-9397-3247-BAA2-87A667DC5CD2}" srcOrd="2" destOrd="0" parTransId="{09AC2E63-3DB4-4547-B391-7A1497E05970}" sibTransId="{94AB98CB-3771-224A-901C-10C0689D1E8D}"/>
    <dgm:cxn modelId="{21B1CFCB-CA66-F84A-8D01-4742FEDE2115}" srcId="{F2731938-9397-3247-BAA2-87A667DC5CD2}" destId="{4129C2EC-D11C-7D4E-8459-87C6DF79B593}" srcOrd="2" destOrd="0" parTransId="{430FB0E5-839B-6F43-A8DF-F7ABDFAD0FC0}" sibTransId="{8006215E-6594-9C49-BA00-8D7D8008AECC}"/>
    <dgm:cxn modelId="{C23D8DD0-5AD5-7741-BBE6-96F6ED9E3360}" srcId="{82896AF6-9859-FB4E-B74F-54B7FD57891A}" destId="{EFD1FE7D-EA46-884F-B1C4-A1C277DB7F39}" srcOrd="0" destOrd="0" parTransId="{D9E3C9E5-3165-FA4E-BC61-07499308113D}" sibTransId="{03D7A976-2DFD-A046-A74D-CFC9F4CB2509}"/>
    <dgm:cxn modelId="{9E3338D2-F1CC-415C-987D-0D7615CBFF40}" srcId="{4C86B959-8A73-4046-9E61-A2DE78EA3F37}" destId="{D9230622-2A59-40B3-AC97-99B04D109696}" srcOrd="3" destOrd="0" parTransId="{4E240E8D-B43F-4CCC-B9F4-FE9698B7A6B0}" sibTransId="{144B7EE4-2959-499B-A24D-BDA64984785B}"/>
    <dgm:cxn modelId="{D3429ADD-8FD1-7D42-94F1-40B046A8C03F}" type="presOf" srcId="{D9230622-2A59-40B3-AC97-99B04D109696}" destId="{D17FBCCD-DFE4-084B-98CC-98B0452584F8}" srcOrd="0" destOrd="0" presId="urn:microsoft.com/office/officeart/2005/8/layout/hList1"/>
    <dgm:cxn modelId="{3995EAE4-5675-1944-A542-0520C895FF8B}" type="presOf" srcId="{29772654-3B6D-E140-8C10-8AA3E3FCBB25}" destId="{210AACAF-81E1-D149-9033-43354A07DDF1}" srcOrd="0" destOrd="1" presId="urn:microsoft.com/office/officeart/2005/8/layout/hList1"/>
    <dgm:cxn modelId="{E80D54E8-ABD9-4D88-AFC6-625FDA10CA65}" srcId="{4C86B959-8A73-4046-9E61-A2DE78EA3F37}" destId="{99CB5B14-BFF0-4A47-912E-E0C0424E37B0}" srcOrd="0" destOrd="0" parTransId="{64B21CC7-ED16-47F2-BFBF-6199BCF6CAE6}" sibTransId="{7F80651C-9DC2-444C-AC29-D4DE0417CF6F}"/>
    <dgm:cxn modelId="{9542B1ED-B151-42A5-AEEC-B88EBA97FA12}" srcId="{99CB5B14-BFF0-4A47-912E-E0C0424E37B0}" destId="{77069254-F537-45F3-8116-BB8C293FAF80}" srcOrd="2" destOrd="0" parTransId="{548B166A-2E8C-4631-B5FD-9BA53C688400}" sibTransId="{A3E2797E-A143-4B3F-8E01-B3A476DA90A6}"/>
    <dgm:cxn modelId="{E8C775F9-5288-F74F-9B86-F6421E51C259}" type="presOf" srcId="{4129C2EC-D11C-7D4E-8459-87C6DF79B593}" destId="{210AACAF-81E1-D149-9033-43354A07DDF1}" srcOrd="0" destOrd="5" presId="urn:microsoft.com/office/officeart/2005/8/layout/hList1"/>
    <dgm:cxn modelId="{372CCCF9-EE07-EA4A-A42B-650DD0218072}" type="presOf" srcId="{E235FEF1-4BAA-44E6-9BF4-4A85E31DBDB4}" destId="{702340A7-B003-1945-AA16-9A2A971242CB}" srcOrd="0" destOrd="3" presId="urn:microsoft.com/office/officeart/2005/8/layout/hList1"/>
    <dgm:cxn modelId="{3C226BE9-5CAC-F94B-90C1-387138AFA4F3}" type="presParOf" srcId="{8F970473-FDA3-C746-AE32-A2E9882F3124}" destId="{5AF795FD-96FA-3B40-AE92-6553216195F9}" srcOrd="0" destOrd="0" presId="urn:microsoft.com/office/officeart/2005/8/layout/hList1"/>
    <dgm:cxn modelId="{9AFF5CCD-45FD-8F42-B5B9-78A9592A2B8A}" type="presParOf" srcId="{5AF795FD-96FA-3B40-AE92-6553216195F9}" destId="{F3519C81-5202-F445-B547-4D6F91F4F5BA}" srcOrd="0" destOrd="0" presId="urn:microsoft.com/office/officeart/2005/8/layout/hList1"/>
    <dgm:cxn modelId="{0326DDED-0C88-9448-977C-35627BE81CA5}" type="presParOf" srcId="{5AF795FD-96FA-3B40-AE92-6553216195F9}" destId="{702340A7-B003-1945-AA16-9A2A971242CB}" srcOrd="1" destOrd="0" presId="urn:microsoft.com/office/officeart/2005/8/layout/hList1"/>
    <dgm:cxn modelId="{B6E47FBB-9ADF-C24B-BFB9-1FCD27C51933}" type="presParOf" srcId="{8F970473-FDA3-C746-AE32-A2E9882F3124}" destId="{E083194C-23F1-0649-8E5B-BB442A6DA2BB}" srcOrd="1" destOrd="0" presId="urn:microsoft.com/office/officeart/2005/8/layout/hList1"/>
    <dgm:cxn modelId="{7DA81D32-A81A-B748-9ADE-BEB2576DF58B}" type="presParOf" srcId="{8F970473-FDA3-C746-AE32-A2E9882F3124}" destId="{3437A064-F0FA-5241-9D83-D636BF2AA600}" srcOrd="2" destOrd="0" presId="urn:microsoft.com/office/officeart/2005/8/layout/hList1"/>
    <dgm:cxn modelId="{0FF92D8E-5A21-5D42-9BAC-3D306340B424}" type="presParOf" srcId="{3437A064-F0FA-5241-9D83-D636BF2AA600}" destId="{AF9EDDE1-C4B9-D84A-AD50-6432AD235F59}" srcOrd="0" destOrd="0" presId="urn:microsoft.com/office/officeart/2005/8/layout/hList1"/>
    <dgm:cxn modelId="{09FA1CF5-4148-324F-A45E-05884F1A3D85}" type="presParOf" srcId="{3437A064-F0FA-5241-9D83-D636BF2AA600}" destId="{AF6D0EF2-22DC-0041-B8D5-CB60BFD20930}" srcOrd="1" destOrd="0" presId="urn:microsoft.com/office/officeart/2005/8/layout/hList1"/>
    <dgm:cxn modelId="{2749D5BF-9398-5F40-9D7C-BE3B7E582D29}" type="presParOf" srcId="{8F970473-FDA3-C746-AE32-A2E9882F3124}" destId="{53B4F66E-ECB4-8D42-8750-E4FE5B780751}" srcOrd="3" destOrd="0" presId="urn:microsoft.com/office/officeart/2005/8/layout/hList1"/>
    <dgm:cxn modelId="{FB88A99D-7EC7-B346-9D99-D4A802857AA3}" type="presParOf" srcId="{8F970473-FDA3-C746-AE32-A2E9882F3124}" destId="{3C8AFD98-2CDA-E048-B30A-13E46C7094A9}" srcOrd="4" destOrd="0" presId="urn:microsoft.com/office/officeart/2005/8/layout/hList1"/>
    <dgm:cxn modelId="{1937B1F1-4D24-0049-BE39-FC1575AC564A}" type="presParOf" srcId="{3C8AFD98-2CDA-E048-B30A-13E46C7094A9}" destId="{A4D1E540-8CAC-FA41-A64E-531902F29580}" srcOrd="0" destOrd="0" presId="urn:microsoft.com/office/officeart/2005/8/layout/hList1"/>
    <dgm:cxn modelId="{A70B3CA5-EDD0-7344-9D07-A303FF107579}" type="presParOf" srcId="{3C8AFD98-2CDA-E048-B30A-13E46C7094A9}" destId="{C9F1B079-BD67-ED4D-BD51-ADA9F311ECBD}" srcOrd="1" destOrd="0" presId="urn:microsoft.com/office/officeart/2005/8/layout/hList1"/>
    <dgm:cxn modelId="{C1B3EA6D-6349-7343-A1F4-4B2884DE6439}" type="presParOf" srcId="{8F970473-FDA3-C746-AE32-A2E9882F3124}" destId="{29A6D78F-D463-EA43-902B-B11436860EA2}" srcOrd="5" destOrd="0" presId="urn:microsoft.com/office/officeart/2005/8/layout/hList1"/>
    <dgm:cxn modelId="{69454FD5-6A26-CB48-AE0A-A0D845318C80}" type="presParOf" srcId="{8F970473-FDA3-C746-AE32-A2E9882F3124}" destId="{15BB3311-553E-2A4E-9FCA-18335C89AABA}" srcOrd="6" destOrd="0" presId="urn:microsoft.com/office/officeart/2005/8/layout/hList1"/>
    <dgm:cxn modelId="{D7FC4ECB-15EE-F445-939C-67CAACB6C32C}" type="presParOf" srcId="{15BB3311-553E-2A4E-9FCA-18335C89AABA}" destId="{D17FBCCD-DFE4-084B-98CC-98B0452584F8}" srcOrd="0" destOrd="0" presId="urn:microsoft.com/office/officeart/2005/8/layout/hList1"/>
    <dgm:cxn modelId="{B74303C3-D4EA-784E-81EC-A0DCEB0D3945}" type="presParOf" srcId="{15BB3311-553E-2A4E-9FCA-18335C89AABA}" destId="{210AACAF-81E1-D149-9033-43354A07DDF1}"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C49CA7-C1F4-A44F-A4C0-A1E1268513B2}">
      <dsp:nvSpPr>
        <dsp:cNvPr id="0" name=""/>
        <dsp:cNvSpPr/>
      </dsp:nvSpPr>
      <dsp:spPr>
        <a:xfrm>
          <a:off x="0" y="455896"/>
          <a:ext cx="7084788" cy="225225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49858" tIns="541528" rIns="549858" bIns="184912" numCol="1" spcCol="1270" anchor="t" anchorCtr="0">
          <a:noAutofit/>
        </a:bodyPr>
        <a:lstStyle/>
        <a:p>
          <a:pPr marL="228600" lvl="1" indent="-228600" algn="l" defTabSz="1155700">
            <a:lnSpc>
              <a:spcPct val="90000"/>
            </a:lnSpc>
            <a:spcBef>
              <a:spcPct val="0"/>
            </a:spcBef>
            <a:spcAft>
              <a:spcPct val="15000"/>
            </a:spcAft>
            <a:buChar char="•"/>
          </a:pPr>
          <a:r>
            <a:rPr lang="en-US" sz="2600" kern="1200" dirty="0"/>
            <a:t>Large Vessel Occlusion</a:t>
          </a:r>
        </a:p>
        <a:p>
          <a:pPr marL="457200" lvl="2" indent="-228600" algn="l" defTabSz="1155700">
            <a:lnSpc>
              <a:spcPct val="90000"/>
            </a:lnSpc>
            <a:spcBef>
              <a:spcPct val="0"/>
            </a:spcBef>
            <a:spcAft>
              <a:spcPct val="15000"/>
            </a:spcAft>
            <a:buChar char="•"/>
          </a:pPr>
          <a:r>
            <a:rPr lang="en-US" sz="2600" kern="1200" dirty="0"/>
            <a:t>Cardioembolic</a:t>
          </a:r>
        </a:p>
        <a:p>
          <a:pPr marL="457200" lvl="2" indent="-228600" algn="l" defTabSz="1155700">
            <a:lnSpc>
              <a:spcPct val="90000"/>
            </a:lnSpc>
            <a:spcBef>
              <a:spcPct val="0"/>
            </a:spcBef>
            <a:spcAft>
              <a:spcPct val="15000"/>
            </a:spcAft>
            <a:buChar char="•"/>
          </a:pPr>
          <a:r>
            <a:rPr lang="en-US" sz="2600" kern="1200" dirty="0"/>
            <a:t>Artery-Artery embolism </a:t>
          </a:r>
        </a:p>
        <a:p>
          <a:pPr marL="228600" lvl="1" indent="-228600" algn="l" defTabSz="1155700">
            <a:lnSpc>
              <a:spcPct val="90000"/>
            </a:lnSpc>
            <a:spcBef>
              <a:spcPct val="0"/>
            </a:spcBef>
            <a:spcAft>
              <a:spcPct val="15000"/>
            </a:spcAft>
            <a:buChar char="•"/>
          </a:pPr>
          <a:r>
            <a:rPr lang="en-US" sz="2600" kern="1200" dirty="0"/>
            <a:t>Small Vessel Occlusion</a:t>
          </a:r>
        </a:p>
      </dsp:txBody>
      <dsp:txXfrm>
        <a:off x="0" y="455896"/>
        <a:ext cx="7084788" cy="2252250"/>
      </dsp:txXfrm>
    </dsp:sp>
    <dsp:sp modelId="{F140CA75-6A83-844A-8AE2-B374037E4847}">
      <dsp:nvSpPr>
        <dsp:cNvPr id="0" name=""/>
        <dsp:cNvSpPr/>
      </dsp:nvSpPr>
      <dsp:spPr>
        <a:xfrm>
          <a:off x="354239" y="72136"/>
          <a:ext cx="4959351" cy="767520"/>
        </a:xfrm>
        <a:prstGeom prst="roundRect">
          <a:avLst/>
        </a:prstGeom>
        <a:solidFill>
          <a:schemeClr val="accent1">
            <a:hueOff val="0"/>
            <a:satOff val="0"/>
            <a:lumOff val="0"/>
            <a:alphaOff val="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87452" tIns="0" rIns="187452" bIns="0" numCol="1" spcCol="1270" anchor="ctr" anchorCtr="0">
          <a:noAutofit/>
        </a:bodyPr>
        <a:lstStyle/>
        <a:p>
          <a:pPr marL="0" lvl="0" indent="0" algn="l" defTabSz="1155700">
            <a:lnSpc>
              <a:spcPct val="90000"/>
            </a:lnSpc>
            <a:spcBef>
              <a:spcPct val="0"/>
            </a:spcBef>
            <a:spcAft>
              <a:spcPct val="35000"/>
            </a:spcAft>
            <a:buNone/>
          </a:pPr>
          <a:r>
            <a:rPr lang="en-US" sz="2600" kern="1200" dirty="0"/>
            <a:t>Ischemic stroke</a:t>
          </a:r>
        </a:p>
      </dsp:txBody>
      <dsp:txXfrm>
        <a:off x="391706" y="109603"/>
        <a:ext cx="4884417" cy="692586"/>
      </dsp:txXfrm>
    </dsp:sp>
    <dsp:sp modelId="{0CFF3857-1009-074C-B4E8-619179AA9E97}">
      <dsp:nvSpPr>
        <dsp:cNvPr id="0" name=""/>
        <dsp:cNvSpPr/>
      </dsp:nvSpPr>
      <dsp:spPr>
        <a:xfrm>
          <a:off x="0" y="3232306"/>
          <a:ext cx="7084788" cy="14742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49858" tIns="541528" rIns="549858" bIns="184912" numCol="1" spcCol="1270" anchor="t" anchorCtr="0">
          <a:noAutofit/>
        </a:bodyPr>
        <a:lstStyle/>
        <a:p>
          <a:pPr marL="228600" lvl="1" indent="-228600" algn="l" defTabSz="1155700">
            <a:lnSpc>
              <a:spcPct val="90000"/>
            </a:lnSpc>
            <a:spcBef>
              <a:spcPct val="0"/>
            </a:spcBef>
            <a:spcAft>
              <a:spcPct val="15000"/>
            </a:spcAft>
            <a:buChar char="•"/>
          </a:pPr>
          <a:r>
            <a:rPr lang="en-US" sz="2600" kern="1200"/>
            <a:t>Intracerebral hemorrhage</a:t>
          </a:r>
        </a:p>
        <a:p>
          <a:pPr marL="228600" lvl="1" indent="-228600" algn="l" defTabSz="1155700">
            <a:lnSpc>
              <a:spcPct val="90000"/>
            </a:lnSpc>
            <a:spcBef>
              <a:spcPct val="0"/>
            </a:spcBef>
            <a:spcAft>
              <a:spcPct val="15000"/>
            </a:spcAft>
            <a:buChar char="•"/>
          </a:pPr>
          <a:r>
            <a:rPr lang="en-US" sz="2600" kern="1200"/>
            <a:t>Subarachnoid hemorrhage</a:t>
          </a:r>
        </a:p>
      </dsp:txBody>
      <dsp:txXfrm>
        <a:off x="0" y="3232306"/>
        <a:ext cx="7084788" cy="1474200"/>
      </dsp:txXfrm>
    </dsp:sp>
    <dsp:sp modelId="{E6F40565-F4EF-724F-A058-66CBE1707C18}">
      <dsp:nvSpPr>
        <dsp:cNvPr id="0" name=""/>
        <dsp:cNvSpPr/>
      </dsp:nvSpPr>
      <dsp:spPr>
        <a:xfrm>
          <a:off x="354239" y="2848546"/>
          <a:ext cx="4959351" cy="767520"/>
        </a:xfrm>
        <a:prstGeom prst="roundRect">
          <a:avLst/>
        </a:prstGeom>
        <a:solidFill>
          <a:schemeClr val="accent1">
            <a:hueOff val="0"/>
            <a:satOff val="0"/>
            <a:lumOff val="0"/>
            <a:alphaOff val="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87452" tIns="0" rIns="187452" bIns="0" numCol="1" spcCol="1270" anchor="ctr" anchorCtr="0">
          <a:noAutofit/>
        </a:bodyPr>
        <a:lstStyle/>
        <a:p>
          <a:pPr marL="0" lvl="0" indent="0" algn="l" defTabSz="1155700">
            <a:lnSpc>
              <a:spcPct val="90000"/>
            </a:lnSpc>
            <a:spcBef>
              <a:spcPct val="0"/>
            </a:spcBef>
            <a:spcAft>
              <a:spcPct val="35000"/>
            </a:spcAft>
            <a:buNone/>
          </a:pPr>
          <a:r>
            <a:rPr lang="en-US" sz="2600" kern="1200" dirty="0"/>
            <a:t>Hemorrhagic stroke</a:t>
          </a:r>
        </a:p>
      </dsp:txBody>
      <dsp:txXfrm>
        <a:off x="391706" y="2886013"/>
        <a:ext cx="4884417" cy="692586"/>
      </dsp:txXfrm>
    </dsp:sp>
    <dsp:sp modelId="{E1AD4F80-2731-1848-9FF8-B5E18D23CB23}">
      <dsp:nvSpPr>
        <dsp:cNvPr id="0" name=""/>
        <dsp:cNvSpPr/>
      </dsp:nvSpPr>
      <dsp:spPr>
        <a:xfrm>
          <a:off x="0" y="5230666"/>
          <a:ext cx="7084788" cy="6552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6D6725E4-0C5F-604B-A486-31BCC8AA7659}">
      <dsp:nvSpPr>
        <dsp:cNvPr id="0" name=""/>
        <dsp:cNvSpPr/>
      </dsp:nvSpPr>
      <dsp:spPr>
        <a:xfrm>
          <a:off x="354239" y="4846906"/>
          <a:ext cx="4959351" cy="767520"/>
        </a:xfrm>
        <a:prstGeom prst="roundRect">
          <a:avLst/>
        </a:prstGeom>
        <a:solidFill>
          <a:schemeClr val="accent1">
            <a:hueOff val="0"/>
            <a:satOff val="0"/>
            <a:lumOff val="0"/>
            <a:alphaOff val="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87452" tIns="0" rIns="187452" bIns="0" numCol="1" spcCol="1270" anchor="ctr" anchorCtr="0">
          <a:noAutofit/>
        </a:bodyPr>
        <a:lstStyle/>
        <a:p>
          <a:pPr marL="0" lvl="0" indent="0" algn="l" defTabSz="1155700">
            <a:lnSpc>
              <a:spcPct val="90000"/>
            </a:lnSpc>
            <a:spcBef>
              <a:spcPct val="0"/>
            </a:spcBef>
            <a:spcAft>
              <a:spcPct val="35000"/>
            </a:spcAft>
            <a:buNone/>
          </a:pPr>
          <a:r>
            <a:rPr lang="en-US" sz="2600" kern="1200" dirty="0"/>
            <a:t>Venous thrombosis</a:t>
          </a:r>
        </a:p>
      </dsp:txBody>
      <dsp:txXfrm>
        <a:off x="391706" y="4884373"/>
        <a:ext cx="4884417" cy="6925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86B24B-9069-3049-B4C6-968C16EE4314}">
      <dsp:nvSpPr>
        <dsp:cNvPr id="0" name=""/>
        <dsp:cNvSpPr/>
      </dsp:nvSpPr>
      <dsp:spPr>
        <a:xfrm>
          <a:off x="0" y="157814"/>
          <a:ext cx="7380000" cy="616004"/>
        </a:xfrm>
        <a:prstGeom prst="roundRect">
          <a:avLst/>
        </a:prstGeom>
        <a:solidFill>
          <a:schemeClr val="accent5">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Large Vessel Occlusion</a:t>
          </a:r>
        </a:p>
      </dsp:txBody>
      <dsp:txXfrm>
        <a:off x="30071" y="187885"/>
        <a:ext cx="7319858" cy="555862"/>
      </dsp:txXfrm>
    </dsp:sp>
    <dsp:sp modelId="{ECB22C88-E919-FA40-B54F-99C0934E3C0E}">
      <dsp:nvSpPr>
        <dsp:cNvPr id="0" name=""/>
        <dsp:cNvSpPr/>
      </dsp:nvSpPr>
      <dsp:spPr>
        <a:xfrm>
          <a:off x="0" y="773819"/>
          <a:ext cx="7380000" cy="18443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4315"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b="0" i="0" u="none" kern="1200" dirty="0"/>
            <a:t>Due to thrombotic or embolic occlusion of the major arteries of the brain like the internal carotid artery, middle cerebral artery, anterior cerebral artery or the vertebrobasilar system</a:t>
          </a:r>
          <a:endParaRPr lang="en-US" sz="2100" kern="1200" dirty="0"/>
        </a:p>
        <a:p>
          <a:pPr marL="228600" lvl="1" indent="-228600" algn="l" defTabSz="933450">
            <a:lnSpc>
              <a:spcPct val="90000"/>
            </a:lnSpc>
            <a:spcBef>
              <a:spcPct val="0"/>
            </a:spcBef>
            <a:spcAft>
              <a:spcPct val="20000"/>
            </a:spcAft>
            <a:buChar char="•"/>
          </a:pPr>
          <a:r>
            <a:rPr lang="en-US" sz="2100" kern="1200" dirty="0"/>
            <a:t>Cardioembolic stroke</a:t>
          </a:r>
        </a:p>
        <a:p>
          <a:pPr marL="457200" lvl="2" indent="-228600" algn="l" defTabSz="933450">
            <a:lnSpc>
              <a:spcPct val="90000"/>
            </a:lnSpc>
            <a:spcBef>
              <a:spcPct val="0"/>
            </a:spcBef>
            <a:spcAft>
              <a:spcPct val="20000"/>
            </a:spcAft>
            <a:buChar char="•"/>
          </a:pPr>
          <a:r>
            <a:rPr lang="en-US" sz="2100" kern="1200" dirty="0"/>
            <a:t>Blood clot, air, septic debris, or fat is launched into the cerebral vasculature by the heart</a:t>
          </a:r>
        </a:p>
      </dsp:txBody>
      <dsp:txXfrm>
        <a:off x="0" y="773819"/>
        <a:ext cx="7380000" cy="1844369"/>
      </dsp:txXfrm>
    </dsp:sp>
    <dsp:sp modelId="{CC596E57-2EC1-4E47-8DC8-33CAB85B2957}">
      <dsp:nvSpPr>
        <dsp:cNvPr id="0" name=""/>
        <dsp:cNvSpPr/>
      </dsp:nvSpPr>
      <dsp:spPr>
        <a:xfrm>
          <a:off x="0" y="2643789"/>
          <a:ext cx="7380000" cy="616004"/>
        </a:xfrm>
        <a:prstGeom prst="roundRect">
          <a:avLst/>
        </a:prstGeom>
        <a:solidFill>
          <a:schemeClr val="accent5">
            <a:hueOff val="-1849170"/>
            <a:satOff val="4776"/>
            <a:lumOff val="-6275"/>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Small Vessel or Lacunar Infarct</a:t>
          </a:r>
        </a:p>
      </dsp:txBody>
      <dsp:txXfrm>
        <a:off x="30071" y="2673860"/>
        <a:ext cx="7319858" cy="555862"/>
      </dsp:txXfrm>
    </dsp:sp>
    <dsp:sp modelId="{FE2F217C-0323-9142-93F7-ABCBEF111312}">
      <dsp:nvSpPr>
        <dsp:cNvPr id="0" name=""/>
        <dsp:cNvSpPr/>
      </dsp:nvSpPr>
      <dsp:spPr>
        <a:xfrm>
          <a:off x="0" y="3234195"/>
          <a:ext cx="7380000" cy="614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4315"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dirty="0"/>
            <a:t>Local (in situ) thrombosis within the small arteries causes infarct directly in the tissue where it starts</a:t>
          </a:r>
        </a:p>
      </dsp:txBody>
      <dsp:txXfrm>
        <a:off x="0" y="3234195"/>
        <a:ext cx="7380000" cy="61478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5DC6FD-6703-DD49-9775-544B116E846F}">
      <dsp:nvSpPr>
        <dsp:cNvPr id="0" name=""/>
        <dsp:cNvSpPr/>
      </dsp:nvSpPr>
      <dsp:spPr>
        <a:xfrm>
          <a:off x="0" y="12506"/>
          <a:ext cx="11293200" cy="1192028"/>
        </a:xfrm>
        <a:prstGeom prst="round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Step 1: Establish the time of onset  of stroke which starts the clock on all subsequent time windows and management decisions.</a:t>
          </a:r>
        </a:p>
      </dsp:txBody>
      <dsp:txXfrm>
        <a:off x="58190" y="70696"/>
        <a:ext cx="11176820" cy="1075648"/>
      </dsp:txXfrm>
    </dsp:sp>
    <dsp:sp modelId="{5BFC8689-E6FB-D141-809B-D78370B34AC3}">
      <dsp:nvSpPr>
        <dsp:cNvPr id="0" name=""/>
        <dsp:cNvSpPr/>
      </dsp:nvSpPr>
      <dsp:spPr>
        <a:xfrm>
          <a:off x="0" y="1204535"/>
          <a:ext cx="11293200" cy="1142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8559"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“When was the patient last seen well?”</a:t>
          </a:r>
        </a:p>
        <a:p>
          <a:pPr marL="171450" lvl="1" indent="-171450" algn="l" defTabSz="800100">
            <a:lnSpc>
              <a:spcPct val="90000"/>
            </a:lnSpc>
            <a:spcBef>
              <a:spcPct val="0"/>
            </a:spcBef>
            <a:spcAft>
              <a:spcPct val="20000"/>
            </a:spcAft>
            <a:buChar char="•"/>
          </a:pPr>
          <a:r>
            <a:rPr lang="en-US" sz="1800" kern="1200"/>
            <a:t>“When was the patient last seen normal?”</a:t>
          </a:r>
        </a:p>
        <a:p>
          <a:pPr marL="171450" lvl="1" indent="-171450" algn="l" defTabSz="800100">
            <a:lnSpc>
              <a:spcPct val="90000"/>
            </a:lnSpc>
            <a:spcBef>
              <a:spcPct val="0"/>
            </a:spcBef>
            <a:spcAft>
              <a:spcPct val="20000"/>
            </a:spcAft>
            <a:buChar char="•"/>
          </a:pPr>
          <a:r>
            <a:rPr lang="en-US" sz="1800" kern="1200"/>
            <a:t>“When was the patient last known well?” (</a:t>
          </a:r>
          <a:r>
            <a:rPr lang="en-US" sz="1800" b="1" kern="1200"/>
            <a:t>LKW</a:t>
          </a:r>
          <a:r>
            <a:rPr lang="en-US" sz="1800" kern="1200"/>
            <a:t>)</a:t>
          </a:r>
        </a:p>
        <a:p>
          <a:pPr marL="171450" lvl="1" indent="-171450" algn="l" defTabSz="800100">
            <a:lnSpc>
              <a:spcPct val="90000"/>
            </a:lnSpc>
            <a:spcBef>
              <a:spcPct val="0"/>
            </a:spcBef>
            <a:spcAft>
              <a:spcPct val="20000"/>
            </a:spcAft>
            <a:buChar char="•"/>
          </a:pPr>
          <a:r>
            <a:rPr lang="en-US" sz="1800" kern="1200"/>
            <a:t>Write down the time, ex: 8:45 am; not “45 minutes ago”. </a:t>
          </a:r>
        </a:p>
      </dsp:txBody>
      <dsp:txXfrm>
        <a:off x="0" y="1204535"/>
        <a:ext cx="11293200" cy="1142640"/>
      </dsp:txXfrm>
    </dsp:sp>
    <dsp:sp modelId="{6121CFA2-7820-0B47-96DA-D4A0FF07A2A0}">
      <dsp:nvSpPr>
        <dsp:cNvPr id="0" name=""/>
        <dsp:cNvSpPr/>
      </dsp:nvSpPr>
      <dsp:spPr>
        <a:xfrm>
          <a:off x="0" y="2347175"/>
          <a:ext cx="11293200" cy="1192028"/>
        </a:xfrm>
        <a:prstGeom prst="round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Step 2:  History of the presenting symptom (which will help distinguish mimics from stroke). Temporal onset needed. Stroke is “abrupt”, not gradual like migraine for instance.  Are symptoms “stuttering”, fluctuating, improving? </a:t>
          </a:r>
        </a:p>
      </dsp:txBody>
      <dsp:txXfrm>
        <a:off x="58190" y="2405365"/>
        <a:ext cx="11176820" cy="1075648"/>
      </dsp:txXfrm>
    </dsp:sp>
    <dsp:sp modelId="{4178016B-D0FB-EA48-BEA8-E888347C44B1}">
      <dsp:nvSpPr>
        <dsp:cNvPr id="0" name=""/>
        <dsp:cNvSpPr/>
      </dsp:nvSpPr>
      <dsp:spPr>
        <a:xfrm>
          <a:off x="0" y="3605443"/>
          <a:ext cx="11293200" cy="1192028"/>
        </a:xfrm>
        <a:prstGeom prst="round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Step 3:  PMHX (to determine risk factors and eligibility for IV rtPA)</a:t>
          </a:r>
        </a:p>
      </dsp:txBody>
      <dsp:txXfrm>
        <a:off x="58190" y="3663633"/>
        <a:ext cx="11176820" cy="107564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519C81-5202-F445-B547-4D6F91F4F5BA}">
      <dsp:nvSpPr>
        <dsp:cNvPr id="0" name=""/>
        <dsp:cNvSpPr/>
      </dsp:nvSpPr>
      <dsp:spPr>
        <a:xfrm>
          <a:off x="4245" y="288121"/>
          <a:ext cx="2553101" cy="460800"/>
        </a:xfrm>
        <a:prstGeom prst="rect">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a:t>Seizures</a:t>
          </a:r>
        </a:p>
      </dsp:txBody>
      <dsp:txXfrm>
        <a:off x="4245" y="288121"/>
        <a:ext cx="2553101" cy="460800"/>
      </dsp:txXfrm>
    </dsp:sp>
    <dsp:sp modelId="{702340A7-B003-1945-AA16-9A2A971242CB}">
      <dsp:nvSpPr>
        <dsp:cNvPr id="0" name=""/>
        <dsp:cNvSpPr/>
      </dsp:nvSpPr>
      <dsp:spPr>
        <a:xfrm>
          <a:off x="4245" y="748921"/>
          <a:ext cx="2553101" cy="4367295"/>
        </a:xfrm>
        <a:prstGeom prst="rect">
          <a:avLst/>
        </a:prstGeom>
        <a:solidFill>
          <a:schemeClr val="accent1">
            <a:alpha val="90000"/>
            <a:tint val="40000"/>
            <a:hueOff val="0"/>
            <a:satOff val="0"/>
            <a:lumOff val="0"/>
            <a:alphaOff val="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a:t>May occur in 1/3 of adults and nearly 1/2 of children with CVT</a:t>
          </a:r>
        </a:p>
        <a:p>
          <a:pPr marL="171450" lvl="1" indent="-171450" algn="l" defTabSz="711200">
            <a:lnSpc>
              <a:spcPct val="90000"/>
            </a:lnSpc>
            <a:spcBef>
              <a:spcPct val="0"/>
            </a:spcBef>
            <a:spcAft>
              <a:spcPct val="15000"/>
            </a:spcAft>
            <a:buChar char="•"/>
          </a:pPr>
          <a:r>
            <a:rPr lang="en-US" sz="1600" kern="1200" dirty="0"/>
            <a:t>Factors associated with development of seizures: venous infarction, hemorrhagic conversion, and intracranial hypertension</a:t>
          </a:r>
        </a:p>
        <a:p>
          <a:pPr marL="171450" lvl="1" indent="-171450" algn="l" defTabSz="711200">
            <a:lnSpc>
              <a:spcPct val="90000"/>
            </a:lnSpc>
            <a:spcBef>
              <a:spcPct val="0"/>
            </a:spcBef>
            <a:spcAft>
              <a:spcPct val="15000"/>
            </a:spcAft>
            <a:buChar char="•"/>
          </a:pPr>
          <a:r>
            <a:rPr lang="en-US" sz="1600" kern="1200" dirty="0"/>
            <a:t>No evidence for prophylactic use of antiepileptic drugs </a:t>
          </a:r>
        </a:p>
        <a:p>
          <a:pPr marL="171450" lvl="1" indent="-171450" algn="l" defTabSz="711200">
            <a:lnSpc>
              <a:spcPct val="90000"/>
            </a:lnSpc>
            <a:spcBef>
              <a:spcPct val="0"/>
            </a:spcBef>
            <a:spcAft>
              <a:spcPct val="15000"/>
            </a:spcAft>
            <a:buChar char="•"/>
          </a:pPr>
          <a:r>
            <a:rPr lang="en-US" sz="1600" kern="1200"/>
            <a:t>Guidelines recommend early initiation of antiepileptic drugs in patients 1 or more seizures</a:t>
          </a:r>
        </a:p>
      </dsp:txBody>
      <dsp:txXfrm>
        <a:off x="4245" y="748921"/>
        <a:ext cx="2553101" cy="4367295"/>
      </dsp:txXfrm>
    </dsp:sp>
    <dsp:sp modelId="{AF9EDDE1-C4B9-D84A-AD50-6432AD235F59}">
      <dsp:nvSpPr>
        <dsp:cNvPr id="0" name=""/>
        <dsp:cNvSpPr/>
      </dsp:nvSpPr>
      <dsp:spPr>
        <a:xfrm>
          <a:off x="2914781" y="288121"/>
          <a:ext cx="2553101" cy="460800"/>
        </a:xfrm>
        <a:prstGeom prst="rect">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a:t>Hydrocephalus</a:t>
          </a:r>
        </a:p>
      </dsp:txBody>
      <dsp:txXfrm>
        <a:off x="2914781" y="288121"/>
        <a:ext cx="2553101" cy="460800"/>
      </dsp:txXfrm>
    </dsp:sp>
    <dsp:sp modelId="{AF6D0EF2-22DC-0041-B8D5-CB60BFD20930}">
      <dsp:nvSpPr>
        <dsp:cNvPr id="0" name=""/>
        <dsp:cNvSpPr/>
      </dsp:nvSpPr>
      <dsp:spPr>
        <a:xfrm>
          <a:off x="2914781" y="748921"/>
          <a:ext cx="2553101" cy="4367295"/>
        </a:xfrm>
        <a:prstGeom prst="rect">
          <a:avLst/>
        </a:prstGeom>
        <a:solidFill>
          <a:schemeClr val="accent1">
            <a:alpha val="90000"/>
            <a:tint val="40000"/>
            <a:hueOff val="0"/>
            <a:satOff val="0"/>
            <a:lumOff val="0"/>
            <a:alphaOff val="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a:t>Thrombosis of major sinuses (</a:t>
          </a:r>
          <a:r>
            <a:rPr lang="en-US" sz="1600" kern="1200" dirty="0" err="1"/>
            <a:t>eg</a:t>
          </a:r>
          <a:r>
            <a:rPr lang="en-US" sz="1600" kern="1200" dirty="0"/>
            <a:t>, superior sagittal, transverse sinuses) may affect CSF drainage, resulting in communicating hydrocephalus</a:t>
          </a:r>
        </a:p>
        <a:p>
          <a:pPr marL="171450" lvl="1" indent="-171450" algn="l" defTabSz="711200">
            <a:lnSpc>
              <a:spcPct val="90000"/>
            </a:lnSpc>
            <a:spcBef>
              <a:spcPct val="0"/>
            </a:spcBef>
            <a:spcAft>
              <a:spcPct val="15000"/>
            </a:spcAft>
            <a:buChar char="•"/>
          </a:pPr>
          <a:r>
            <a:rPr lang="en-US" sz="1600" kern="1200" dirty="0"/>
            <a:t>Treatment includes measures to decrease the production of CSF, recanalization of the thrombosed sinus, and management of intracranial hypertension.</a:t>
          </a:r>
        </a:p>
        <a:p>
          <a:pPr marL="171450" lvl="1" indent="-171450" algn="l" defTabSz="711200">
            <a:lnSpc>
              <a:spcPct val="90000"/>
            </a:lnSpc>
            <a:spcBef>
              <a:spcPct val="0"/>
            </a:spcBef>
            <a:spcAft>
              <a:spcPct val="15000"/>
            </a:spcAft>
            <a:buChar char="•"/>
          </a:pPr>
          <a:r>
            <a:rPr lang="en-US" sz="1600" kern="1200" dirty="0"/>
            <a:t>Neurosurgical consultation for evacuation of CSF either with ventriculostomy or ventriculoperitoneal shunt may be necessary</a:t>
          </a:r>
        </a:p>
      </dsp:txBody>
      <dsp:txXfrm>
        <a:off x="2914781" y="748921"/>
        <a:ext cx="2553101" cy="4367295"/>
      </dsp:txXfrm>
    </dsp:sp>
    <dsp:sp modelId="{A4D1E540-8CAC-FA41-A64E-531902F29580}">
      <dsp:nvSpPr>
        <dsp:cNvPr id="0" name=""/>
        <dsp:cNvSpPr/>
      </dsp:nvSpPr>
      <dsp:spPr>
        <a:xfrm>
          <a:off x="5825317" y="288121"/>
          <a:ext cx="2553101" cy="460800"/>
        </a:xfrm>
        <a:prstGeom prst="rect">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a:t>Intra-cranial Hypertension</a:t>
          </a:r>
        </a:p>
      </dsp:txBody>
      <dsp:txXfrm>
        <a:off x="5825317" y="288121"/>
        <a:ext cx="2553101" cy="460800"/>
      </dsp:txXfrm>
    </dsp:sp>
    <dsp:sp modelId="{C9F1B079-BD67-ED4D-BD51-ADA9F311ECBD}">
      <dsp:nvSpPr>
        <dsp:cNvPr id="0" name=""/>
        <dsp:cNvSpPr/>
      </dsp:nvSpPr>
      <dsp:spPr>
        <a:xfrm>
          <a:off x="5825317" y="748921"/>
          <a:ext cx="2553101" cy="4367295"/>
        </a:xfrm>
        <a:prstGeom prst="rect">
          <a:avLst/>
        </a:prstGeom>
        <a:solidFill>
          <a:schemeClr val="accent1">
            <a:alpha val="90000"/>
            <a:tint val="40000"/>
            <a:hueOff val="0"/>
            <a:satOff val="0"/>
            <a:lumOff val="0"/>
            <a:alphaOff val="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a:t>Seen in 15%-40% of patients with CVT</a:t>
          </a:r>
        </a:p>
        <a:p>
          <a:pPr marL="171450" lvl="1" indent="-171450" algn="l" defTabSz="711200">
            <a:lnSpc>
              <a:spcPct val="90000"/>
            </a:lnSpc>
            <a:spcBef>
              <a:spcPct val="0"/>
            </a:spcBef>
            <a:spcAft>
              <a:spcPct val="15000"/>
            </a:spcAft>
            <a:buChar char="•"/>
          </a:pPr>
          <a:r>
            <a:rPr lang="en-US" sz="1600" kern="1200" dirty="0"/>
            <a:t>Caused by venous outflow obstruction and CSF malabsorption. 
Treatment: No RCTs have tested these interventions</a:t>
          </a:r>
        </a:p>
        <a:p>
          <a:pPr marL="342900" lvl="2" indent="-171450" algn="l" defTabSz="711200">
            <a:lnSpc>
              <a:spcPct val="90000"/>
            </a:lnSpc>
            <a:spcBef>
              <a:spcPct val="0"/>
            </a:spcBef>
            <a:spcAft>
              <a:spcPct val="15000"/>
            </a:spcAft>
            <a:buChar char="•"/>
          </a:pPr>
          <a:r>
            <a:rPr lang="en-US" sz="1600" kern="1200" dirty="0"/>
            <a:t>Diuretics (</a:t>
          </a:r>
          <a:r>
            <a:rPr lang="en-US" sz="1600" kern="1200" dirty="0" err="1"/>
            <a:t>ie</a:t>
          </a:r>
          <a:r>
            <a:rPr lang="en-US" sz="1600" kern="1200" dirty="0"/>
            <a:t>, acetazolamide)</a:t>
          </a:r>
        </a:p>
        <a:p>
          <a:pPr marL="342900" lvl="2" indent="-171450" algn="l" defTabSz="711200">
            <a:lnSpc>
              <a:spcPct val="90000"/>
            </a:lnSpc>
            <a:spcBef>
              <a:spcPct val="0"/>
            </a:spcBef>
            <a:spcAft>
              <a:spcPct val="15000"/>
            </a:spcAft>
            <a:buChar char="•"/>
          </a:pPr>
          <a:r>
            <a:rPr lang="en-US" sz="1600" kern="1200" dirty="0"/>
            <a:t>Serial lumbar punctures</a:t>
          </a:r>
        </a:p>
        <a:p>
          <a:pPr marL="342900" lvl="2" indent="-171450" algn="l" defTabSz="711200">
            <a:lnSpc>
              <a:spcPct val="90000"/>
            </a:lnSpc>
            <a:spcBef>
              <a:spcPct val="0"/>
            </a:spcBef>
            <a:spcAft>
              <a:spcPct val="15000"/>
            </a:spcAft>
            <a:buChar char="•"/>
          </a:pPr>
          <a:r>
            <a:rPr lang="en-US" sz="1600" kern="1200" dirty="0"/>
            <a:t>In refractory cases, </a:t>
          </a:r>
          <a:r>
            <a:rPr lang="en-US" sz="1600" kern="1200" dirty="0" err="1"/>
            <a:t>lumboperitoneal</a:t>
          </a:r>
          <a:r>
            <a:rPr lang="en-US" sz="1600" kern="1200" dirty="0"/>
            <a:t> shunt may be required</a:t>
          </a:r>
        </a:p>
      </dsp:txBody>
      <dsp:txXfrm>
        <a:off x="5825317" y="748921"/>
        <a:ext cx="2553101" cy="4367295"/>
      </dsp:txXfrm>
    </dsp:sp>
    <dsp:sp modelId="{D17FBCCD-DFE4-084B-98CC-98B0452584F8}">
      <dsp:nvSpPr>
        <dsp:cNvPr id="0" name=""/>
        <dsp:cNvSpPr/>
      </dsp:nvSpPr>
      <dsp:spPr>
        <a:xfrm>
          <a:off x="8735852" y="288121"/>
          <a:ext cx="2553101" cy="460800"/>
        </a:xfrm>
        <a:prstGeom prst="rect">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a:t>Visual Loss</a:t>
          </a:r>
        </a:p>
      </dsp:txBody>
      <dsp:txXfrm>
        <a:off x="8735852" y="288121"/>
        <a:ext cx="2553101" cy="460800"/>
      </dsp:txXfrm>
    </dsp:sp>
    <dsp:sp modelId="{210AACAF-81E1-D149-9033-43354A07DDF1}">
      <dsp:nvSpPr>
        <dsp:cNvPr id="0" name=""/>
        <dsp:cNvSpPr/>
      </dsp:nvSpPr>
      <dsp:spPr>
        <a:xfrm>
          <a:off x="8735852" y="748921"/>
          <a:ext cx="2553101" cy="4367295"/>
        </a:xfrm>
        <a:prstGeom prst="rect">
          <a:avLst/>
        </a:prstGeom>
        <a:solidFill>
          <a:schemeClr val="accent1">
            <a:alpha val="90000"/>
            <a:tint val="40000"/>
            <a:hueOff val="0"/>
            <a:satOff val="0"/>
            <a:lumOff val="0"/>
            <a:alphaOff val="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a:t>Due to pressure on the optic nerves</a:t>
          </a:r>
        </a:p>
        <a:p>
          <a:pPr marL="171450" lvl="1" indent="-171450" algn="l" defTabSz="711200">
            <a:lnSpc>
              <a:spcPct val="90000"/>
            </a:lnSpc>
            <a:spcBef>
              <a:spcPct val="0"/>
            </a:spcBef>
            <a:spcAft>
              <a:spcPct val="15000"/>
            </a:spcAft>
            <a:buChar char="•"/>
          </a:pPr>
          <a:r>
            <a:rPr lang="en-US" sz="1600" kern="1200" dirty="0"/>
            <a:t>Reported in up to 13% of patients</a:t>
          </a:r>
        </a:p>
        <a:p>
          <a:pPr marL="171450" lvl="1" indent="-171450" algn="l" defTabSz="711200">
            <a:lnSpc>
              <a:spcPct val="90000"/>
            </a:lnSpc>
            <a:spcBef>
              <a:spcPct val="0"/>
            </a:spcBef>
            <a:spcAft>
              <a:spcPct val="15000"/>
            </a:spcAft>
            <a:buChar char="•"/>
          </a:pPr>
          <a:r>
            <a:rPr lang="en-US" sz="1600" kern="1200" dirty="0"/>
            <a:t>Treatment:</a:t>
          </a:r>
        </a:p>
        <a:p>
          <a:pPr marL="342900" lvl="2" indent="-171450" algn="l" defTabSz="711200">
            <a:lnSpc>
              <a:spcPct val="90000"/>
            </a:lnSpc>
            <a:spcBef>
              <a:spcPct val="0"/>
            </a:spcBef>
            <a:spcAft>
              <a:spcPct val="15000"/>
            </a:spcAft>
            <a:buChar char="•"/>
          </a:pPr>
          <a:r>
            <a:rPr lang="en-US" sz="1600" kern="1200" dirty="0"/>
            <a:t>Ophthalmic consultation</a:t>
          </a:r>
        </a:p>
        <a:p>
          <a:pPr marL="342900" lvl="2" indent="-171450" algn="l" defTabSz="711200">
            <a:lnSpc>
              <a:spcPct val="90000"/>
            </a:lnSpc>
            <a:spcBef>
              <a:spcPct val="0"/>
            </a:spcBef>
            <a:spcAft>
              <a:spcPct val="15000"/>
            </a:spcAft>
            <a:buChar char="•"/>
          </a:pPr>
          <a:r>
            <a:rPr lang="en-US" sz="1600" kern="1200" dirty="0"/>
            <a:t>Monitor for papilledema</a:t>
          </a:r>
        </a:p>
        <a:p>
          <a:pPr marL="342900" lvl="2" indent="-171450" algn="l" defTabSz="711200">
            <a:lnSpc>
              <a:spcPct val="90000"/>
            </a:lnSpc>
            <a:spcBef>
              <a:spcPct val="0"/>
            </a:spcBef>
            <a:spcAft>
              <a:spcPct val="15000"/>
            </a:spcAft>
            <a:buChar char="•"/>
          </a:pPr>
          <a:r>
            <a:rPr lang="en-US" sz="1600" kern="1200" dirty="0"/>
            <a:t>Visual field testing</a:t>
          </a:r>
        </a:p>
        <a:p>
          <a:pPr marL="342900" lvl="2" indent="-171450" algn="l" defTabSz="711200">
            <a:lnSpc>
              <a:spcPct val="90000"/>
            </a:lnSpc>
            <a:spcBef>
              <a:spcPct val="0"/>
            </a:spcBef>
            <a:spcAft>
              <a:spcPct val="15000"/>
            </a:spcAft>
            <a:buChar char="•"/>
          </a:pPr>
          <a:r>
            <a:rPr lang="en-US" sz="1600" kern="1200" dirty="0"/>
            <a:t>For patients at high risk of blindness, optic nerve fenestration may be considered</a:t>
          </a:r>
        </a:p>
      </dsp:txBody>
      <dsp:txXfrm>
        <a:off x="8735852" y="748921"/>
        <a:ext cx="2553101" cy="4367295"/>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11T16:10:21.166"/>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0 52 16383,'43'0'0,"5"0"0,-21 0 0,6 0 0,1 0 0,-7 0 0,15 0 0,-15 0 0,7 0 0,-10 0 0,11 0 0,-8 0 0,9 0 0,-12 0 0,9 0 0,-6 0 0,0 0 0,-4 0 0,-6-11 0,8 9 0,-7-9 0,4 11 0,-4 0 0,7 0 0,-1-5 0,0 3 0,10-10 0,-7 10 0,6-4 0,-8 6 0,8 0 0,-7 0 0,8 0 0,-10 0 0,0 0 0,1 0 0,-1 0 0,9 0 0,-6 0 0,6 0 0,-15 0 0,5 0 0,-6 0 0,8 0 0,-1 0 0,9 0 0,-7 0 0,1 0 0,-4 0 0,-6 0 0,8 0 0,-7 0 0,4 0 0,-4 0 0,-1 0 0,6 0 0,-5 0 0,0 0 0,5 0 0,-6 0 0,8 0 0,-8 0 0,-1 0 0,-6 0 0,-1 4 0,7-3 0,-5 7 0,6-7 0,-8 8 0,7-3 0,-5 0 0,5 4 0,1-9 0,-6 7 0,5-7 0,-7 7 0,1-6 0,-1 2 0,1 0 0,-1-3 0,7 9 0,-5-9 0,5 9 0,-6-9 0,-1 3 0,1 0 0,2-3 0,-3 3 0,3-4 0,-3 5 0,4-4 0,-3 3 0,4 0 0,-5-3 0,1 3 0,-1 1 0,5-4 0,-8 7 0,6-7 0,-6 7 0,7-2 0,-2-1 0,2-1 0,-3 0 0,-1-3 0,5 8 0,-4-8 0,3 3 0,-4-4 0,2 0 0,2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11T16:10:23.826"/>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1 76 16383,'43'0'0,"-3"0"0,-16 0 0,22 0 0,-8 0 0,19 0 0,-12 0 0,12 0 0,-19 0 0,17 0 0,-8 0 0,-9 0 0,28 0 0,-28 0 0,30 0 0,-20 0 0,8 0 0,-11-7 0,0-1 0,0-1 0,0-4 0,-9 11 0,6-4 0,-6-1 0,0 5 0,7-4 0,-8-1 0,10 5 0,0-4 0,0 6 0,0 0 0,-9 0 0,-2 0 0,-10 0 0,1 0 0,-1 0 0,10 0 0,-8 0 0,8 0 0,-10 0 0,0 0 0,1 0 0,-1 0 0,0 0 0,1 0 0,-1 0 0,0 0 0,1 0 0,-1 0 0,1 0 0,8 0 0,-6 0 0,6 0 0,-8 0 0,-1 0 0,1 0 0,-1 0 0,-6 0 0,4 0 0,-4 5 0,7-4 0,-1 10 0,-6-5 0,5 6 0,-6-1 0,1 0 0,4-5 0,-10 2 0,10-1 0,-11-2 0,12 6 0,-12-9 0,12 8 0,-5-8 0,6 9 0,-6-6 0,5 2 0,-12 1 0,11-7 0,-10 3 0,4 0 0,0-2 0,-5 2 0,5-4 0,-6 0 0,-1 4 0,5-3 0,-4 3 0,4-4 0,-5 0 0,0 4 0,5 1 0,-5 0 0,0 3 0,3-7 0,-6 3 0,7 0 0,-5 2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11T16:10:34.827"/>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0 0 16383,'37'0'0,"-2"0"0,-19 0 0,16 0 0,-12 0 0,13 0 0,-9 0 0,10 0 0,-7 0 0,6 0 0,-8 0 0,-1 0 0,1 0 0,-1 0 0,1 0 0,-1 0 0,1 0 0,-1 0 0,10 7 0,-7-6 0,15 6 0,-15-7 0,16 0 0,-7 7 0,-1-6 0,8 6 0,-16-1 0,7-5 0,-10 4 0,0 1 0,-6-5 0,5 5 0,-5-6 0,6 5 0,-6-4 0,5 5 0,-12-6 0,12 0 0,-12 0 0,12 5 0,-12-3 0,5 3 0,-7-5 0,1 4 0,4-3 0,-4 3 0,4-4 0,-5 0 0,1 0 0,3 5 0,-2-4 0,9 3 0,-9-4 0,12 0 0,-12 0 0,12 0 0,-5 0 0,6 0 0,-6 0 0,5 0 0,-5 0 0,0 0 0,4 0 0,-11 0 0,5 0 0,-6 0 0,-1 0 0,8 0 0,-6 0 0,5 0 0,-7 0 0,1 0 0,3 0 0,5 0 0,-3 0 0,1 0 0,-6 0 0,-1 0 0,4 0 0,-3 0 0,2 0 0,1 0 0,-3 0 0,3 0 0,-3 0 0,-1 0 0,4 0 0,-3 0 0,3 0 0,-4 0 0,7 0 0,-5 0 0,12 0 0,-5 0 0,0 0 0,-2 0 0,-7 0 0,1 0 0,3 0 0,1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11T16:10:37.609"/>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0 76 16383,'39'0'0,"-9"0"0,-16 0 0,2 0 0,11 0 0,-7 0 0,12 0 0,-5 0 0,-1 0 0,8 0 0,-1 0 0,-6 0 0,7 0 0,-1 0 0,-6 0 0,16 0 0,-17 0 0,17 0 0,-7-7 0,9 5 0,12-12 0,-10 5 0,10-1 0,-12-3 0,-10 11 0,8-4 0,-16 0 0,6 5 0,-15-4 0,5 5 0,-12 0 0,5 0 0,0 0 0,-4 0 0,4 0 0,-7 0 0,1 0 0,6 0 0,-5 0 0,12 0 0,-12 0 0,5 0 0,0 0 0,0 4 0,7 2 0,-1 5 0,3-4 0,-1 4 0,1-10 0,-1 10 0,10-3 0,-7-1 0,15 7 0,-15-13 0,6 6 0,1 0 0,-7-6 0,6 11 0,-8-10 0,8 3 0,-6 0 0,6 2 0,-9 0 0,1 4 0,-1-4 0,0-1 0,1 5 0,-1-9 0,0 8 0,1-8 0,-1 9 0,1-10 0,-7 4 0,4-5 0,-4 6 0,0-5 0,5 5 0,-12-6 0,12 0 0,-5 0 0,-1 0 0,6 0 0,-12 0 0,5 0 0,-6 0 0,6 0 0,-5 0 0,5 0 0,-6 0 0,-1 0 0,5 0 0,3 0 0,-2 0 0,2 0 0,-8 0 0,1 0 0,3 0 0,-2 0 0,1 0 0,1 0 0,-1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20T13:59:07.627"/>
    </inkml:context>
    <inkml:brush xml:id="br0">
      <inkml:brushProperty name="width" value="0.1" units="cm"/>
      <inkml:brushProperty name="height" value="0.1" units="cm"/>
      <inkml:brushProperty name="color" value="#E71224"/>
    </inkml:brush>
  </inkml:definitions>
  <inkml:trace contextRef="#ctx0" brushRef="#br0">5482 290 24575,'-75'0'0,"7"0"0,15 1 0,-4-2 0,-6-6 0,-7-2 0,-2 0 0,-6 0 0,0-1 0,4-2 0,0-1 0,1 2 0,-3 0 0,0 2 0,8 2-281,3 0 1,7-1 280,-15-8 139,16 12-139,-19-13 0,12 17 0,0-7 0,-28 6 0,21-14 0,-10 14 0,30-6 0,0 0 422,8 5-422,-8-11 0,-35 5 0,34-5 0,-35 5 0,47 2 0,0 0 0,-1 5 0,1-5 0,-1 0 0,1 4 0,0-4 0,-1 6 0,-9-7 0,7 6 0,-19-7 0,20 8 0,-20 0 0,9 0 0,0 0 0,-8 0 0,18 0 0,-18 0 0,18 0 0,-26 0 0,24 0 0,-24 0 0,35 0 0,-15 0 0,17 0 0,-9 0 0,9 0 0,-6 0 0,14 0 0,-14 0 0,5 0 0,-7 0 0,8 0 0,-17 0 0,14 0 0,-26 0 0,18 0 0,-18 0 0,8 0 0,-11 0 0,0 0 0,0 0 0,1 0 0,-19 0 0,24 6 0,-11 2 0,19-1 0,7 5 0,-7-10 0,9 10 0,1-11 0,0 5 0,0-6 0,8 0 0,-6 0 0,14 0 0,-14 0 0,14 0 0,-14 0 0,14 0 0,-6 0 0,-10 0 0,13 0 0,-13 0 0,24 0 0,-4 0 0,11 0 0,-6 0 0,8 0 0,0 0 0,-1 0 0,1 0 0,-1 0 0,-1 0 0,1 0 0,-1 4 0,1-3 0,0 7 0,-1-8 0,1 8 0,-7-2 0,5-1 0,-10 5 0,10-5 0,-11 5 0,11-5 0,-10 5 0,6-5 0,-7 6 0,7-6 0,-1 0 0,7-5 0,0 0 0,0 0 0,1 0 0,-1 0 0,1 0 0,0 0 0,-1 0 0,1 0 0,0 0 0,3 2 0,1 3 0,3 2 0,0 2 0,0-1 0,0 7 0,0 1 0,0 6 0,0 8 0,5-6 0,-4 14 0,10-6 0,-3 9 0,-1-1 0,6 11 0,-5-8 0,1 18 0,2-18 0,-2 18 0,5-18 0,-6 18 0,4-18 0,-3 18 0,-1-18 0,5 8 0,-5-1 0,0-7 0,-1 8 0,0 0 0,-5-8 0,11 8 0,-12-11 0,11 0 0,-10 11 0,4-8 0,1 18 0,-5-19 0,5 19 0,-7-18 0,0 8 0,7 0 0,-5-8 0,5 7 0,-7-9 0,6-1 0,-5 0 0,5 1 0,-6-1 0,0 0 0,0-9 0,6 8 0,-4-7 0,4 0 0,-6 6 0,5-14 0,-4 6 0,4-8 0,-5 4 0,5-3 0,-4-3 0,4 0 0,-5-10 0,0 5 0,4-1 0,-2-4 0,3 10 0,-2-10 0,-2 11 0,3-5 0,-4 9 0,0-2 0,0 3 0,0-5 0,0 1 0,0 0 0,0 0 0,0 0 0,0 0 0,0 0 0,0 0 0,0 0 0,0-1 0,0 1 0,0-6 0,0-1 0,0-1 0,0-4 0,0 5 0,0-7 0,0 0 0,3 0 0,1-4 0,3-2 0,0-2 0,1 4 0,0-3 0,0 3 0,6-4 0,2 0 0,6 0 0,0 0 0,0 0 0,8 0 0,-6 0 0,15 0 0,-15 0 0,14 0 0,-14 0 0,14 0 0,-14 0 0,15 0 0,-7 0 0,0 0 0,6 0 0,-14 0 0,14 0 0,-6 0 0,1 0 0,5 0 0,-7 0 0,1 0 0,6 0 0,-6 0 0,8 0 0,1 0 0,-1 6 0,0-5 0,0 11 0,1-10 0,-1 4 0,0 0 0,0-5 0,0 5 0,11-6 0,-8 0 0,8 0 0,-11 0 0,0 0 0,1 0 0,-1 0 0,29 7 0,-30-5 0,27 5 0,-34-7 0,9 0 0,-1 0 0,0 0 0,0 0 0,1 0 0,9 0 0,-7 0 0,18 0 0,-18 0 0,18 0 0,-18 0 0,19 0 0,-9 0 0,10 0 0,-9 0 0,7 0 0,20 0 0,-20 0 0,28 0 0,-46 0 0,18 0 0,-18 0 0,8 0 0,-11 0 0,1 0 0,-1 0 0,0 0 0,1 0 0,-1 0 0,0 0 0,11 0 0,-8 0 0,8 0 0,-1 0 0,11 0 0,4 0 0,-4 0 0,0 0 0,-18 0 0,8 0 0,6 0 0,-2 0 0,-3 0 0,-3 0 0,-17 0 0,8 0 0,1-6 0,-1 4 0,0-10 0,1 11 0,-1-11 0,0 11 0,0-11 0,10 10 0,-7-4 0,8 0 0,0 5 0,-9-5 0,19 6 0,-18-6 0,36-2 0,-22 1 0,24-6 0,-29 5 0,9-8 0,-18 8 0,18-6 0,-18 7 0,17-9 0,-17 3 0,18-3 0,-18 2 0,19 6 0,-20-4 0,9 4 0,0 1 0,2-6 0,11 11 0,-1-12 0,14 4 0,-18 1 0,2 1 0,-10 2 0,0 1-272,16-4 0,-1 2 272,26 5 0,0-15 0,-14 9 0,-2-2 0,-13-4 0,1 5 0,-11-6 0,-3 1 0,1 6 0,-8-4 544,7 5-544,1 0 0,-8-5 0,8 10 0,-11-4 0,18 0 0,-14-1 0,14 0 0,-26 1 0,6 6 0,-6 0 0,1 0 0,5 0 0,-6 0 0,8 0 0,-7 0 0,5 0 0,-14 0 0,14 0 0,-14 0 0,6 0 0,-8 0 0,0 0 0,10 10 0,-14-8 0,12 13 0,-14-9 0,0 4 0,5-5 0,-11 3 0,4-7 0,1 8 0,-5-8 0,4 4 0,-6-5 0,-3-3 0,-2-8 0,-3-3 0,0-8 0,0-8 0,0-3 0,0-6 0,0-12 0,0 9 0,0-8 0,0-1 0,-6 8 0,4-8 0,-11 1 0,12 7 0,-14-18 0,14 7 0,-12 1 0,11-8 0,-11 9 0,12-2 0,-6 4 0,7-1 0,0 9 0,0 0 0,0 4 0,0 6 0,0 0 0,0-6 0,0 5 0,0 1 0,0-6 0,0 14 0,0-14 0,0-23 0,0 14 0,-6-22 0,4 29 0,-4 0 0,6 0 0,0 0 0,-6 0 0,5 8 0,-5-5 0,1 13 0,-2-14 0,1 14 0,0-14 0,0 6 0,4 1 0,-4-8 0,6 16 0,0-16 0,0 15 0,0-6 0,0 8 0,0-3 0,0 8 0,0-2 0,0 11 0,0 0 0,0 0 0,0 0 0,0-4 0,0 2 0,0-8 0,0 8 0,0-11 0,0 11 0,0-10 0,0 10 0,0-4 0,0 5 0,5-5 0,-4 4 0,4-5 0,-1 7 0,-3-7 0,2 5 0,-3-4 0,0 5 0,0 1 0,0 1 0,-3 3 0,-7 1 0,-6 3 0,-6 0 0,6 0 0,-4 0 0,-4 0 0,0 0 0,-6 0 0,-1 0 0,-1 0 0,-8 0 0,0 0 0,-1 0 0,1 0 0,-1 0 0,9 0 0,-16 0 0,21 0 0,-22 0 0,17 0 0,-8 0 0,-1 0 0,1 0 0,0 0 0,-1 0 0,1 0 0,0 0 0,-1 0 0,1 0 0,0 0 0,-1 0 0,1 0 0,0 0 0,-1 0 0,1 6 0,0-4 0,7 4 0,-5-6 0,6 0 0,-26 0 0,21 4 0,-19-2 0,32 3 0,-15-5 0,16 0 0,-7 4 0,8-2 0,-8 3 0,6-5 0,-24 4 0,21 2 0,-12 1 0,8 3 0,7-8 0,-6 9 0,8-10 0,-8 4 0,12-5 0,-10 0 0,12 0 0,-6 0 0,0 0 0,0 0 0,7 0 0,-6 0 0,6 0 0,-7 0 0,0 0 0,0 0 0,-8 0 0,6 0 0,-33 0 0,29 0 0,-20 0 0,18 0 0,6 0 0,-6 0 0,0 0 0,6 0 0,-6 0 0,8 0 0,0 0 0,0 0 0,0 0 0,1 0 0,-1 0 0,6 0 0,-5 0 0,11 0 0,-14 0 0,13 0 0,-7 0 0,10 0 0,-1 0 0,1 0 0,-1 0 0,1 0 0,-1 0 0,1 0 0,-1 0 0,1 0 0,-1 0 0,1 0 0,-1 0 0,1 0 0,0 0 0,0 0 0,0 0 0,0 0 0,0 0 0,-1 0 0,1 0 0,0 0 0,0 0 0,0 0 0,-1 0 0,1 0 0,-1 0 0,1-4 0,-1 3 0,1-3 0,-1 4 0,1 0 0,-1-3 0,1 2 0,-1-3 0,1 4 0,-1-4 0,1 3 0,0-3 0,-1 4 0,1-3 0,0 2 0,0-3 0,0 4 0,-7 0 0,5 0 0,-4 0 0,6 0 0,-1 0 0,-5 0 0,4 0 0,-5 0 0,7 0 0,-1 0 0,1 0 0,-1 0 0,-5 0 0,4 0 0,-4 0 0,5 0 0,1 0 0,0 0 0,1 0 0,-1 0 0,0 0 0,0 0 0,-1 0 0,1 0 0,-1 0 0,1 0 0,-1 0 0,1 0 0,-7 0 0,5 0 0,-4 0 0,6 0 0,0 0 0,-1 0 0,1 0 0,0 0 0,0 0 0,0 0 0,-1 0 0,1 0 0,-1 0 0,1 0 0,-1 0 0,1 0 0,-1 0 0,1 0 0,0 0 0,0 0 0,1 0 0,-1 0 0,0 0 0,0 0 0,0 0 0,-1 0 0,1 0 0,-1 0 0,2 0 0,-2 0 0,1 0 0,0 0 0,0 0 0,0 0 0,0 0 0,0 0 0,1 0 0,-1 0 0,1 0 0,0 0 0,-1 0 0,1 0 0,0 0 0,3 0 0,1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20T14:09:25.755"/>
    </inkml:context>
    <inkml:brush xml:id="br0">
      <inkml:brushProperty name="width" value="0.1" units="cm"/>
      <inkml:brushProperty name="height" value="0.1" units="cm"/>
      <inkml:brushProperty name="color" value="#E71224"/>
    </inkml:brush>
  </inkml:definitions>
  <inkml:trace contextRef="#ctx0" brushRef="#br0">1 0 24575,'14'18'0,"17"24"0,-3-7 0,9 12 0,-3-4 0,-1-3 0,-6-5 0,12 12 0,0 4 0,-3 8-1022,0 0 1,4 5 1021,-2-10 0,-2 0 0,-6 0 0,1 2 0,13 18 0,-3-5 0,-12-10 0,3 7 0,2 6 0,-2-12 0,-2 0 0,-6 7 0,1 3 0,15 13 0,-1 1-673,-15-13 1,-2 0 672,12 10 0,-1 0-1040,-8-7 1,-2 3 1039,-2-11 0,1 3 0,-2-2 0,4 18 0,-1-1 0,-5-16 0,-1 1 0,0-3 0,0 3 0,0-1-699,6 20 0,0-1 699,-6-29 0,-2-1 0,3 23 0,0 0 0,1-22 0,0-1 0,-2 13 0,-1-1 382,-1-20 1,-1-2-383,1 5 0,-1 2 0,3 6 0,0 0 0,-3-10 0,2-1 0,4 5 0,2 0 0,14 35 0,-4-22 0,5 22 0,-3-10 0,3 13 0,-2-12 0,1 9 0,-1-10 0,-1 0 0,0-2 0,0-1 0,-10-29 0,-1 1 0,-3 0 0,0 0 0,3 0 0,0 0 0,14 40 0,-11-8 0,9 11 0,-15 1 0,15 1 0,-15-1 0,7 0 0,0 0 0,-8-12 0,7 9 0,-10-24 0,1 11 1544,-2-24-1544,5-1 2205,-4 0-2205,5 2 1861,0 0-1861,-4 9 490,9-20-490,-10 9 0,11 0 0,-4 20 0,0-13 0,4 11 0,-12-29 0,5 11 0,-6-9 0,1 9 0,-3-19 0,1 7 0,-2-15 0,1 6 0,-2-14 0,1 4 0,-2-10 0,-3 5 0,-3-7 0,1 1 0,-3-1 0,6-4 0,-6-3 0,2-6 0,2-8 0,2-11 0,13-19 0,-4 0 0,7-18 0,-2 8 0,-2-24 0,12 10 0,-11-22 0,-5 35 0,1 1 0,2-23 0,-6 23 0,0 4 0,2 6 0,-1 0 0,-6 13 0,-2 14 0,-5 2 0,0 5 0,0 1 0,0 6 0,0 17 0,0 1 0,0 23 0,0-7 0,0 8 0,-7 11 0,-2 2 0,-7 11 0,0 0 0,0-1 0,-1 14 0,1-10 0,-1 9 0,8-12 0,-4-11 0,12-11 0,-10-12 0,10-8 0,-4-6 0,5-2 0,0-5 0,0-1 0,0 0 0,-3-3 0,-1-2 0,-10-8 0,-2-1 0,-5-10 0,-1 4 0,0-9 0,-3-4 0,-5-1 0,1-13 0,-13 1 0,13-3 0,-17-6 0,8 2 0,-10-2 0,0-1 0,1 0 0,10 12 0,4 2 0,11 12 0,0 5 0,0-3 0,0 8 0,6 1 0,-4 1 0,10 9 0,-5-8 0,7 8 0,-7-3 0,5 4 0,-4-4 0,6 4 0,0-4 0,-1 0 0,2 3 0,-1-3 0,1 4 0,-1 0 0,-1 0 0,-5 0 0,4 0 0,-11 0 0,11 0 0,-4 0 0,5 0 0,1 0 0,-1 0 0,1 0 0,-1 0 0,1 0 0,0 0 0,-1 0 0,-5 0 0,4 0 0,-5 0 0,7 0 0,-1 0 0,1 0 0,0 0 0,9 0 0,15 6 0,12 8 0,13 7 0,-1 0 0,0 4 0,1-4 0,-1 0 0,11 6 0,-16-7 0,13 8 0,-16-3 0,8 2 0,1-1 0,-9-6 0,-2 3 0,0-4 0,-6 4 0,6-4 0,-8 2 0,-6-10 0,4 5 0,-4-2 0,0-3 0,-1 4 0,-7-7 0,1 1 0,-1-1 0,1 1 0,-1-5 0,-3 4 0,3-7 0,-7-3 0,7-9 0,-1-15 0,6-6 0,6-8 0,-4-1 0,10 1 0,-4 0 0,1-11 0,-3 16 0,1-14 0,-7 25 0,5-6 0,-7 8 0,-1 7 0,1-6 0,-3 11 0,2-4 0,-5 5 0,-2 1 0,1-1 0,-3 1 0,7 3 0,-7-3 0,2 4 0,1 0 0,-3-3 0,6 6 0,-6-7 0,2 2 0,-3-3 0,0-2 0,5-3 0,0 4 0,5-5 0,-2 7 0,2-7 0,-1 5 0,0-4 0,0 6 0,-1 3 0,0-2 0,-6 6 0,-9-2 0,-8 3 0,-7 0 0,0 0 0,0 0 0,-8 0 0,6 0 0,-14 0 0,14 0 0,-7 0 0,1 0 0,6 0 0,-6 0 0,0 0 0,6 5 0,-14-4 0,14 9 0,-15-3 0,16 4 0,-16-4 0,15 3 0,-14-3 0,14 4 0,-6 1 0,0-6 0,6 4 0,0-9 0,4 4 0,10-1 0,-5-3 0,7 3 0,-1-4 0,2 0 0,-1 0 0,0 4 0,1 0 0,-1 1 0,-1 3 0,1-7 0,0 2 0,3 1 0,-2-3 0,2 3 0,-3-1 0,0-2 0,0 2 0,-6-3 0,4 0 0,-5 4 0,7-3 0,-1 3 0,1-4 0,0 0 0,6 0 0,21 0 0,-1 0 0,24 0 0,-10-6 0,9 4 0,-1-10 0,0 11 0,1-11 0,-1 10 0,0-10 0,-8 11 0,6-5 0,-14 6 0,6-5 0,-8 4 0,0-4 0,0 0 0,-6 4 0,5-9 0,-6 9 0,7-4 0,-6 5 0,5-5 0,-2 4 0,-2-4 0,2 5 0,-11 0 0,1 0 0,-1 0 0,1 0 0,-1 0 0,0 0 0,-1 0 0,0 0 0,0 0 0,2 0 0,-1 0 0,0 0 0,0 0 0,-1 0 0,-2 3 0,-2 1 0,-7 4 0,-6 1 0,0 0 0,-19 3 0,11-2 0,-20 3 0,14-1 0,-15 1 0,15-2 0,-6 1 0,8-1 0,1-5 0,5 3 0,-5-8 0,12 2 0,-6-3 0,11 3 0,-2-2 0,-3 2 0,1-3 0,-11 0 0,9 0 0,-10 0 0,-4 0 0,0 0 0,-6 0 0,14 0 0,-5 0 0,11 0 0,-4 0 0,5 0 0,1 0 0,1 0 0,0 0 0,-1 0 0,2 0 0,-1 0 0,-1 0 0,0 0 0,0 0 0,0 4 0,0 1 0,0-1 0,4 3 0,1-3 0,6-1 0,2 0 0,9-3 0,2 5 0,5-4 0,1 4 0,0 0 0,0-4 0,0 9 0,0-4 0,-6 0 0,5 4 0,-11-5 0,10 1 0,-10 1 0,5-6 0,-7 7 0,0-7 0,1 2 0,-1-3 0,1 0 0,-1 0 0,1 0 0,-1 0 0,1 0 0,-1 0 0,1 0 0,-1 0 0,1 4 0,-1-3 0,0 3 0,-1-4 0,1 3 0,-4 0 0,-1 4 0,1-3 0,0 2 0,4-5 0,-1 2 0,1-3 0,0 0 0,1 0 0,-1 0 0,1 0 0,-1 0 0,1 0 0,-1 0 0,0 0 0,-4-4 0,4-1 0,-7-3 0,6-1 0,-2 1 0,0-1 0,2 1 0,-1-7 0,3 5 0,2-10 0,-6 10 0,3-4 0,-7 5 0,7 1 0,-4 0 0,-2 3 0,-3 2 0,-6 3 0,3-10 0,-3 8 0,3-8 0,-4 10 0,1 0 0,0-3 0,3-1 0,1-4 0,3 0 0,-3 0 0,2 0 0,-3 0 0,4 1 0,-4 3 0,0 2 0,-3 2 0,0 0 0,0 0 0,0 0 0,1 0 0,-1 0 0,3 3 0,0 1 0,1 4 0,2 0 0,-6-3 0,6-2 0,-2-3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20T14:09:30.055"/>
    </inkml:context>
    <inkml:brush xml:id="br0">
      <inkml:brushProperty name="width" value="0.1" units="cm"/>
      <inkml:brushProperty name="height" value="0.1" units="cm"/>
      <inkml:brushProperty name="color" value="#E71224"/>
    </inkml:brush>
  </inkml:definitions>
  <inkml:trace contextRef="#ctx0" brushRef="#br0">743 1 24575,'-17'0'0,"-1"0"0,-4 0 0,-18 0 0,5 0 0,-16 0 0,-28 0 0,19 0 0,-22 6 0,21 9 0,18 1 0,-7 12 0,-1 2 0,17-3 0,-8 15 0,24-18 0,0 6 0,7-8 0,5 0 0,1 0 0,5 0 0,0 0 0,0-1 0,0-5 0,0-1 0,0-1 0,4-4 0,1 5 0,9-6 0,2 6 0,6-3 0,0 9 0,18 2 0,-5-3 0,6 7 0,-2-13 0,-15 2 0,14 3 0,-6-5 0,0 9 0,7-8 0,-8 8 0,2-10 0,-4 10 0,1-10 0,-6 8 0,6-8 0,-8 8 0,0-9 0,-5 9 0,4-9 0,-9 9 0,9 6 0,-9-3 0,3 2 0,-9 2 0,-3-10 0,-3 12 0,0-8 0,0 8 0,0-6 0,0 6 0,-9-8 0,-3 0 0,-10-1 0,0 1 0,-8 2 0,-2 1 0,-37 10 0,11-4 0,-13-1 0,10-7 0,8-9 0,-1 1 0,4 0 0,9-2 0,9-5 0,2-2 0,8-6 0,7 0 0,0 0 0,7 0 0,-1 0 0,5 0 0,0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20T14:09:31.559"/>
    </inkml:context>
    <inkml:brush xml:id="br0">
      <inkml:brushProperty name="width" value="0.1" units="cm"/>
      <inkml:brushProperty name="height" value="0.1" units="cm"/>
      <inkml:brushProperty name="color" value="#E71224"/>
    </inkml:brush>
  </inkml:definitions>
  <inkml:trace contextRef="#ctx0" brushRef="#br0">1 0 24575,'3'27'0,"0"-7"0,-3 10 0,0 1 0,0 1 0,0 18 0,0-7 0,0 31 0,0-28 0,0 28 0,0-31 0,0 18 0,0-8 0,0-7 0,0 2 0,0-16 0,0 8 0,0 1 0,0-1 0,0-8 0,0-2 0,0 1 0,0-7 0,0 9 0,0-10 0,0-3 0,0-5 0,0-7 0,0 1 0,0-1 0,0-1 0,0 0 0,0 0 0,0-3 0,0-1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20T14:09:32.769"/>
    </inkml:context>
    <inkml:brush xml:id="br0">
      <inkml:brushProperty name="width" value="0.1" units="cm"/>
      <inkml:brushProperty name="height" value="0.1" units="cm"/>
      <inkml:brushProperty name="color" value="#E71224"/>
    </inkml:brush>
  </inkml:definitions>
  <inkml:trace contextRef="#ctx0" brushRef="#br0">1 0 24575,'12'0'0,"5"0"0,-1 0 0,0 0 0,4 0 0,-4 0 0,6 0 0,0 0 0,0 0 0,0 0 0,0 0 0,8 0 0,-6 0 0,6 0 0,0 0 0,2 0 0,9 0 0,-1 0 0,0 0 0,1 0 0,-1 0 0,11 0 0,9 0 0,-5 0 0,-5 0 0,-12 0 0,-14 0 0,6 0 0,-8 0 0,0 0 0,-6 0 0,5 0 0,-11 0 0,4 0 0,-5 0 0,-1 0 0,0 0 0,0 0 0,-4 0 0,-1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20T14:09:35.678"/>
    </inkml:context>
    <inkml:brush xml:id="br0">
      <inkml:brushProperty name="width" value="0.1" units="cm"/>
      <inkml:brushProperty name="height" value="0.1" units="cm"/>
      <inkml:brushProperty name="color" value="#E71224"/>
    </inkml:brush>
  </inkml:definitions>
  <inkml:trace contextRef="#ctx0" brushRef="#br0">39 157 24575,'0'18'0,"0"-2"0,0 6 0,0-8 0,0 14 0,0-1 0,0 5 0,0-2 0,0-8 0,0 8 0,0 2 0,0 0 0,0-2 0,0-8 0,0 9 0,0-7 0,0 0 0,0 4 0,0-10 0,0 12 0,0-14 0,0 5 0,0 3 0,0 0 0,0 6 0,0-8 0,0 0 0,0 0 0,0-6 0,0 4 0,0-4 0,0 0 0,0-1 0,0-7 0,0 0 0,0-6 0,0-13 0,0-5 0,0-9 0,0-6 0,0 0 0,0-10 0,0 1 0,-6 0 0,4-11 0,-4 8 0,0-7 0,5-9 0,-5 23 0,6-12 0,0 26 0,-5 0 0,4 0 0,-4 6 0,5 1 0,0 1 0,0 4 0,0-10 0,0 10 0,0-5 0,0 7 0,0-7 0,0 5 0,4-4 0,0 5 0,9-3 0,-4 3 0,3-4 0,-3 5 0,-1-1 0,2-5 0,-1 4 0,0-5 0,0 7 0,0-7 0,6 4 0,2-4 0,5 4 0,-1 0 0,1 5 0,0-4 0,0 4 0,0 0 0,0 1 0,0 1 0,-1 2 0,1-3 0,10 5 0,-8 0 0,2 0 0,-5 0 0,-5 0 0,-1 0 0,6 0 0,-11 4 0,10 2 0,-10 3 0,5 0 0,-7 0 0,1-1 0,0 7 0,0-5 0,2 10 0,-6-10 0,0 10 0,-1 0 0,-2 3 0,2-3 0,-4 0 0,0-10 0,0 10 0,0-4 0,0 0 0,0 5 0,0-11 0,-3 4 0,-2-5 0,-9 0 0,-2 1 0,-14 2 0,-3 0 0,1 1 0,-6 0 0,-4-2 0,-1-4 0,-7-2 0,18-5 0,-6 0 0,14 0 0,-6 0 0,8 0 0,0 0 0,6 0 0,-4 0 0,10 0 0,-4 0 0,6 0 0,4 3 0,5 1 0,3 4 0,5 0 0,5 2 0,-4-1 0,5 0 0,-1 6 0,-4-5 0,11 10 0,-5-9 0,6 10 0,0-4 0,0 0 0,-1 4 0,10-2 0,-7-1 0,6 5 0,-8-6 0,8 1 0,-6 3 0,6-8 0,-8 8 0,0-4 0,-6-1 0,4 4 0,-4-9 0,0 4 0,4 0 0,-10-5 0,8 9 0,-8-14 0,-2 7 0,-1-12 0,-6 8 0,2-5 0,0 5 0,-2-1 0,6 0 0,-6 1 0,7 1 0,-7-1 0,6-3 0,-6 3 0,7-4 0,-7 4 0,6-3 0,-6 1 0,6-5 0,-3 3 0,4-1 0,-1-2 0,1 3 0,-1-4 0,-3 0 0,0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20T14:09:38.228"/>
    </inkml:context>
    <inkml:brush xml:id="br0">
      <inkml:brushProperty name="width" value="0.1" units="cm"/>
      <inkml:brushProperty name="height" value="0.1" units="cm"/>
      <inkml:brushProperty name="color" value="#E71224"/>
    </inkml:brush>
  </inkml:definitions>
  <inkml:trace contextRef="#ctx0" brushRef="#br0">220 1 24575,'-13'0'0,"1"0"0,4 0 0,1 0 0,-1 0 0,1 0 0,-1 0 0,0 0 0,0 0 0,-7 5 0,4 6 0,-9 1 0,12 17 0,-11-10 0,16 5 0,-11-4 0,8-4 0,-1 0 0,-2 5 0,8 3 0,-4 0 0,-5 6 0,7 0 0,-6-6 0,9 6 0,0-8 0,0 0 0,0 0 0,0-6 0,0 4 0,0-4 0,0 0 0,0 5 0,0-5 0,0 0 0,0 4 0,0-4 0,0 6 0,0-6 0,0 4 0,0-10 0,0 10 0,0-10 0,0 10 0,0-10 0,0 5 0,0-7 0,3 1 0,2-1 0,4 1 0,-1-1 0,1 1 0,5 0 0,-4 0 0,11 2 0,-11-6 0,10 5 0,-4-9 0,0 4 0,4 0 0,-10-4 0,11 4 0,-11-5 0,10 0 0,-10 0 0,11 0 0,-11 0 0,4 0 0,1 0 0,-5 0 0,10 0 0,-10-4 0,11 3 0,-8-10 0,3 5 0,-4-6 0,-4 3 0,1 4 0,-1-2 0,1 2 0,-4-3 0,2-1 0,-6 1 0,7-1 0,-7-5 0,6 4 0,-6-4 0,7 5 0,-7-5 0,6 4 0,-6-5 0,3-9 0,-4 12 0,0-13 0,0 11 0,0 4 0,0-11 0,0 11 0,0-10 0,0 10 0,0-4 0,0-1 0,0-1 0,0 0 0,-5-4 0,-1 4 0,0 0 0,-4-5 0,4 6 0,-9-11 0,4 9 0,2-1 0,0 3 0,4 9 0,-4-8 0,0 10 0,1-5 0,0 1 0,-1 4 0,1-3 0,0 2 0,1 1 0,2-3 0,-2 6 0,7-7 0,-8 7 0,7-6 0,-7 2 0,4-3 0,-4 0 0,4 0 0,-4 3 0,7-2 0,-6 2 0,6-4 0,-7 1 0,3-1 0,1 1 0,-4-1 0,7 1 0,-6-1 0,6 1 0,-7 4 0,7-2 0,-5 5 0,5-6 0,-2 3 0,-1-1 0,3-1 0,-6 5 0,6-5 0,-2 5 0,3-2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20T14:09:39.630"/>
    </inkml:context>
    <inkml:brush xml:id="br0">
      <inkml:brushProperty name="width" value="0.1" units="cm"/>
      <inkml:brushProperty name="height" value="0.1" units="cm"/>
      <inkml:brushProperty name="color" value="#E71224"/>
    </inkml:brush>
  </inkml:definitions>
  <inkml:trace contextRef="#ctx0" brushRef="#br0">1 1 24575,'0'17'0,"0"2"0,0 3 0,0 0 0,0 0 0,0 18 0,0 15 0,0 10 0,0-3 0,0-20 0,0-12 0,0 0 0,0 2 0,0 9 0,0-9 0,0 6 0,0-14 0,0 14 0,0-14 0,0 6 0,0-14 0,0 5 0,0-11 0,0 10 0,0-10 0,0 5 0,0-1 0,0 6 0,0 3 0,0-4 0,0 2 0,0-11 0,0 10 0,0-10 0,0 5 0,0-1 0,0-4 0,0 5 0,0-1 0,0-4 0,0 10 0,0-10 0,0 5 0,0-7 0,0 1 0,0-1 0,0 1 0,0-1 0,0-4 0,0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20T14:09:41.285"/>
    </inkml:context>
    <inkml:brush xml:id="br0">
      <inkml:brushProperty name="width" value="0.1" units="cm"/>
      <inkml:brushProperty name="height" value="0.1" units="cm"/>
      <inkml:brushProperty name="color" value="#E71224"/>
    </inkml:brush>
  </inkml:definitions>
  <inkml:trace contextRef="#ctx0" brushRef="#br0">1 493 24575,'26'0'0,"-5"0"0,9-5 0,0-2 0,2-11 0,0 9 0,16-17 0,7 6 0,0-10 0,-3 5 0,-13 6 0,-7 7 0,8-2 0,-8 2 0,7-1 0,-7 0 0,8 0 0,0 0 0,-8 0 0,6 0 0,-14 2 0,15 4 0,-16-3 0,2 5 0,-5-1 0,-10-1 0,10 6 0,-10-7 0,5 7 0,-3-6 0,-2 6 0,2-7 0,-4 7 0,1-2 0,-1-1 0,1 3 0,-1-7 0,1 7 0,-1-6 0,1 6 0,-1-6 0,1 6 0,5-8 0,-4 4 0,10-1 0,-10-1 0,5 2 0,-1-5 0,-4 2 0,5-2 0,-7 5 0,1-2 0,-1 6 0,-3-7 0,3 7 0,-4-3 0,1 1 0,2 2 0,-2-3 0,0 0 0,2 3 0,-4-3 0,4 4 0,-3-3 0,3 2 0,-7-3 0,4 4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20T14:09:43.597"/>
    </inkml:context>
    <inkml:brush xml:id="br0">
      <inkml:brushProperty name="width" value="0.1" units="cm"/>
      <inkml:brushProperty name="height" value="0.1" units="cm"/>
      <inkml:brushProperty name="color" value="#E71224"/>
    </inkml:brush>
  </inkml:definitions>
  <inkml:trace contextRef="#ctx0" brushRef="#br0">0 0 24575,'17'0'0,"-1"0"0,0 0 0,2 0 0,-8 0 0,11 0 0,-5 0 0,5 0 0,1 0 0,0 0 0,9 0 0,-8 0 0,16 0 0,-15 0 0,6 0 0,-8 5 0,0-4 0,0 9 0,0-9 0,0 9 0,0-9 0,-1 9 0,1-9 0,-6 8 0,5-8 0,-5 7 0,0-6 0,4 7 0,-10-7 0,11 7 0,-5-2 0,-1-1 0,6 3 0,-5-7 0,0 6 0,4-7 0,-4 3 0,0-4 0,4 5 0,-10-4 0,15 9 0,-14-5 0,7 1 0,-10 1 0,1-6 0,-1 7 0,1-7 0,-1 6 0,1-6 0,-1 3 0,1 0 0,-1-3 0,0 6 0,0-6 0,-4 7 0,3-7 0,-6 6 0,7-6 0,-4 7 0,4-4 0,0 3 0,-4 0 0,2-3 0,-5 3 0,1-3 0,2 1 0,-3 1 0,6-5 0,-6 5 0,2-2 0,0 3 0,-2-3 0,3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20T14:09:44.952"/>
    </inkml:context>
    <inkml:brush xml:id="br0">
      <inkml:brushProperty name="width" value="0.1" units="cm"/>
      <inkml:brushProperty name="height" value="0.1" units="cm"/>
      <inkml:brushProperty name="color" value="#E71224"/>
    </inkml:brush>
  </inkml:definitions>
  <inkml:trace contextRef="#ctx0" brushRef="#br0">0 1 24575,'0'14'0,"0"4"0,0-8 0,0 5 0,0-1 0,0-4 0,0 11 0,0-5 0,0 14 0,0-6 0,0 6 0,0 0 0,0-6 0,6 14 0,-4-14 0,9 6 0,-5-8 0,0 0 0,3 0 0,-7 0 0,7 0 0,-4-6 0,1 4 0,2-10 0,-7 5 0,7-1 0,-6-4 0,7 10 0,-4-10 0,1 11 0,3-5 0,-8 0 0,9 4 0,-9-10 0,8 5 0,-8-7 0,2 1 0,1-1 0,-3 1 0,3-5 0,-4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20T14:09:45.941"/>
    </inkml:context>
    <inkml:brush xml:id="br0">
      <inkml:brushProperty name="width" value="0.1" units="cm"/>
      <inkml:brushProperty name="height" value="0.1" units="cm"/>
      <inkml:brushProperty name="color" value="#E71224"/>
    </inkml:brush>
  </inkml:definitions>
  <inkml:trace contextRef="#ctx0" brushRef="#br0">0 58 24575,'11'0'0,"5"0"0,0 0 0,6 0 0,0 0 0,0 0 0,-6 0 0,4 0 0,-4 0 0,0 0 0,5 0 0,-5 0 0,6 0 0,0 0 0,8 0 0,-12 0 0,18 0 0,-18 0 0,21 0 0,-7 0 0,10 0 0,-1-6 0,1 5 0,-10-15 0,6 14 0,-14-8 0,6 10 0,-8-10 0,0 8 0,-6-8 0,4 10 0,-10 0 0,5 0 0,-7 0 0,1 0 0,-1 0 0,-3 0 0,-1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20T14:09:47.232"/>
    </inkml:context>
    <inkml:brush xml:id="br0">
      <inkml:brushProperty name="width" value="0.1" units="cm"/>
      <inkml:brushProperty name="height" value="0.1" units="cm"/>
      <inkml:brushProperty name="color" value="#E71224"/>
    </inkml:brush>
  </inkml:definitions>
  <inkml:trace contextRef="#ctx0" brushRef="#br0">1 1 24575,'14'0'0,"2"0"0,4 0 0,-4 0 0,12 0 0,-16 0 0,17 0 0,-5 0 0,0 0 0,6 0 0,-8 0 0,-6 0 0,5 0 0,-5 0 0,6 0 0,-1 0 0,-5 0 0,5 0 0,-11 0 0,4 0 0,-5 0 0,5 0 0,-4 0 0,4 0 0,-5 0 0,-1 0 0,1 0 0,-1 0 0,1 0 0,-1 0 0,1 0 0,-1 0 0,-4 0 0,-1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20T14:09:48.896"/>
    </inkml:context>
    <inkml:brush xml:id="br0">
      <inkml:brushProperty name="width" value="0.1" units="cm"/>
      <inkml:brushProperty name="height" value="0.1" units="cm"/>
      <inkml:brushProperty name="color" value="#E71224"/>
    </inkml:brush>
  </inkml:definitions>
  <inkml:trace contextRef="#ctx0" brushRef="#br0">1 0 24575,'19'0'0,"-2"0"0,-2 0 0,9 0 0,-6 0 0,11 0 0,-13 0 0,23 0 0,-12 0 0,13 0 0,-18 0 0,0 0 0,0 0 0,-6 0 0,-2 0 0,1 0 0,-5 0 0,10 0 0,-10 0 0,4 0 0,-5 0 0,5 0 0,-4 0 0,5 0 0,-7 0 0,1 0 0,5 0 0,-4 0 0,5 0 0,-7 0 0,1 0 0,-1 0 0,1 0 0,-5 4 0,4-3 0,-3 6 0,3-6 0,0 3 0,0 0 0,0-3 0,1 3 0,-1-4 0,1 0 0,-1 0 0,0 3 0,1-2 0,-1 2 0,0-3 0,1 0 0,-1 3 0,0-2 0,0 2 0,0 1 0,1-3 0,-1 3 0,1 0 0,-1-4 0,0 4 0,-3-4 0,-2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20T14:42:25.548"/>
    </inkml:context>
    <inkml:brush xml:id="br0">
      <inkml:brushProperty name="width" value="0.1" units="cm"/>
      <inkml:brushProperty name="height" value="0.1" units="cm"/>
      <inkml:brushProperty name="color" value="#E71224"/>
    </inkml:brush>
  </inkml:definitions>
  <inkml:trace contextRef="#ctx0" brushRef="#br0">5137 1 24575,'-8'36'0,"-2"-4"0,2-2 0,-8-6 0,3 6 0,-3-8 0,5 0 0,-1 8 0,-9 4 0,0 7 0,-2-7 0,-2 4 0,7-14 0,-2 14 0,-1-14 0,8 6 0,-8-8 0,9 0 0,-9 0 0,10-6 0,-9 4 0,4-9 0,-6 10 0,-8-8 0,6 8 0,-15-6 0,15 6 0,-6-8 0,1 4 0,5-1 0,-13-2 0,13 7 0,-14-7 0,14 7 0,-14-7 0,14 7 0,-14-6 0,6 2 0,0 0 0,-6-3 0,14 7 0,-14-7 0,6 10 0,-9-9 0,9 3 0,-6-5 0,14-2 0,-14 3 0,5-2 0,-7 1 0,0 1 0,-1-1 0,-9 2 0,7-1 0,-19 1 0,9 0 0,-11 1 0,12-1 0,-9 0 0,9 0 0,-1-1 0,-8-5 0,18 3 0,-36-5 0,33 6 0,-22-5 0,29 3 0,-12-10 0,8 11 0,-8-10 0,11 10 0,0-11 0,-11 5 0,8 0 0,-17-4 0,7 11 0,-10-4 0,-1 7 0,11-1 0,-8-7 0,18 4 0,-36-4 0,21-1 0,-13 5 0,20-11 0,1 13 0,7-13 0,-26 12 0,24-11 0,-5 4 0,12-6 0,6 0 0,0 0 0,-6 0 0,14 0 0,-14 0 0,14 0 0,-14 0 0,14 0 0,-14 0 0,14 0 0,-15-6 0,16 4 0,-15-10 0,7 11 0,-1-5 0,-7 0 0,8 4 0,-1-8 0,-15 8 0,12-8 0,-15 8 0,18-9 0,-6 4 0,6 1 0,0 0 0,-7 0 0,7 4 0,-8-10 0,8 11 0,-6-5 0,6 6 0,-8 0 0,8 0 0,-7 0 0,15 0 0,-6 0 0,8 0 0,1-5 0,-1 4 0,0-4 0,-10-5 0,14 8 0,-12-8 0,14 5 0,0 4 0,-4-4 0,10 1 0,-5 3 0,1-3 0,4 4 0,-4-3 0,5 2 0,-5-8 0,4 8 0,-5-8 0,7 8 0,-1-6 0,1 6 0,-1-7 0,1 7 0,-1-6 0,1 6 0,0-3 0,0 0 0,0 3 0,0-6 0,7 7 0,3-3 0,5 3 0,7 0 0,2 0 0,6 0 0,0 0 0,0 0 0,8 0 0,-6 0 0,6 0 0,0 0 0,-6 0 0,6 0 0,-8 0 0,0 0 0,-6 0 0,4 0 0,-10 0 0,4 0 0,-5 0 0,-1 0 0,1-4 0,-1 3 0,1-7 0,-1 8 0,0-8 0,0 7 0,-3-6 0,2 6 0,-3-3 0,3 1 0,0 2 0,1-3 0,0 4 0,-1 0 0,-6 0 0,-12 0 0,1 0 0,-14 0 0,14 0 0,-10 0 0,10 0 0,-4 0 0,-1 0 0,0 0 0,-1 0 0,-5 0 0,12 0 0,-12 0 0,11 0 0,-10 0 0,10 0 0,-5 0 0,1 0 0,4 0 0,-10 0 0,4 0 0,0 0 0,-5 0 0,5 0 0,-5 5 0,-5-4 0,4 4 0,2-1 0,6-3 0,0 3 0,4-4 0,-4 0 0,5 0 0,1 0 0,-1 0 0,1 0 0,-1 0 0,1 0 0,4 4 0,-3-3 0,7 5 0,-3-2 0,3 3 0,0 0 0,0 1 0,0 0 0,0 1 0,0-1 0,0 0 0,0-1 0,0 2 0,0-2 0,3-2 0,2 2 0,4-6 0,-1 6 0,0-6 0,1 6 0,-1-6 0,1 3 0,-1 0 0,7-3 0,1 3 0,0-1 0,4-2 0,-4 3 0,14 2 0,-12-4 0,19 4 0,-25-3 0,17-2 0,-13 8 0,0-8 0,4 9 0,-10-9 0,4 8 0,-5-8 0,-1 2 0,1 1 0,-1-3 0,-4 7 0,3-7 0,-6 6 0,7-6 0,-4 6 0,3-6 0,-3 5 0,2-2 0,-2 2 0,0-5 0,-1-2 0,-3-12 0,0 3 0,0-11 0,0 11 0,0-4 0,0 5 0,0 1 0,0-1 0,0 1 0,0-1 0,0 1 0,0 0 0,0-1 0,0 1 0,0 0 0,0-1 0,0 2 0,0-1 0,0 1 0,0-1 0,3 4 0,-2-2 0,7 5 0,-7-7 0,6 3 0,-2-3 0,2 1 0,0 0 0,0 0 0,0 0 0,1-1 0,-4 1 0,3 2 0,-6-1 0,7 5 0,-7-6 0,6 3 0,-7-4 0,7 4 0,-6-3 0,3 3 0,-1-1 0,-2-3 0,2 4 0,-5 0 0,-3 12 0,-2-1 0,2 9 0,-2-8 0,6 1 0,-3-1 0,1-4 0,2 3 0,-2-2 0,3 2 0,0 1 0,0 0 0,-3-1 0,2 1 0,-2 0 0,3 1 0,-4-1 0,3 0 0,-6 0 0,6-1 0,-2 1 0,3 0 0,-4 0 0,3 0 0,-7-3 0,8 2 0,-4-2 0,0 3 0,3 0 0,-3 0 0,4-4 0,0-1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F04404-A365-0343-9A9A-1CE83B043385}" type="datetimeFigureOut">
              <a:rPr lang="en-US" smtClean="0"/>
              <a:t>10/20/21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9FEDC3-F3C5-0143-8CA1-DAFE58EBC87E}" type="slidenum">
              <a:rPr lang="en-US" smtClean="0"/>
              <a:t>‹#›</a:t>
            </a:fld>
            <a:endParaRPr lang="en-US"/>
          </a:p>
        </p:txBody>
      </p:sp>
    </p:spTree>
    <p:extLst>
      <p:ext uri="{BB962C8B-B14F-4D97-AF65-F5344CB8AC3E}">
        <p14:creationId xmlns:p14="http://schemas.microsoft.com/office/powerpoint/2010/main" val="2581785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9FEDC3-F3C5-0143-8CA1-DAFE58EBC87E}" type="slidenum">
              <a:rPr lang="en-US" smtClean="0"/>
              <a:t>1</a:t>
            </a:fld>
            <a:endParaRPr lang="en-US"/>
          </a:p>
        </p:txBody>
      </p:sp>
    </p:spTree>
    <p:extLst>
      <p:ext uri="{BB962C8B-B14F-4D97-AF65-F5344CB8AC3E}">
        <p14:creationId xmlns:p14="http://schemas.microsoft.com/office/powerpoint/2010/main" val="11776074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Cascade of Cerebral</a:t>
            </a:r>
            <a:r>
              <a:rPr lang="en-US" baseline="0" dirty="0"/>
              <a:t> Ischemia. </a:t>
            </a:r>
          </a:p>
          <a:p>
            <a:r>
              <a:rPr lang="en-US" baseline="0" dirty="0" err="1"/>
              <a:t>iNOS</a:t>
            </a:r>
            <a:r>
              <a:rPr lang="en-US" baseline="0" dirty="0"/>
              <a:t>- inducible nitrous oxide synthetase</a:t>
            </a:r>
          </a:p>
          <a:p>
            <a:r>
              <a:rPr lang="en-US" dirty="0"/>
              <a:t>PARP- poly-A-ribose</a:t>
            </a:r>
            <a:r>
              <a:rPr lang="en-US" baseline="0" dirty="0"/>
              <a:t> polymerase</a:t>
            </a:r>
          </a:p>
          <a:p>
            <a:endParaRPr lang="en-US" baseline="0" dirty="0"/>
          </a:p>
          <a:p>
            <a:r>
              <a:rPr lang="en-US" baseline="0" dirty="0"/>
              <a:t>Neurons are starved of glucose and O2, which results in mitochondrial failure to produce ATP. Without ATP, membrane ion pumps stop functioning and neurons depolarize, allowing intracellular CA to rise. Cellular depolarization causes glutamate release from synaptic terminals, then activating post-synaptic glutamate receptors, which increase CA influx, which is neurotoxic. Free radicals produce degradation of membrane lipids and mitochondrial dysfunction; cause destruction of membranes. </a:t>
            </a:r>
          </a:p>
          <a:p>
            <a:endParaRPr lang="en-US" dirty="0"/>
          </a:p>
        </p:txBody>
      </p:sp>
      <p:sp>
        <p:nvSpPr>
          <p:cNvPr id="4" name="Slide Number Placeholder 3"/>
          <p:cNvSpPr>
            <a:spLocks noGrp="1"/>
          </p:cNvSpPr>
          <p:nvPr>
            <p:ph type="sldNum" sz="quarter" idx="5"/>
          </p:nvPr>
        </p:nvSpPr>
        <p:spPr/>
        <p:txBody>
          <a:bodyPr/>
          <a:lstStyle/>
          <a:p>
            <a:fld id="{DD9FEDC3-F3C5-0143-8CA1-DAFE58EBC87E}" type="slidenum">
              <a:rPr lang="en-US" smtClean="0"/>
              <a:t>11</a:t>
            </a:fld>
            <a:endParaRPr lang="en-US"/>
          </a:p>
        </p:txBody>
      </p:sp>
    </p:spTree>
    <p:extLst>
      <p:ext uri="{BB962C8B-B14F-4D97-AF65-F5344CB8AC3E}">
        <p14:creationId xmlns:p14="http://schemas.microsoft.com/office/powerpoint/2010/main" val="18793227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cs typeface="Helvetica" panose="020B0604020202020204" pitchFamily="34" charset="0"/>
              </a:rPr>
              <a:t>Pathophysiology of ischemic stroke. A. Diagram illustrating the three major mechanisms that underlie ischemic stroke: (1) occlusion of an intracranial vessel by an embolus that arises at a distant site (e.g., cardiogenic sources such as atrial fibrillation or artery-to-artery emboli from carotid atherosclerotic plaque), often affecting the large intracranial vessels; (2) in situ thrombosis of an intracranial vessel, typically affecting the small penetrating arteries that arise from the major intracranial arteries; (3) hypoperfusion caused by flow-limiting stenosis of a major extracranial (e.g., internal carotid) or intracranial vessel, often producing “watershed” ischemia. B. and C. Diagram and reformatted computed tomography angiogram of the common, internal, and external carotid arteries. High-grade stenosis of the internal carotid artery, which may be associated with either cerebral emboli or flow-limiting ischemia, was identified in this patient.</a:t>
            </a:r>
            <a:endParaRPr lang="en-US" dirty="0"/>
          </a:p>
          <a:p>
            <a:endParaRPr lang="en-US" dirty="0"/>
          </a:p>
        </p:txBody>
      </p:sp>
      <p:sp>
        <p:nvSpPr>
          <p:cNvPr id="4" name="Slide Number Placeholder 3"/>
          <p:cNvSpPr>
            <a:spLocks noGrp="1"/>
          </p:cNvSpPr>
          <p:nvPr>
            <p:ph type="sldNum" sz="quarter" idx="5"/>
          </p:nvPr>
        </p:nvSpPr>
        <p:spPr/>
        <p:txBody>
          <a:bodyPr/>
          <a:lstStyle/>
          <a:p>
            <a:fld id="{DD9FEDC3-F3C5-0143-8CA1-DAFE58EBC87E}" type="slidenum">
              <a:rPr lang="en-US" smtClean="0"/>
              <a:t>12</a:t>
            </a:fld>
            <a:endParaRPr lang="en-US"/>
          </a:p>
        </p:txBody>
      </p:sp>
    </p:spTree>
    <p:extLst>
      <p:ext uri="{BB962C8B-B14F-4D97-AF65-F5344CB8AC3E}">
        <p14:creationId xmlns:p14="http://schemas.microsoft.com/office/powerpoint/2010/main" val="1956047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9FEDC3-F3C5-0143-8CA1-DAFE58EBC87E}" type="slidenum">
              <a:rPr lang="en-US" smtClean="0"/>
              <a:t>14</a:t>
            </a:fld>
            <a:endParaRPr lang="en-US"/>
          </a:p>
        </p:txBody>
      </p:sp>
    </p:spTree>
    <p:extLst>
      <p:ext uri="{BB962C8B-B14F-4D97-AF65-F5344CB8AC3E}">
        <p14:creationId xmlns:p14="http://schemas.microsoft.com/office/powerpoint/2010/main" val="26895452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Highly variable dependent on location of the infarct. AIS and hemorrhagic stroke can be clinically </a:t>
            </a:r>
            <a:r>
              <a:rPr lang="en-US" dirty="0" err="1"/>
              <a:t>indistringuishable</a:t>
            </a:r>
            <a:r>
              <a:rPr lang="en-US" dirty="0"/>
              <a:t>. Your localization skills are important here. Symptoms and exam should make physiologic sense, but don’t be too rigid with this as you can miss rare stroke syndromes. </a:t>
            </a:r>
          </a:p>
        </p:txBody>
      </p:sp>
      <p:sp>
        <p:nvSpPr>
          <p:cNvPr id="4" name="Slide Number Placeholder 3"/>
          <p:cNvSpPr>
            <a:spLocks noGrp="1"/>
          </p:cNvSpPr>
          <p:nvPr>
            <p:ph type="sldNum" sz="quarter" idx="5"/>
          </p:nvPr>
        </p:nvSpPr>
        <p:spPr/>
        <p:txBody>
          <a:bodyPr/>
          <a:lstStyle/>
          <a:p>
            <a:fld id="{DD9FEDC3-F3C5-0143-8CA1-DAFE58EBC87E}" type="slidenum">
              <a:rPr lang="en-US" smtClean="0"/>
              <a:t>17</a:t>
            </a:fld>
            <a:endParaRPr lang="en-US"/>
          </a:p>
        </p:txBody>
      </p:sp>
    </p:spTree>
    <p:extLst>
      <p:ext uri="{BB962C8B-B14F-4D97-AF65-F5344CB8AC3E}">
        <p14:creationId xmlns:p14="http://schemas.microsoft.com/office/powerpoint/2010/main" val="33260571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Tissue plasminogen activator for acute ischemic stroke. The National Institute of Neurological Disorders and Stroke rt-PA Stroke Study Group. N </a:t>
            </a:r>
            <a:r>
              <a:rPr lang="en-US" dirty="0" err="1"/>
              <a:t>Engl</a:t>
            </a:r>
            <a:r>
              <a:rPr lang="en-US" dirty="0"/>
              <a:t> J Med 1995;333(24):1581–1587. doi:10.1056/ NEJM199512143332401.</a:t>
            </a:r>
          </a:p>
          <a:p>
            <a:endParaRPr lang="en-US" dirty="0"/>
          </a:p>
          <a:p>
            <a:r>
              <a:rPr lang="en-US" dirty="0" err="1"/>
              <a:t>Hacke</a:t>
            </a:r>
            <a:r>
              <a:rPr lang="en-US" dirty="0"/>
              <a:t> W, </a:t>
            </a:r>
            <a:r>
              <a:rPr lang="en-US" dirty="0" err="1"/>
              <a:t>Kaste</a:t>
            </a:r>
            <a:r>
              <a:rPr lang="en-US" dirty="0"/>
              <a:t> M, </a:t>
            </a:r>
            <a:r>
              <a:rPr lang="en-US" dirty="0" err="1"/>
              <a:t>Bluhmki</a:t>
            </a:r>
            <a:r>
              <a:rPr lang="en-US" dirty="0"/>
              <a:t> E, et al. Thrombolysis with alteplase 3 to 4.5 hours after acute ischemic stroke. N </a:t>
            </a:r>
            <a:r>
              <a:rPr lang="en-US" dirty="0" err="1"/>
              <a:t>Engl</a:t>
            </a:r>
            <a:r>
              <a:rPr lang="en-US" dirty="0"/>
              <a:t> J Med 2008;359(13):1317–1329. doi:10.1056/NEJMoa0804656.</a:t>
            </a:r>
          </a:p>
          <a:p>
            <a:endParaRPr lang="en-US" dirty="0"/>
          </a:p>
          <a:p>
            <a:r>
              <a:rPr lang="en-US" dirty="0" err="1"/>
              <a:t>Wahlgren</a:t>
            </a:r>
            <a:r>
              <a:rPr lang="en-US" dirty="0"/>
              <a:t> N, Ahmed N, </a:t>
            </a:r>
            <a:r>
              <a:rPr lang="en-US" dirty="0" err="1"/>
              <a:t>Dávalos</a:t>
            </a:r>
            <a:r>
              <a:rPr lang="en-US" dirty="0"/>
              <a:t> A, et al. Thrombolysis with alteplase for acute </a:t>
            </a:r>
            <a:r>
              <a:rPr lang="en-US" dirty="0" err="1"/>
              <a:t>ischaemic</a:t>
            </a:r>
            <a:r>
              <a:rPr lang="en-US" dirty="0"/>
              <a:t> stroke in the Safe Implementation of Thrombolysis in Stroke-Monitoring Study (SITS-MOST): an observational study. Lancet 2007;369(9558): 275–282. doi:10.1016/S0140-6736(07)60149-4.</a:t>
            </a:r>
          </a:p>
        </p:txBody>
      </p:sp>
      <p:sp>
        <p:nvSpPr>
          <p:cNvPr id="4" name="Slide Number Placeholder 3"/>
          <p:cNvSpPr>
            <a:spLocks noGrp="1"/>
          </p:cNvSpPr>
          <p:nvPr>
            <p:ph type="sldNum" sz="quarter" idx="5"/>
          </p:nvPr>
        </p:nvSpPr>
        <p:spPr/>
        <p:txBody>
          <a:bodyPr/>
          <a:lstStyle/>
          <a:p>
            <a:fld id="{DD9FEDC3-F3C5-0143-8CA1-DAFE58EBC87E}" type="slidenum">
              <a:rPr lang="en-US" smtClean="0"/>
              <a:t>20</a:t>
            </a:fld>
            <a:endParaRPr lang="en-US"/>
          </a:p>
        </p:txBody>
      </p:sp>
    </p:spTree>
    <p:extLst>
      <p:ext uri="{BB962C8B-B14F-4D97-AF65-F5344CB8AC3E}">
        <p14:creationId xmlns:p14="http://schemas.microsoft.com/office/powerpoint/2010/main" val="10679133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9FEDC3-F3C5-0143-8CA1-DAFE58EBC87E}" type="slidenum">
              <a:rPr lang="en-US" smtClean="0"/>
              <a:t>25</a:t>
            </a:fld>
            <a:endParaRPr lang="en-US"/>
          </a:p>
        </p:txBody>
      </p:sp>
    </p:spTree>
    <p:extLst>
      <p:ext uri="{BB962C8B-B14F-4D97-AF65-F5344CB8AC3E}">
        <p14:creationId xmlns:p14="http://schemas.microsoft.com/office/powerpoint/2010/main" val="7486425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Hx of anticoagulants, recent trauma,  bleeding, recent</a:t>
            </a:r>
            <a:r>
              <a:rPr lang="en-US" baseline="0" dirty="0"/>
              <a:t> hospitalizations. May need family member to answer the questions.  </a:t>
            </a:r>
            <a:endParaRPr lang="en-US" dirty="0"/>
          </a:p>
          <a:p>
            <a:endParaRPr lang="en-US" dirty="0"/>
          </a:p>
        </p:txBody>
      </p:sp>
      <p:sp>
        <p:nvSpPr>
          <p:cNvPr id="4" name="Slide Number Placeholder 3"/>
          <p:cNvSpPr>
            <a:spLocks noGrp="1"/>
          </p:cNvSpPr>
          <p:nvPr>
            <p:ph type="sldNum" sz="quarter" idx="5"/>
          </p:nvPr>
        </p:nvSpPr>
        <p:spPr/>
        <p:txBody>
          <a:bodyPr/>
          <a:lstStyle/>
          <a:p>
            <a:fld id="{DD9FEDC3-F3C5-0143-8CA1-DAFE58EBC87E}" type="slidenum">
              <a:rPr lang="en-US" smtClean="0"/>
              <a:t>27</a:t>
            </a:fld>
            <a:endParaRPr lang="en-US"/>
          </a:p>
        </p:txBody>
      </p:sp>
    </p:spTree>
    <p:extLst>
      <p:ext uri="{BB962C8B-B14F-4D97-AF65-F5344CB8AC3E}">
        <p14:creationId xmlns:p14="http://schemas.microsoft.com/office/powerpoint/2010/main" val="438816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9FEDC3-F3C5-0143-8CA1-DAFE58EBC87E}" type="slidenum">
              <a:rPr lang="en-US" smtClean="0"/>
              <a:t>32</a:t>
            </a:fld>
            <a:endParaRPr lang="en-US"/>
          </a:p>
        </p:txBody>
      </p:sp>
    </p:spTree>
    <p:extLst>
      <p:ext uri="{BB962C8B-B14F-4D97-AF65-F5344CB8AC3E}">
        <p14:creationId xmlns:p14="http://schemas.microsoft.com/office/powerpoint/2010/main" val="2407190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EMS will triage first to comprehensive stroke centers (thrombectomy capable,) then to primary stroke centers.</a:t>
            </a:r>
          </a:p>
          <a:p>
            <a:r>
              <a:rPr lang="en-US" dirty="0"/>
              <a:t>Stoke protocols will be activated, can vary from hospital to hospital but generally include notifying the ED and neurologist, as well as the interventional radiology team for possible thrombectomy. </a:t>
            </a:r>
          </a:p>
          <a:p>
            <a:r>
              <a:rPr lang="en-US" dirty="0"/>
              <a:t>At this point all you know is that this patient has multiple vascular risk factors with acute onset of focal neurologic deficits. (which localize pretty well)</a:t>
            </a:r>
          </a:p>
        </p:txBody>
      </p:sp>
      <p:sp>
        <p:nvSpPr>
          <p:cNvPr id="4" name="Slide Number Placeholder 3"/>
          <p:cNvSpPr>
            <a:spLocks noGrp="1"/>
          </p:cNvSpPr>
          <p:nvPr>
            <p:ph type="sldNum" sz="quarter" idx="5"/>
          </p:nvPr>
        </p:nvSpPr>
        <p:spPr/>
        <p:txBody>
          <a:bodyPr/>
          <a:lstStyle/>
          <a:p>
            <a:fld id="{DD9FEDC3-F3C5-0143-8CA1-DAFE58EBC87E}" type="slidenum">
              <a:rPr lang="en-US" smtClean="0"/>
              <a:t>38</a:t>
            </a:fld>
            <a:endParaRPr lang="en-US"/>
          </a:p>
        </p:txBody>
      </p:sp>
    </p:spTree>
    <p:extLst>
      <p:ext uri="{BB962C8B-B14F-4D97-AF65-F5344CB8AC3E}">
        <p14:creationId xmlns:p14="http://schemas.microsoft.com/office/powerpoint/2010/main" val="9913635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9FEDC3-F3C5-0143-8CA1-DAFE58EBC87E}" type="slidenum">
              <a:rPr lang="en-US" smtClean="0"/>
              <a:t>40</a:t>
            </a:fld>
            <a:endParaRPr lang="en-US"/>
          </a:p>
        </p:txBody>
      </p:sp>
    </p:spTree>
    <p:extLst>
      <p:ext uri="{BB962C8B-B14F-4D97-AF65-F5344CB8AC3E}">
        <p14:creationId xmlns:p14="http://schemas.microsoft.com/office/powerpoint/2010/main" val="10662564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9FEDC3-F3C5-0143-8CA1-DAFE58EBC87E}" type="slidenum">
              <a:rPr lang="en-US" smtClean="0"/>
              <a:t>42</a:t>
            </a:fld>
            <a:endParaRPr lang="en-US"/>
          </a:p>
        </p:txBody>
      </p:sp>
    </p:spTree>
    <p:extLst>
      <p:ext uri="{BB962C8B-B14F-4D97-AF65-F5344CB8AC3E}">
        <p14:creationId xmlns:p14="http://schemas.microsoft.com/office/powerpoint/2010/main" val="27150171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9FEDC3-F3C5-0143-8CA1-DAFE58EBC87E}" type="slidenum">
              <a:rPr lang="en-US" smtClean="0"/>
              <a:t>53</a:t>
            </a:fld>
            <a:endParaRPr lang="en-US"/>
          </a:p>
        </p:txBody>
      </p:sp>
    </p:spTree>
    <p:extLst>
      <p:ext uri="{BB962C8B-B14F-4D97-AF65-F5344CB8AC3E}">
        <p14:creationId xmlns:p14="http://schemas.microsoft.com/office/powerpoint/2010/main" val="9645566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9FEDC3-F3C5-0143-8CA1-DAFE58EBC87E}" type="slidenum">
              <a:rPr lang="en-US" smtClean="0"/>
              <a:t>54</a:t>
            </a:fld>
            <a:endParaRPr lang="en-US"/>
          </a:p>
        </p:txBody>
      </p:sp>
    </p:spTree>
    <p:extLst>
      <p:ext uri="{BB962C8B-B14F-4D97-AF65-F5344CB8AC3E}">
        <p14:creationId xmlns:p14="http://schemas.microsoft.com/office/powerpoint/2010/main" val="2170345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9FEDC3-F3C5-0143-8CA1-DAFE58EBC87E}" type="slidenum">
              <a:rPr lang="en-US" smtClean="0"/>
              <a:t>64</a:t>
            </a:fld>
            <a:endParaRPr lang="en-US"/>
          </a:p>
        </p:txBody>
      </p:sp>
    </p:spTree>
    <p:extLst>
      <p:ext uri="{BB962C8B-B14F-4D97-AF65-F5344CB8AC3E}">
        <p14:creationId xmlns:p14="http://schemas.microsoft.com/office/powerpoint/2010/main" val="8856447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9FEDC3-F3C5-0143-8CA1-DAFE58EBC87E}" type="slidenum">
              <a:rPr lang="en-US" smtClean="0"/>
              <a:t>69</a:t>
            </a:fld>
            <a:endParaRPr lang="en-US"/>
          </a:p>
        </p:txBody>
      </p:sp>
    </p:spTree>
    <p:extLst>
      <p:ext uri="{BB962C8B-B14F-4D97-AF65-F5344CB8AC3E}">
        <p14:creationId xmlns:p14="http://schemas.microsoft.com/office/powerpoint/2010/main" val="35107016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9FEDC3-F3C5-0143-8CA1-DAFE58EBC87E}" type="slidenum">
              <a:rPr lang="en-US" smtClean="0"/>
              <a:t>70</a:t>
            </a:fld>
            <a:endParaRPr lang="en-US"/>
          </a:p>
        </p:txBody>
      </p:sp>
    </p:spTree>
    <p:extLst>
      <p:ext uri="{BB962C8B-B14F-4D97-AF65-F5344CB8AC3E}">
        <p14:creationId xmlns:p14="http://schemas.microsoft.com/office/powerpoint/2010/main" val="119259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21818-E75A-458F-AC5B-0E9A2C76B835}"/>
              </a:ext>
            </a:extLst>
          </p:cNvPr>
          <p:cNvSpPr>
            <a:spLocks noGrp="1"/>
          </p:cNvSpPr>
          <p:nvPr>
            <p:ph type="ctrTitle"/>
          </p:nvPr>
        </p:nvSpPr>
        <p:spPr>
          <a:xfrm>
            <a:off x="448056" y="448056"/>
            <a:ext cx="11292840" cy="3401568"/>
          </a:xfrm>
        </p:spPr>
        <p:txBody>
          <a:bodyPr anchor="b">
            <a:normAutofit/>
          </a:bodyPr>
          <a:lstStyle>
            <a:lvl1pPr algn="l">
              <a:defRPr sz="64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6EE64DE-978B-4F95-BB3C-D027D8008748}"/>
              </a:ext>
            </a:extLst>
          </p:cNvPr>
          <p:cNvSpPr>
            <a:spLocks noGrp="1"/>
          </p:cNvSpPr>
          <p:nvPr>
            <p:ph type="subTitle" idx="1"/>
          </p:nvPr>
        </p:nvSpPr>
        <p:spPr>
          <a:xfrm>
            <a:off x="448056" y="4471416"/>
            <a:ext cx="11292840" cy="1481328"/>
          </a:xfrm>
        </p:spPr>
        <p:txBody>
          <a:bodyPr/>
          <a:lstStyle>
            <a:lvl1pPr marL="0" indent="0" algn="l">
              <a:lnSpc>
                <a:spcPct val="120000"/>
              </a:lnSpc>
              <a:buNone/>
              <a:defRPr sz="2400">
                <a:solidFill>
                  <a:schemeClr val="tx2">
                    <a:alpha val="5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a:extLst>
              <a:ext uri="{FF2B5EF4-FFF2-40B4-BE49-F238E27FC236}">
                <a16:creationId xmlns:a16="http://schemas.microsoft.com/office/drawing/2014/main" id="{C66CC717-08C5-4F3E-B8AA-BA93C8755982}"/>
              </a:ext>
            </a:extLst>
          </p:cNvPr>
          <p:cNvCxnSpPr>
            <a:cxnSpLocks/>
          </p:cNvCxnSpPr>
          <p:nvPr/>
        </p:nvCxnSpPr>
        <p:spPr>
          <a:xfrm>
            <a:off x="449400" y="41220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896B5700-AA45-4E20-8BE5-27620411303F}"/>
              </a:ext>
            </a:extLst>
          </p:cNvPr>
          <p:cNvSpPr>
            <a:spLocks noGrp="1"/>
          </p:cNvSpPr>
          <p:nvPr>
            <p:ph type="ftr" sz="quarter" idx="3"/>
          </p:nvPr>
        </p:nvSpPr>
        <p:spPr>
          <a:xfrm>
            <a:off x="4370832" y="6153912"/>
            <a:ext cx="5397056" cy="502920"/>
          </a:xfrm>
          <a:prstGeom prst="rect">
            <a:avLst/>
          </a:prstGeom>
        </p:spPr>
        <p:txBody>
          <a:bodyPr vert="horz" lIns="0" tIns="0" rIns="91440" bIns="0" rtlCol="0" anchor="ctr"/>
          <a:lstStyle>
            <a:lvl1pPr algn="l">
              <a:defRPr sz="900" cap="all" spc="200" baseline="0">
                <a:solidFill>
                  <a:schemeClr val="tx2">
                    <a:alpha val="55000"/>
                  </a:schemeClr>
                </a:solidFill>
              </a:defRPr>
            </a:lvl1pPr>
          </a:lstStyle>
          <a:p>
            <a:r>
              <a:rPr lang="en-US" spc="200" dirty="0"/>
              <a:t>Sample Footer Text</a:t>
            </a:r>
          </a:p>
        </p:txBody>
      </p:sp>
      <p:sp>
        <p:nvSpPr>
          <p:cNvPr id="10" name="Slide Number Placeholder 5">
            <a:extLst>
              <a:ext uri="{FF2B5EF4-FFF2-40B4-BE49-F238E27FC236}">
                <a16:creationId xmlns:a16="http://schemas.microsoft.com/office/drawing/2014/main" id="{7C5B7199-CC00-4D38-8B48-F8A539112985}"/>
              </a:ext>
            </a:extLst>
          </p:cNvPr>
          <p:cNvSpPr>
            <a:spLocks noGrp="1"/>
          </p:cNvSpPr>
          <p:nvPr>
            <p:ph type="sldNum" sz="quarter" idx="4"/>
          </p:nvPr>
        </p:nvSpPr>
        <p:spPr>
          <a:xfrm>
            <a:off x="10238232" y="6153912"/>
            <a:ext cx="1510856" cy="502920"/>
          </a:xfrm>
          <a:prstGeom prst="rect">
            <a:avLst/>
          </a:prstGeom>
        </p:spPr>
        <p:txBody>
          <a:bodyPr vert="horz" lIns="0" tIns="0" rIns="0" bIns="0" rtlCol="0" anchor="ctr"/>
          <a:lstStyle>
            <a:lvl1pPr algn="r">
              <a:defRPr sz="900">
                <a:solidFill>
                  <a:schemeClr val="tx2">
                    <a:alpha val="55000"/>
                  </a:schemeClr>
                </a:solidFill>
              </a:defRPr>
            </a:lvl1pPr>
          </a:lstStyle>
          <a:p>
            <a:fld id="{0D309695-DEC3-40DA-9DF5-330280C9D0E8}" type="slidenum">
              <a:rPr lang="en-US" smtClean="0"/>
              <a:pPr/>
              <a:t>‹#›</a:t>
            </a:fld>
            <a:endParaRPr lang="en-US" dirty="0"/>
          </a:p>
        </p:txBody>
      </p:sp>
      <p:sp>
        <p:nvSpPr>
          <p:cNvPr id="11" name="Date Placeholder 3">
            <a:extLst>
              <a:ext uri="{FF2B5EF4-FFF2-40B4-BE49-F238E27FC236}">
                <a16:creationId xmlns:a16="http://schemas.microsoft.com/office/drawing/2014/main" id="{16BC76EC-3453-4CE0-A71D-BD21940757B4}"/>
              </a:ext>
            </a:extLst>
          </p:cNvPr>
          <p:cNvSpPr>
            <a:spLocks noGrp="1"/>
          </p:cNvSpPr>
          <p:nvPr>
            <p:ph type="dt" sz="half" idx="2"/>
          </p:nvPr>
        </p:nvSpPr>
        <p:spPr>
          <a:xfrm>
            <a:off x="442912" y="6152968"/>
            <a:ext cx="3457576" cy="502920"/>
          </a:xfrm>
          <a:prstGeom prst="rect">
            <a:avLst/>
          </a:prstGeom>
        </p:spPr>
        <p:txBody>
          <a:bodyPr wrap="square" lIns="0" tIns="0" rIns="0" bIns="0" anchor="ctr" anchorCtr="0">
            <a:normAutofit/>
          </a:bodyPr>
          <a:lstStyle>
            <a:lvl1pPr>
              <a:defRPr sz="900" cap="all" spc="200" baseline="0">
                <a:solidFill>
                  <a:schemeClr val="tx1">
                    <a:alpha val="55000"/>
                  </a:schemeClr>
                </a:solidFill>
              </a:defRPr>
            </a:lvl1pPr>
          </a:lstStyle>
          <a:p>
            <a:fld id="{8256C2ED-54A4-480D-B5C8-65C0D62359B9}" type="datetime2">
              <a:rPr lang="en-US" smtClean="0"/>
              <a:pPr/>
              <a:t>Wednesday, October 20, 2021</a:t>
            </a:fld>
            <a:endParaRPr lang="en-US" dirty="0"/>
          </a:p>
        </p:txBody>
      </p:sp>
    </p:spTree>
    <p:extLst>
      <p:ext uri="{BB962C8B-B14F-4D97-AF65-F5344CB8AC3E}">
        <p14:creationId xmlns:p14="http://schemas.microsoft.com/office/powerpoint/2010/main" val="229409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7685-BDD9-488F-B082-33592E0F1364}"/>
              </a:ext>
            </a:extLst>
          </p:cNvPr>
          <p:cNvSpPr>
            <a:spLocks noGrp="1"/>
          </p:cNvSpPr>
          <p:nvPr>
            <p:ph type="title"/>
          </p:nvPr>
        </p:nvSpPr>
        <p:spPr/>
        <p:txBody>
          <a:bodyPr wrap="square"/>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E9CB5FF-7FB5-4B8A-BF1C-48765D40B4C0}"/>
              </a:ext>
            </a:extLst>
          </p:cNvPr>
          <p:cNvSpPr>
            <a:spLocks noGrp="1"/>
          </p:cNvSpPr>
          <p:nvPr>
            <p:ph idx="1"/>
          </p:nvPr>
        </p:nvSpPr>
        <p:spPr>
          <a:xfrm>
            <a:off x="448056" y="1735200"/>
            <a:ext cx="11293200" cy="3783013"/>
          </a:xfrm>
        </p:spPr>
        <p:txBody>
          <a:bodyPr wrap="square"/>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a:extLst>
              <a:ext uri="{FF2B5EF4-FFF2-40B4-BE49-F238E27FC236}">
                <a16:creationId xmlns:a16="http://schemas.microsoft.com/office/drawing/2014/main" id="{BDA03860-F8F0-4186-B5D0-72C935B2C2A9}"/>
              </a:ext>
            </a:extLst>
          </p:cNvPr>
          <p:cNvSpPr>
            <a:spLocks noGrp="1"/>
          </p:cNvSpPr>
          <p:nvPr>
            <p:ph type="ftr" sz="quarter" idx="3"/>
          </p:nvPr>
        </p:nvSpPr>
        <p:spPr>
          <a:xfrm>
            <a:off x="4370832" y="6153912"/>
            <a:ext cx="5397056" cy="502920"/>
          </a:xfrm>
          <a:prstGeom prst="rect">
            <a:avLst/>
          </a:prstGeom>
        </p:spPr>
        <p:txBody>
          <a:bodyPr vert="horz" lIns="0" tIns="0" rIns="91440" bIns="0" rtlCol="0" anchor="ctr"/>
          <a:lstStyle>
            <a:lvl1pPr algn="l">
              <a:defRPr sz="900" cap="all" spc="200" baseline="0">
                <a:solidFill>
                  <a:schemeClr val="tx2">
                    <a:alpha val="55000"/>
                  </a:schemeClr>
                </a:solidFill>
              </a:defRPr>
            </a:lvl1pPr>
          </a:lstStyle>
          <a:p>
            <a:r>
              <a:rPr lang="en-US" spc="200" dirty="0"/>
              <a:t>Sample Footer Text</a:t>
            </a:r>
          </a:p>
        </p:txBody>
      </p:sp>
      <p:sp>
        <p:nvSpPr>
          <p:cNvPr id="8" name="Slide Number Placeholder 5">
            <a:extLst>
              <a:ext uri="{FF2B5EF4-FFF2-40B4-BE49-F238E27FC236}">
                <a16:creationId xmlns:a16="http://schemas.microsoft.com/office/drawing/2014/main" id="{60B9D802-9E36-42DA-B6CA-6C937CBE8A94}"/>
              </a:ext>
            </a:extLst>
          </p:cNvPr>
          <p:cNvSpPr>
            <a:spLocks noGrp="1"/>
          </p:cNvSpPr>
          <p:nvPr>
            <p:ph type="sldNum" sz="quarter" idx="4"/>
          </p:nvPr>
        </p:nvSpPr>
        <p:spPr>
          <a:xfrm>
            <a:off x="10238232" y="6153912"/>
            <a:ext cx="1510856" cy="502920"/>
          </a:xfrm>
          <a:prstGeom prst="rect">
            <a:avLst/>
          </a:prstGeom>
        </p:spPr>
        <p:txBody>
          <a:bodyPr vert="horz" lIns="0" tIns="0" rIns="0" bIns="0" rtlCol="0" anchor="ctr"/>
          <a:lstStyle>
            <a:lvl1pPr algn="r">
              <a:defRPr sz="900">
                <a:solidFill>
                  <a:schemeClr val="tx2">
                    <a:alpha val="55000"/>
                  </a:schemeClr>
                </a:solidFill>
              </a:defRPr>
            </a:lvl1pPr>
          </a:lstStyle>
          <a:p>
            <a:fld id="{0D309695-DEC3-40DA-9DF5-330280C9D0E8}" type="slidenum">
              <a:rPr lang="en-US" smtClean="0"/>
              <a:pPr/>
              <a:t>‹#›</a:t>
            </a:fld>
            <a:endParaRPr lang="en-US" dirty="0"/>
          </a:p>
        </p:txBody>
      </p:sp>
      <p:sp>
        <p:nvSpPr>
          <p:cNvPr id="9" name="Date Placeholder 3">
            <a:extLst>
              <a:ext uri="{FF2B5EF4-FFF2-40B4-BE49-F238E27FC236}">
                <a16:creationId xmlns:a16="http://schemas.microsoft.com/office/drawing/2014/main" id="{C227B5A7-BF66-4C50-9DAD-A24070310B83}"/>
              </a:ext>
            </a:extLst>
          </p:cNvPr>
          <p:cNvSpPr>
            <a:spLocks noGrp="1"/>
          </p:cNvSpPr>
          <p:nvPr>
            <p:ph type="dt" sz="half" idx="2"/>
          </p:nvPr>
        </p:nvSpPr>
        <p:spPr>
          <a:xfrm>
            <a:off x="442912" y="6152968"/>
            <a:ext cx="3457576" cy="502920"/>
          </a:xfrm>
          <a:prstGeom prst="rect">
            <a:avLst/>
          </a:prstGeom>
        </p:spPr>
        <p:txBody>
          <a:bodyPr wrap="square" lIns="0" tIns="0" rIns="0" bIns="0" anchor="ctr" anchorCtr="0">
            <a:normAutofit/>
          </a:bodyPr>
          <a:lstStyle>
            <a:lvl1pPr>
              <a:defRPr sz="900" cap="all" spc="200" baseline="0">
                <a:solidFill>
                  <a:schemeClr val="tx1">
                    <a:alpha val="55000"/>
                  </a:schemeClr>
                </a:solidFill>
              </a:defRPr>
            </a:lvl1pPr>
          </a:lstStyle>
          <a:p>
            <a:fld id="{8256C2ED-54A4-480D-B5C8-65C0D62359B9}" type="datetime2">
              <a:rPr lang="en-US" smtClean="0"/>
              <a:pPr/>
              <a:t>Wednesday, October 20, 2021</a:t>
            </a:fld>
            <a:endParaRPr lang="en-US" dirty="0"/>
          </a:p>
        </p:txBody>
      </p:sp>
    </p:spTree>
    <p:extLst>
      <p:ext uri="{BB962C8B-B14F-4D97-AF65-F5344CB8AC3E}">
        <p14:creationId xmlns:p14="http://schemas.microsoft.com/office/powerpoint/2010/main" val="1266466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E2B8D-DB20-44D1-84BC-F76685913380}"/>
              </a:ext>
            </a:extLst>
          </p:cNvPr>
          <p:cNvSpPr>
            <a:spLocks noGrp="1"/>
          </p:cNvSpPr>
          <p:nvPr>
            <p:ph type="title"/>
          </p:nvPr>
        </p:nvSpPr>
        <p:spPr>
          <a:xfrm>
            <a:off x="448056" y="448056"/>
            <a:ext cx="11311128" cy="3401568"/>
          </a:xfrm>
        </p:spPr>
        <p:txBody>
          <a:bodyPr anchor="b">
            <a:normAutofit/>
          </a:bodyPr>
          <a:lstStyle>
            <a:lvl1pPr>
              <a:defRPr sz="6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594C298-618E-4642-8F2B-8DD253ED5C06}"/>
              </a:ext>
            </a:extLst>
          </p:cNvPr>
          <p:cNvSpPr>
            <a:spLocks noGrp="1"/>
          </p:cNvSpPr>
          <p:nvPr>
            <p:ph type="body" idx="1"/>
          </p:nvPr>
        </p:nvSpPr>
        <p:spPr>
          <a:xfrm>
            <a:off x="448056" y="4471416"/>
            <a:ext cx="11292840" cy="1481328"/>
          </a:xfrm>
        </p:spPr>
        <p:txBody>
          <a:bodyPr/>
          <a:lstStyle>
            <a:lvl1pPr marL="0" indent="0">
              <a:lnSpc>
                <a:spcPct val="120000"/>
              </a:lnSpc>
              <a:buNone/>
              <a:defRPr sz="2400">
                <a:solidFill>
                  <a:schemeClr val="tx2">
                    <a:alpha val="5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B3ECD5-2EEA-457B-9C93-36F8AF368EC7}"/>
              </a:ext>
            </a:extLst>
          </p:cNvPr>
          <p:cNvSpPr>
            <a:spLocks noGrp="1"/>
          </p:cNvSpPr>
          <p:nvPr>
            <p:ph type="dt" sz="half" idx="10"/>
          </p:nvPr>
        </p:nvSpPr>
        <p:spPr>
          <a:xfrm>
            <a:off x="438912" y="6153912"/>
            <a:ext cx="3456432" cy="502920"/>
          </a:xfrm>
          <a:prstGeom prst="rect">
            <a:avLst/>
          </a:prstGeom>
        </p:spPr>
        <p:txBody>
          <a:bodyPr/>
          <a:lstStyle/>
          <a:p>
            <a:fld id="{10EDCA73-0A86-4195-A787-75037827079D}" type="datetime2">
              <a:rPr lang="en-US" smtClean="0"/>
              <a:t>Wednesday, October 20, 2021</a:t>
            </a:fld>
            <a:endParaRPr lang="en-US"/>
          </a:p>
        </p:txBody>
      </p:sp>
      <p:sp>
        <p:nvSpPr>
          <p:cNvPr id="5" name="Footer Placeholder 4">
            <a:extLst>
              <a:ext uri="{FF2B5EF4-FFF2-40B4-BE49-F238E27FC236}">
                <a16:creationId xmlns:a16="http://schemas.microsoft.com/office/drawing/2014/main" id="{D79A15D4-F172-4025-9290-C8F5D419720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3926CD73-9984-4E1D-BD74-37115C1F4C57}"/>
              </a:ext>
            </a:extLst>
          </p:cNvPr>
          <p:cNvSpPr>
            <a:spLocks noGrp="1"/>
          </p:cNvSpPr>
          <p:nvPr>
            <p:ph type="sldNum" sz="quarter" idx="12"/>
          </p:nvPr>
        </p:nvSpPr>
        <p:spPr/>
        <p:txBody>
          <a:bodyPr rIns="219456"/>
          <a:lstStyle/>
          <a:p>
            <a:fld id="{0D309695-DEC3-40DA-9DF5-330280C9D0E8}" type="slidenum">
              <a:rPr lang="en-US" smtClean="0"/>
              <a:t>‹#›</a:t>
            </a:fld>
            <a:endParaRPr lang="en-US"/>
          </a:p>
        </p:txBody>
      </p:sp>
      <p:cxnSp>
        <p:nvCxnSpPr>
          <p:cNvPr id="8" name="Straight Connector 7">
            <a:extLst>
              <a:ext uri="{FF2B5EF4-FFF2-40B4-BE49-F238E27FC236}">
                <a16:creationId xmlns:a16="http://schemas.microsoft.com/office/drawing/2014/main" id="{E99FAD47-5E44-4EE5-A422-A77593F8F3A3}"/>
              </a:ext>
            </a:extLst>
          </p:cNvPr>
          <p:cNvCxnSpPr>
            <a:cxnSpLocks/>
          </p:cNvCxnSpPr>
          <p:nvPr/>
        </p:nvCxnSpPr>
        <p:spPr>
          <a:xfrm>
            <a:off x="449400" y="41220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57702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74E41-AB27-418C-AA9E-8F863DDE3629}"/>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8B9E10A-E18D-4122-A71B-0A22F695E076}"/>
              </a:ext>
            </a:extLst>
          </p:cNvPr>
          <p:cNvSpPr>
            <a:spLocks noGrp="1"/>
          </p:cNvSpPr>
          <p:nvPr>
            <p:ph sz="half" idx="1"/>
          </p:nvPr>
        </p:nvSpPr>
        <p:spPr>
          <a:xfrm>
            <a:off x="448056" y="1735200"/>
            <a:ext cx="5431536" cy="4214750"/>
          </a:xfrm>
        </p:spPr>
        <p:txBody>
          <a:bodyPr/>
          <a:lstStyle>
            <a:lvl1pPr marL="450000">
              <a:defRPr/>
            </a:lvl1pPr>
            <a:lvl2pPr marL="900000">
              <a:defRPr/>
            </a:lvl2pPr>
            <a:lvl3pPr marL="1350000">
              <a:defRPr/>
            </a:lvl3pPr>
            <a:lvl4pPr marL="1800000">
              <a:defRPr/>
            </a:lvl4pPr>
            <a:lvl5pPr marL="22500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90CB980D-2720-431B-88C8-4D837023BBFF}"/>
              </a:ext>
            </a:extLst>
          </p:cNvPr>
          <p:cNvSpPr>
            <a:spLocks noGrp="1"/>
          </p:cNvSpPr>
          <p:nvPr>
            <p:ph sz="half" idx="2"/>
          </p:nvPr>
        </p:nvSpPr>
        <p:spPr>
          <a:xfrm>
            <a:off x="6309360" y="1735200"/>
            <a:ext cx="5431536" cy="4214750"/>
          </a:xfrm>
        </p:spPr>
        <p:txBody>
          <a:bodyPr/>
          <a:lstStyle>
            <a:lvl2pPr marL="900000">
              <a:defRPr/>
            </a:lvl2pPr>
            <a:lvl3pPr marL="1350000">
              <a:defRPr/>
            </a:lvl3pPr>
            <a:lvl4pPr marL="1800000">
              <a:defRPr/>
            </a:lvl4pPr>
            <a:lvl5pPr marL="24300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DE8EB211-F6F7-4C53-B25F-F1EBF7A8BF4E}"/>
              </a:ext>
            </a:extLst>
          </p:cNvPr>
          <p:cNvSpPr>
            <a:spLocks noGrp="1"/>
          </p:cNvSpPr>
          <p:nvPr>
            <p:ph type="dt" sz="half" idx="10"/>
          </p:nvPr>
        </p:nvSpPr>
        <p:spPr>
          <a:xfrm>
            <a:off x="438912" y="6153912"/>
            <a:ext cx="3456432" cy="502920"/>
          </a:xfrm>
          <a:prstGeom prst="rect">
            <a:avLst/>
          </a:prstGeom>
        </p:spPr>
        <p:txBody>
          <a:bodyPr/>
          <a:lstStyle/>
          <a:p>
            <a:fld id="{83C75374-B296-498E-A935-80631EA9020D}" type="datetime2">
              <a:rPr lang="en-US" smtClean="0"/>
              <a:t>Wednesday, October 20, 2021</a:t>
            </a:fld>
            <a:endParaRPr lang="en-US"/>
          </a:p>
        </p:txBody>
      </p:sp>
      <p:sp>
        <p:nvSpPr>
          <p:cNvPr id="6" name="Footer Placeholder 5">
            <a:extLst>
              <a:ext uri="{FF2B5EF4-FFF2-40B4-BE49-F238E27FC236}">
                <a16:creationId xmlns:a16="http://schemas.microsoft.com/office/drawing/2014/main" id="{D0AA830D-482E-415E-B855-D561B94BDC20}"/>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2D7FB2AC-9F49-4D35-8C5E-ECECC6B13134}"/>
              </a:ext>
            </a:extLst>
          </p:cNvPr>
          <p:cNvSpPr>
            <a:spLocks noGrp="1"/>
          </p:cNvSpPr>
          <p:nvPr>
            <p:ph type="sldNum" sz="quarter" idx="12"/>
          </p:nvPr>
        </p:nvSpPr>
        <p:spPr/>
        <p:txBody>
          <a:bodyPr rIns="219456"/>
          <a:lstStyle/>
          <a:p>
            <a:fld id="{0D309695-DEC3-40DA-9DF5-330280C9D0E8}" type="slidenum">
              <a:rPr lang="en-US" smtClean="0"/>
              <a:t>‹#›</a:t>
            </a:fld>
            <a:endParaRPr lang="en-US"/>
          </a:p>
        </p:txBody>
      </p:sp>
    </p:spTree>
    <p:extLst>
      <p:ext uri="{BB962C8B-B14F-4D97-AF65-F5344CB8AC3E}">
        <p14:creationId xmlns:p14="http://schemas.microsoft.com/office/powerpoint/2010/main" val="2835593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25D59-DC0A-4295-8714-902B54B983AF}"/>
              </a:ext>
            </a:extLst>
          </p:cNvPr>
          <p:cNvSpPr>
            <a:spLocks noGrp="1"/>
          </p:cNvSpPr>
          <p:nvPr>
            <p:ph type="title"/>
          </p:nvPr>
        </p:nvSpPr>
        <p:spPr>
          <a:xfrm>
            <a:off x="448056" y="388800"/>
            <a:ext cx="11311128" cy="1141200"/>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67A33E2-E7AE-4E37-9DF1-69697E45D2A7}"/>
              </a:ext>
            </a:extLst>
          </p:cNvPr>
          <p:cNvSpPr>
            <a:spLocks noGrp="1"/>
          </p:cNvSpPr>
          <p:nvPr>
            <p:ph type="body" idx="1"/>
          </p:nvPr>
        </p:nvSpPr>
        <p:spPr>
          <a:xfrm>
            <a:off x="448056" y="1774952"/>
            <a:ext cx="5431536" cy="612648"/>
          </a:xfrm>
        </p:spPr>
        <p:txBody>
          <a:bodyPr anchor="t">
            <a:normAutofit/>
          </a:bodyPr>
          <a:lstStyle>
            <a:lvl1pPr marL="0" indent="0">
              <a:lnSpc>
                <a:spcPct val="100000"/>
              </a:lnSpc>
              <a:buNone/>
              <a:defRPr sz="2000" b="0" i="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2E79D5-E651-4B82-AFAA-DE6E16AC3EB8}"/>
              </a:ext>
            </a:extLst>
          </p:cNvPr>
          <p:cNvSpPr>
            <a:spLocks noGrp="1"/>
          </p:cNvSpPr>
          <p:nvPr>
            <p:ph sz="half" idx="2"/>
          </p:nvPr>
        </p:nvSpPr>
        <p:spPr>
          <a:xfrm>
            <a:off x="448056" y="2752344"/>
            <a:ext cx="5431536" cy="3200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1A91196-F771-42C3-A726-A4ECF561FFF3}"/>
              </a:ext>
            </a:extLst>
          </p:cNvPr>
          <p:cNvSpPr>
            <a:spLocks noGrp="1"/>
          </p:cNvSpPr>
          <p:nvPr>
            <p:ph type="body" sz="quarter" idx="3"/>
          </p:nvPr>
        </p:nvSpPr>
        <p:spPr>
          <a:xfrm>
            <a:off x="6309360" y="1774952"/>
            <a:ext cx="5431536" cy="612648"/>
          </a:xfrm>
        </p:spPr>
        <p:txBody>
          <a:bodyPr anchor="t">
            <a:normAutofit/>
          </a:bodyPr>
          <a:lstStyle>
            <a:lvl1pPr marL="0" indent="0">
              <a:lnSpc>
                <a:spcPct val="100000"/>
              </a:lnSpc>
              <a:buNone/>
              <a:defRPr sz="2000" b="0" i="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76BA18-D373-4B5F-B812-5D5E4C2378E7}"/>
              </a:ext>
            </a:extLst>
          </p:cNvPr>
          <p:cNvSpPr>
            <a:spLocks noGrp="1"/>
          </p:cNvSpPr>
          <p:nvPr>
            <p:ph sz="quarter" idx="4"/>
          </p:nvPr>
        </p:nvSpPr>
        <p:spPr>
          <a:xfrm>
            <a:off x="6309360" y="2752344"/>
            <a:ext cx="5431536" cy="3200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F395D0EB-9F99-4C95-ADA6-AC6B493CCA9D}"/>
              </a:ext>
            </a:extLst>
          </p:cNvPr>
          <p:cNvSpPr>
            <a:spLocks noGrp="1"/>
          </p:cNvSpPr>
          <p:nvPr>
            <p:ph type="dt" sz="half" idx="10"/>
          </p:nvPr>
        </p:nvSpPr>
        <p:spPr>
          <a:xfrm>
            <a:off x="438912" y="6153912"/>
            <a:ext cx="3456432" cy="502920"/>
          </a:xfrm>
          <a:prstGeom prst="rect">
            <a:avLst/>
          </a:prstGeom>
        </p:spPr>
        <p:txBody>
          <a:bodyPr/>
          <a:lstStyle/>
          <a:p>
            <a:fld id="{B098B728-214A-4ABC-8432-5B3A5A66A987}" type="datetime2">
              <a:rPr lang="en-US" smtClean="0"/>
              <a:t>Wednesday, October 20, 2021</a:t>
            </a:fld>
            <a:endParaRPr lang="en-US" dirty="0"/>
          </a:p>
        </p:txBody>
      </p:sp>
      <p:sp>
        <p:nvSpPr>
          <p:cNvPr id="8" name="Footer Placeholder 7">
            <a:extLst>
              <a:ext uri="{FF2B5EF4-FFF2-40B4-BE49-F238E27FC236}">
                <a16:creationId xmlns:a16="http://schemas.microsoft.com/office/drawing/2014/main" id="{27EB69A9-1E48-4683-8873-D888C39E6EEE}"/>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F57E419C-3010-4562-BA4B-ECBC2DBE629E}"/>
              </a:ext>
            </a:extLst>
          </p:cNvPr>
          <p:cNvSpPr>
            <a:spLocks noGrp="1"/>
          </p:cNvSpPr>
          <p:nvPr>
            <p:ph type="sldNum" sz="quarter" idx="12"/>
          </p:nvPr>
        </p:nvSpPr>
        <p:spPr/>
        <p:txBody>
          <a:bodyPr rIns="219456"/>
          <a:lstStyle/>
          <a:p>
            <a:fld id="{0D309695-DEC3-40DA-9DF5-330280C9D0E8}" type="slidenum">
              <a:rPr lang="en-US" smtClean="0"/>
              <a:t>‹#›</a:t>
            </a:fld>
            <a:endParaRPr lang="en-US"/>
          </a:p>
        </p:txBody>
      </p:sp>
    </p:spTree>
    <p:extLst>
      <p:ext uri="{BB962C8B-B14F-4D97-AF65-F5344CB8AC3E}">
        <p14:creationId xmlns:p14="http://schemas.microsoft.com/office/powerpoint/2010/main" val="33172034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58066-A255-4886-A4B0-2AC829A768F3}"/>
              </a:ext>
            </a:extLst>
          </p:cNvPr>
          <p:cNvSpPr>
            <a:spLocks noGrp="1"/>
          </p:cNvSpPr>
          <p:nvPr>
            <p:ph type="title"/>
          </p:nvPr>
        </p:nvSpPr>
        <p:spPr>
          <a:xfrm>
            <a:off x="448056" y="388800"/>
            <a:ext cx="11311128" cy="5559552"/>
          </a:xfrm>
        </p:spPr>
        <p:txBody>
          <a:bodyPr wrap="square"/>
          <a:lstStyle/>
          <a:p>
            <a:r>
              <a:rPr lang="en-US"/>
              <a:t>Click to edit Master title style</a:t>
            </a:r>
            <a:endParaRPr lang="en-US" dirty="0"/>
          </a:p>
        </p:txBody>
      </p:sp>
      <p:sp>
        <p:nvSpPr>
          <p:cNvPr id="3" name="Date Placeholder 2">
            <a:extLst>
              <a:ext uri="{FF2B5EF4-FFF2-40B4-BE49-F238E27FC236}">
                <a16:creationId xmlns:a16="http://schemas.microsoft.com/office/drawing/2014/main" id="{2068D80A-6560-46E3-AF30-9CEC54EA747C}"/>
              </a:ext>
            </a:extLst>
          </p:cNvPr>
          <p:cNvSpPr>
            <a:spLocks noGrp="1"/>
          </p:cNvSpPr>
          <p:nvPr>
            <p:ph type="dt" sz="half" idx="10"/>
          </p:nvPr>
        </p:nvSpPr>
        <p:spPr>
          <a:xfrm>
            <a:off x="438912" y="6153912"/>
            <a:ext cx="3456432" cy="502920"/>
          </a:xfrm>
          <a:prstGeom prst="rect">
            <a:avLst/>
          </a:prstGeom>
        </p:spPr>
        <p:txBody>
          <a:bodyPr/>
          <a:lstStyle/>
          <a:p>
            <a:fld id="{015F02D0-6806-43AF-9888-2359BF40C204}" type="datetime2">
              <a:rPr lang="en-US" smtClean="0"/>
              <a:t>Wednesday, October 20, 2021</a:t>
            </a:fld>
            <a:endParaRPr lang="en-US"/>
          </a:p>
        </p:txBody>
      </p:sp>
      <p:sp>
        <p:nvSpPr>
          <p:cNvPr id="4" name="Footer Placeholder 3">
            <a:extLst>
              <a:ext uri="{FF2B5EF4-FFF2-40B4-BE49-F238E27FC236}">
                <a16:creationId xmlns:a16="http://schemas.microsoft.com/office/drawing/2014/main" id="{4AB673C2-FB1E-46F5-8CFB-93B9DB807075}"/>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91E2120-410F-4382-81AB-37F161F72150}"/>
              </a:ext>
            </a:extLst>
          </p:cNvPr>
          <p:cNvSpPr>
            <a:spLocks noGrp="1"/>
          </p:cNvSpPr>
          <p:nvPr>
            <p:ph type="sldNum" sz="quarter" idx="12"/>
          </p:nvPr>
        </p:nvSpPr>
        <p:spPr/>
        <p:txBody>
          <a:bodyPr rIns="219456"/>
          <a:lstStyle/>
          <a:p>
            <a:fld id="{0D309695-DEC3-40DA-9DF5-330280C9D0E8}" type="slidenum">
              <a:rPr lang="en-US" smtClean="0"/>
              <a:t>‹#›</a:t>
            </a:fld>
            <a:endParaRPr lang="en-US"/>
          </a:p>
        </p:txBody>
      </p:sp>
    </p:spTree>
    <p:extLst>
      <p:ext uri="{BB962C8B-B14F-4D97-AF65-F5344CB8AC3E}">
        <p14:creationId xmlns:p14="http://schemas.microsoft.com/office/powerpoint/2010/main" val="4075309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802222-E41B-48E7-BF06-5C5509D621C0}"/>
              </a:ext>
            </a:extLst>
          </p:cNvPr>
          <p:cNvSpPr>
            <a:spLocks noGrp="1"/>
          </p:cNvSpPr>
          <p:nvPr>
            <p:ph type="dt" sz="half" idx="10"/>
          </p:nvPr>
        </p:nvSpPr>
        <p:spPr>
          <a:xfrm>
            <a:off x="438912" y="6153912"/>
            <a:ext cx="3456432" cy="502920"/>
          </a:xfrm>
          <a:prstGeom prst="rect">
            <a:avLst/>
          </a:prstGeom>
        </p:spPr>
        <p:txBody>
          <a:bodyPr/>
          <a:lstStyle/>
          <a:p>
            <a:fld id="{8EE14D2D-B1AF-4197-82D6-FC1F8BD05681}" type="datetime2">
              <a:rPr lang="en-US" smtClean="0"/>
              <a:t>Wednesday, October 20, 2021</a:t>
            </a:fld>
            <a:endParaRPr lang="en-US"/>
          </a:p>
        </p:txBody>
      </p:sp>
      <p:sp>
        <p:nvSpPr>
          <p:cNvPr id="3" name="Footer Placeholder 2">
            <a:extLst>
              <a:ext uri="{FF2B5EF4-FFF2-40B4-BE49-F238E27FC236}">
                <a16:creationId xmlns:a16="http://schemas.microsoft.com/office/drawing/2014/main" id="{17A636E3-B721-46E8-882F-C123530F0FE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C4FC1178-3E0E-449A-B799-009C04C069AF}"/>
              </a:ext>
            </a:extLst>
          </p:cNvPr>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2861945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23392-4FF4-4922-A14E-8AA23A9BDD70}"/>
              </a:ext>
            </a:extLst>
          </p:cNvPr>
          <p:cNvSpPr>
            <a:spLocks noGrp="1"/>
          </p:cNvSpPr>
          <p:nvPr>
            <p:ph type="title"/>
          </p:nvPr>
        </p:nvSpPr>
        <p:spPr>
          <a:xfrm>
            <a:off x="448056" y="388800"/>
            <a:ext cx="3447288" cy="1069848"/>
          </a:xfrm>
        </p:spPr>
        <p:txBody>
          <a:bodyPr wrap="square"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04FB38E-5055-4C9B-9A3B-A7B3A4887944}"/>
              </a:ext>
            </a:extLst>
          </p:cNvPr>
          <p:cNvSpPr>
            <a:spLocks noGrp="1"/>
          </p:cNvSpPr>
          <p:nvPr>
            <p:ph idx="1"/>
          </p:nvPr>
        </p:nvSpPr>
        <p:spPr>
          <a:xfrm>
            <a:off x="4370832" y="393192"/>
            <a:ext cx="7379208" cy="5559552"/>
          </a:xfrm>
        </p:spPr>
        <p:txBody>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9E2EC2DB-2ED3-408C-BFF2-F413C9D8F91E}"/>
              </a:ext>
            </a:extLst>
          </p:cNvPr>
          <p:cNvSpPr>
            <a:spLocks noGrp="1"/>
          </p:cNvSpPr>
          <p:nvPr>
            <p:ph type="body" sz="half" idx="2"/>
          </p:nvPr>
        </p:nvSpPr>
        <p:spPr>
          <a:xfrm>
            <a:off x="448056" y="1733550"/>
            <a:ext cx="3447288" cy="421919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374FDF-3000-4B2C-AC88-8CE34D680596}"/>
              </a:ext>
            </a:extLst>
          </p:cNvPr>
          <p:cNvSpPr>
            <a:spLocks noGrp="1"/>
          </p:cNvSpPr>
          <p:nvPr>
            <p:ph type="dt" sz="half" idx="10"/>
          </p:nvPr>
        </p:nvSpPr>
        <p:spPr>
          <a:xfrm>
            <a:off x="438912" y="6153912"/>
            <a:ext cx="3456432" cy="502920"/>
          </a:xfrm>
          <a:prstGeom prst="rect">
            <a:avLst/>
          </a:prstGeom>
        </p:spPr>
        <p:txBody>
          <a:bodyPr/>
          <a:lstStyle/>
          <a:p>
            <a:fld id="{98771CEB-9838-4245-91B8-EFBAFE2D8B44}" type="datetime2">
              <a:rPr lang="en-US" smtClean="0"/>
              <a:t>Wednesday, October 20, 2021</a:t>
            </a:fld>
            <a:endParaRPr lang="en-US"/>
          </a:p>
        </p:txBody>
      </p:sp>
      <p:sp>
        <p:nvSpPr>
          <p:cNvPr id="6" name="Footer Placeholder 5">
            <a:extLst>
              <a:ext uri="{FF2B5EF4-FFF2-40B4-BE49-F238E27FC236}">
                <a16:creationId xmlns:a16="http://schemas.microsoft.com/office/drawing/2014/main" id="{0DA0B7F4-5B8C-49BD-9BDA-FCBD13E24227}"/>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502BC00-0803-4A53-8657-91CE0DB80E54}"/>
              </a:ext>
            </a:extLst>
          </p:cNvPr>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1770259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C2A98-C272-40D9-B75A-77A3D58678E0}"/>
              </a:ext>
            </a:extLst>
          </p:cNvPr>
          <p:cNvSpPr>
            <a:spLocks noGrp="1"/>
          </p:cNvSpPr>
          <p:nvPr>
            <p:ph type="title"/>
          </p:nvPr>
        </p:nvSpPr>
        <p:spPr>
          <a:xfrm>
            <a:off x="448056" y="388800"/>
            <a:ext cx="3447288" cy="1069848"/>
          </a:xfrm>
        </p:spPr>
        <p:txBody>
          <a:bodyPr wrap="square"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7AD50DAC-9AC3-4A9A-91B7-6C95E4362561}"/>
              </a:ext>
            </a:extLst>
          </p:cNvPr>
          <p:cNvSpPr>
            <a:spLocks noGrp="1"/>
          </p:cNvSpPr>
          <p:nvPr>
            <p:ph type="pic" idx="1"/>
          </p:nvPr>
        </p:nvSpPr>
        <p:spPr>
          <a:xfrm>
            <a:off x="4370832" y="441324"/>
            <a:ext cx="7373112" cy="551141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83721B04-C243-49A9-B5D3-483379290943}"/>
              </a:ext>
            </a:extLst>
          </p:cNvPr>
          <p:cNvSpPr>
            <a:spLocks noGrp="1"/>
          </p:cNvSpPr>
          <p:nvPr>
            <p:ph type="body" sz="half" idx="2"/>
          </p:nvPr>
        </p:nvSpPr>
        <p:spPr>
          <a:xfrm>
            <a:off x="448056" y="1735200"/>
            <a:ext cx="3447288" cy="421475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8E949C-DD35-44F6-B45A-35134D7E1299}"/>
              </a:ext>
            </a:extLst>
          </p:cNvPr>
          <p:cNvSpPr>
            <a:spLocks noGrp="1"/>
          </p:cNvSpPr>
          <p:nvPr>
            <p:ph type="dt" sz="half" idx="10"/>
          </p:nvPr>
        </p:nvSpPr>
        <p:spPr>
          <a:xfrm>
            <a:off x="438912" y="6153912"/>
            <a:ext cx="3456432" cy="502920"/>
          </a:xfrm>
          <a:prstGeom prst="rect">
            <a:avLst/>
          </a:prstGeom>
        </p:spPr>
        <p:txBody>
          <a:bodyPr/>
          <a:lstStyle/>
          <a:p>
            <a:fld id="{51D3F6BF-A585-41F8-88DF-7E5D069F892A}" type="datetime2">
              <a:rPr lang="en-US" smtClean="0"/>
              <a:t>Wednesday, October 20, 2021</a:t>
            </a:fld>
            <a:endParaRPr lang="en-US"/>
          </a:p>
        </p:txBody>
      </p:sp>
      <p:sp>
        <p:nvSpPr>
          <p:cNvPr id="6" name="Footer Placeholder 5">
            <a:extLst>
              <a:ext uri="{FF2B5EF4-FFF2-40B4-BE49-F238E27FC236}">
                <a16:creationId xmlns:a16="http://schemas.microsoft.com/office/drawing/2014/main" id="{6BC70102-4B8E-4FEC-9BB7-97FDC1EABF8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086693AF-08A9-4388-A9B8-174D53955998}"/>
              </a:ext>
            </a:extLst>
          </p:cNvPr>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1191499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733FC-38A1-463C-BF3D-0D99784E027C}"/>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2AFD076A-A004-4560-A43B-028624E20D17}"/>
              </a:ext>
            </a:extLst>
          </p:cNvPr>
          <p:cNvSpPr>
            <a:spLocks noGrp="1"/>
          </p:cNvSpPr>
          <p:nvPr>
            <p:ph type="body" orient="vert" idx="1"/>
          </p:nvPr>
        </p:nvSpPr>
        <p:spPr>
          <a:xfrm>
            <a:off x="448056" y="1956816"/>
            <a:ext cx="11301984" cy="399592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FCFBA60-9309-4F2A-9FA9-305C4AFBECAF}"/>
              </a:ext>
            </a:extLst>
          </p:cNvPr>
          <p:cNvSpPr>
            <a:spLocks noGrp="1"/>
          </p:cNvSpPr>
          <p:nvPr>
            <p:ph type="dt" sz="half" idx="10"/>
          </p:nvPr>
        </p:nvSpPr>
        <p:spPr>
          <a:xfrm>
            <a:off x="438912" y="6153912"/>
            <a:ext cx="3456432" cy="502920"/>
          </a:xfrm>
          <a:prstGeom prst="rect">
            <a:avLst/>
          </a:prstGeom>
        </p:spPr>
        <p:txBody>
          <a:bodyPr/>
          <a:lstStyle/>
          <a:p>
            <a:fld id="{53CF612A-4CB0-4F57-9A87-F049CECB184D}" type="datetime2">
              <a:rPr lang="en-US" smtClean="0"/>
              <a:t>Wednesday, October 20, 2021</a:t>
            </a:fld>
            <a:endParaRPr lang="en-US"/>
          </a:p>
        </p:txBody>
      </p:sp>
      <p:sp>
        <p:nvSpPr>
          <p:cNvPr id="5" name="Footer Placeholder 4">
            <a:extLst>
              <a:ext uri="{FF2B5EF4-FFF2-40B4-BE49-F238E27FC236}">
                <a16:creationId xmlns:a16="http://schemas.microsoft.com/office/drawing/2014/main" id="{491BF451-928F-4E55-8A76-111D0E21121F}"/>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AB5EC161-BA80-4E93-AEB1-B61E38C098BB}"/>
              </a:ext>
            </a:extLst>
          </p:cNvPr>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4097134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A44E3E-5EFE-4FCB-86A2-5E20CC6525EC}"/>
              </a:ext>
            </a:extLst>
          </p:cNvPr>
          <p:cNvSpPr>
            <a:spLocks noGrp="1"/>
          </p:cNvSpPr>
          <p:nvPr>
            <p:ph type="title" orient="vert"/>
          </p:nvPr>
        </p:nvSpPr>
        <p:spPr>
          <a:xfrm>
            <a:off x="10232136" y="448056"/>
            <a:ext cx="1581912" cy="550468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7495005E-2E0C-4200-BF29-1135A35EE9B9}"/>
              </a:ext>
            </a:extLst>
          </p:cNvPr>
          <p:cNvSpPr>
            <a:spLocks noGrp="1"/>
          </p:cNvSpPr>
          <p:nvPr>
            <p:ph type="body" orient="vert" idx="1"/>
          </p:nvPr>
        </p:nvSpPr>
        <p:spPr>
          <a:xfrm>
            <a:off x="438912" y="438912"/>
            <a:ext cx="9436608" cy="55046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12BBBED-3B21-4271-BC0F-BBA258B59D48}"/>
              </a:ext>
            </a:extLst>
          </p:cNvPr>
          <p:cNvSpPr>
            <a:spLocks noGrp="1"/>
          </p:cNvSpPr>
          <p:nvPr>
            <p:ph type="dt" sz="half" idx="10"/>
          </p:nvPr>
        </p:nvSpPr>
        <p:spPr>
          <a:xfrm>
            <a:off x="438912" y="6153912"/>
            <a:ext cx="3456432" cy="502920"/>
          </a:xfrm>
          <a:prstGeom prst="rect">
            <a:avLst/>
          </a:prstGeom>
        </p:spPr>
        <p:txBody>
          <a:bodyPr/>
          <a:lstStyle/>
          <a:p>
            <a:fld id="{8F397F40-C8F7-4897-A6B8-241042F913A9}" type="datetime2">
              <a:rPr lang="en-US" smtClean="0"/>
              <a:t>Wednesday, October 20, 2021</a:t>
            </a:fld>
            <a:endParaRPr lang="en-US"/>
          </a:p>
        </p:txBody>
      </p:sp>
      <p:sp>
        <p:nvSpPr>
          <p:cNvPr id="5" name="Footer Placeholder 4">
            <a:extLst>
              <a:ext uri="{FF2B5EF4-FFF2-40B4-BE49-F238E27FC236}">
                <a16:creationId xmlns:a16="http://schemas.microsoft.com/office/drawing/2014/main" id="{2D89CED5-56F3-4943-8143-918F7A860CD4}"/>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09C87180-7248-4741-8E3B-9AAFB414DD95}"/>
              </a:ext>
            </a:extLst>
          </p:cNvPr>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1933041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DDBCE8-F60C-4E3A-83C0-BDE8DD2DE1FD}"/>
              </a:ext>
            </a:extLst>
          </p:cNvPr>
          <p:cNvSpPr>
            <a:spLocks noGrp="1"/>
          </p:cNvSpPr>
          <p:nvPr>
            <p:ph type="title"/>
          </p:nvPr>
        </p:nvSpPr>
        <p:spPr>
          <a:xfrm>
            <a:off x="448056" y="388800"/>
            <a:ext cx="11301984" cy="1141200"/>
          </a:xfrm>
          <a:prstGeom prst="rect">
            <a:avLst/>
          </a:prstGeom>
        </p:spPr>
        <p:txBody>
          <a:bodyPr vert="horz" lIns="0" tIns="0" rIns="0" bIns="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4BBC57F-72F2-48BC-B1EE-1F2C6155D72E}"/>
              </a:ext>
            </a:extLst>
          </p:cNvPr>
          <p:cNvSpPr>
            <a:spLocks noGrp="1"/>
          </p:cNvSpPr>
          <p:nvPr>
            <p:ph type="body" idx="1"/>
          </p:nvPr>
        </p:nvSpPr>
        <p:spPr>
          <a:xfrm>
            <a:off x="448056" y="1733550"/>
            <a:ext cx="11293200" cy="3783013"/>
          </a:xfrm>
          <a:prstGeom prst="rect">
            <a:avLst/>
          </a:prstGeom>
        </p:spPr>
        <p:txBody>
          <a:bodyPr vert="horz" lIns="0" tIns="0" rIns="9144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930FBC45-A4BC-4EE5-82B1-8BC79122559A}"/>
              </a:ext>
            </a:extLst>
          </p:cNvPr>
          <p:cNvSpPr>
            <a:spLocks noGrp="1"/>
          </p:cNvSpPr>
          <p:nvPr>
            <p:ph type="ftr" sz="quarter" idx="3"/>
          </p:nvPr>
        </p:nvSpPr>
        <p:spPr>
          <a:xfrm>
            <a:off x="4370832" y="6153912"/>
            <a:ext cx="5397056" cy="502920"/>
          </a:xfrm>
          <a:prstGeom prst="rect">
            <a:avLst/>
          </a:prstGeom>
        </p:spPr>
        <p:txBody>
          <a:bodyPr vert="horz" lIns="0" tIns="0" rIns="91440" bIns="0" rtlCol="0" anchor="ctr"/>
          <a:lstStyle>
            <a:lvl1pPr algn="l">
              <a:defRPr sz="900" cap="all" spc="200" baseline="0">
                <a:solidFill>
                  <a:schemeClr val="tx2">
                    <a:alpha val="55000"/>
                  </a:schemeClr>
                </a:solidFill>
              </a:defRPr>
            </a:lvl1pPr>
          </a:lstStyle>
          <a:p>
            <a:r>
              <a:rPr lang="en-US" spc="200" dirty="0"/>
              <a:t>Sample Footer Text</a:t>
            </a:r>
          </a:p>
        </p:txBody>
      </p:sp>
      <p:sp>
        <p:nvSpPr>
          <p:cNvPr id="6" name="Slide Number Placeholder 5">
            <a:extLst>
              <a:ext uri="{FF2B5EF4-FFF2-40B4-BE49-F238E27FC236}">
                <a16:creationId xmlns:a16="http://schemas.microsoft.com/office/drawing/2014/main" id="{725E1300-1995-409E-B058-59180872B694}"/>
              </a:ext>
            </a:extLst>
          </p:cNvPr>
          <p:cNvSpPr>
            <a:spLocks noGrp="1"/>
          </p:cNvSpPr>
          <p:nvPr>
            <p:ph type="sldNum" sz="quarter" idx="4"/>
          </p:nvPr>
        </p:nvSpPr>
        <p:spPr>
          <a:xfrm>
            <a:off x="10238232" y="6153912"/>
            <a:ext cx="1510856" cy="502920"/>
          </a:xfrm>
          <a:prstGeom prst="rect">
            <a:avLst/>
          </a:prstGeom>
        </p:spPr>
        <p:txBody>
          <a:bodyPr vert="horz" lIns="0" tIns="0" rIns="0" bIns="0" rtlCol="0" anchor="ctr"/>
          <a:lstStyle>
            <a:lvl1pPr algn="r">
              <a:defRPr sz="900">
                <a:solidFill>
                  <a:schemeClr val="tx2">
                    <a:alpha val="55000"/>
                  </a:schemeClr>
                </a:solidFill>
              </a:defRPr>
            </a:lvl1pPr>
          </a:lstStyle>
          <a:p>
            <a:fld id="{0D309695-DEC3-40DA-9DF5-330280C9D0E8}" type="slidenum">
              <a:rPr lang="en-US" smtClean="0"/>
              <a:pPr/>
              <a:t>‹#›</a:t>
            </a:fld>
            <a:endParaRPr lang="en-US" dirty="0"/>
          </a:p>
        </p:txBody>
      </p:sp>
      <p:sp>
        <p:nvSpPr>
          <p:cNvPr id="10" name="Date Placeholder 3">
            <a:extLst>
              <a:ext uri="{FF2B5EF4-FFF2-40B4-BE49-F238E27FC236}">
                <a16:creationId xmlns:a16="http://schemas.microsoft.com/office/drawing/2014/main" id="{639030E9-7F3B-403F-96B2-7C2C627C30A0}"/>
              </a:ext>
            </a:extLst>
          </p:cNvPr>
          <p:cNvSpPr>
            <a:spLocks noGrp="1"/>
          </p:cNvSpPr>
          <p:nvPr>
            <p:ph type="dt" sz="half" idx="2"/>
          </p:nvPr>
        </p:nvSpPr>
        <p:spPr>
          <a:xfrm>
            <a:off x="442912" y="6152968"/>
            <a:ext cx="3457576" cy="502920"/>
          </a:xfrm>
          <a:prstGeom prst="rect">
            <a:avLst/>
          </a:prstGeom>
        </p:spPr>
        <p:txBody>
          <a:bodyPr wrap="square" lIns="0" tIns="0" rIns="0" bIns="0" anchor="ctr" anchorCtr="0">
            <a:normAutofit/>
          </a:bodyPr>
          <a:lstStyle>
            <a:lvl1pPr>
              <a:defRPr sz="900" cap="all" spc="200" baseline="0">
                <a:solidFill>
                  <a:schemeClr val="tx1">
                    <a:alpha val="55000"/>
                  </a:schemeClr>
                </a:solidFill>
              </a:defRPr>
            </a:lvl1pPr>
          </a:lstStyle>
          <a:p>
            <a:fld id="{8256C2ED-54A4-480D-B5C8-65C0D62359B9}" type="datetime2">
              <a:rPr lang="en-US" smtClean="0"/>
              <a:pPr/>
              <a:t>Wednesday, October 20, 2021</a:t>
            </a:fld>
            <a:endParaRPr lang="en-US" dirty="0"/>
          </a:p>
        </p:txBody>
      </p:sp>
    </p:spTree>
    <p:extLst>
      <p:ext uri="{BB962C8B-B14F-4D97-AF65-F5344CB8AC3E}">
        <p14:creationId xmlns:p14="http://schemas.microsoft.com/office/powerpoint/2010/main" val="115728156"/>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hf sldNum="0" hdr="0" ftr="0" dt="0"/>
  <p:txStyles>
    <p:titleStyle>
      <a:lvl1pPr algn="l" defTabSz="914400" rtl="0" eaLnBrk="1" latinLnBrk="0" hangingPunct="1">
        <a:lnSpc>
          <a:spcPct val="90000"/>
        </a:lnSpc>
        <a:spcBef>
          <a:spcPct val="0"/>
        </a:spcBef>
        <a:buNone/>
        <a:defRPr sz="3200" i="1" kern="1200">
          <a:solidFill>
            <a:schemeClr val="tx2"/>
          </a:solidFill>
          <a:latin typeface="+mj-lt"/>
          <a:ea typeface="+mj-ea"/>
          <a:cs typeface="+mj-cs"/>
        </a:defRPr>
      </a:lvl1pPr>
    </p:titleStyle>
    <p:bodyStyle>
      <a:lvl1pPr marL="450000" indent="-448056" algn="l" defTabSz="914400" rtl="0" eaLnBrk="1" latinLnBrk="0" hangingPunct="1">
        <a:lnSpc>
          <a:spcPct val="120000"/>
        </a:lnSpc>
        <a:spcBef>
          <a:spcPts val="1000"/>
        </a:spcBef>
        <a:buFont typeface="Calibri Light" panose="020F0302020204030204" pitchFamily="34" charset="0"/>
        <a:buChar char="→"/>
        <a:defRPr sz="2200" kern="1200">
          <a:solidFill>
            <a:schemeClr val="tx2">
              <a:alpha val="55000"/>
            </a:schemeClr>
          </a:solidFill>
          <a:latin typeface="+mn-lt"/>
          <a:ea typeface="+mn-ea"/>
          <a:cs typeface="+mn-cs"/>
        </a:defRPr>
      </a:lvl1pPr>
      <a:lvl2pPr marL="900000" indent="-448056" algn="l" defTabSz="914400" rtl="0" eaLnBrk="1" latinLnBrk="0" hangingPunct="1">
        <a:lnSpc>
          <a:spcPct val="120000"/>
        </a:lnSpc>
        <a:spcBef>
          <a:spcPts val="500"/>
        </a:spcBef>
        <a:buFont typeface="Calibri Light" panose="020F0302020204030204" pitchFamily="34" charset="0"/>
        <a:buChar char="→"/>
        <a:defRPr sz="2200" kern="1200">
          <a:solidFill>
            <a:schemeClr val="tx2">
              <a:alpha val="55000"/>
            </a:schemeClr>
          </a:solidFill>
          <a:latin typeface="+mn-lt"/>
          <a:ea typeface="+mn-ea"/>
          <a:cs typeface="+mn-cs"/>
        </a:defRPr>
      </a:lvl2pPr>
      <a:lvl3pPr marL="1350000" indent="-448056" algn="l" defTabSz="914400" rtl="0" eaLnBrk="1" latinLnBrk="0" hangingPunct="1">
        <a:lnSpc>
          <a:spcPct val="120000"/>
        </a:lnSpc>
        <a:spcBef>
          <a:spcPts val="500"/>
        </a:spcBef>
        <a:buFont typeface="Calibri Light" panose="020F0302020204030204" pitchFamily="34" charset="0"/>
        <a:buChar char="→"/>
        <a:defRPr sz="2200" kern="1200">
          <a:solidFill>
            <a:schemeClr val="tx2">
              <a:alpha val="55000"/>
            </a:schemeClr>
          </a:solidFill>
          <a:latin typeface="+mn-lt"/>
          <a:ea typeface="+mn-ea"/>
          <a:cs typeface="+mn-cs"/>
        </a:defRPr>
      </a:lvl3pPr>
      <a:lvl4pPr marL="1800000" indent="-448056" algn="l" defTabSz="914400" rtl="0" eaLnBrk="1" latinLnBrk="0" hangingPunct="1">
        <a:lnSpc>
          <a:spcPct val="120000"/>
        </a:lnSpc>
        <a:spcBef>
          <a:spcPts val="500"/>
        </a:spcBef>
        <a:buFont typeface="Calibri Light" panose="020F0302020204030204" pitchFamily="34" charset="0"/>
        <a:buChar char="→"/>
        <a:defRPr sz="2200" kern="1200">
          <a:solidFill>
            <a:schemeClr val="tx2">
              <a:alpha val="55000"/>
            </a:schemeClr>
          </a:solidFill>
          <a:latin typeface="+mn-lt"/>
          <a:ea typeface="+mn-ea"/>
          <a:cs typeface="+mn-cs"/>
        </a:defRPr>
      </a:lvl4pPr>
      <a:lvl5pPr marL="2250000" indent="-448056" algn="l" defTabSz="914400" rtl="0" eaLnBrk="1" latinLnBrk="0" hangingPunct="1">
        <a:lnSpc>
          <a:spcPct val="120000"/>
        </a:lnSpc>
        <a:spcBef>
          <a:spcPts val="500"/>
        </a:spcBef>
        <a:buFont typeface="Calibri Light" panose="020F0302020204030204" pitchFamily="34" charset="0"/>
        <a:buChar char="→"/>
        <a:defRPr sz="2200" kern="1200">
          <a:solidFill>
            <a:schemeClr val="tx2">
              <a:alpha val="5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learn.heart.org/lms/nihss" TargetMode="External"/><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customXml" Target="../ink/ink8.xml"/><Relationship Id="rId13" Type="http://schemas.openxmlformats.org/officeDocument/2006/relationships/image" Target="../media/image21.png"/><Relationship Id="rId18" Type="http://schemas.openxmlformats.org/officeDocument/2006/relationships/customXml" Target="../ink/ink13.xml"/><Relationship Id="rId26" Type="http://schemas.openxmlformats.org/officeDocument/2006/relationships/customXml" Target="../ink/ink17.xml"/><Relationship Id="rId3" Type="http://schemas.openxmlformats.org/officeDocument/2006/relationships/image" Target="../media/image16.png"/><Relationship Id="rId21" Type="http://schemas.openxmlformats.org/officeDocument/2006/relationships/image" Target="../media/image25.png"/><Relationship Id="rId7" Type="http://schemas.openxmlformats.org/officeDocument/2006/relationships/image" Target="../media/image18.png"/><Relationship Id="rId12" Type="http://schemas.openxmlformats.org/officeDocument/2006/relationships/customXml" Target="../ink/ink10.xml"/><Relationship Id="rId17" Type="http://schemas.openxmlformats.org/officeDocument/2006/relationships/image" Target="../media/image23.png"/><Relationship Id="rId25" Type="http://schemas.openxmlformats.org/officeDocument/2006/relationships/image" Target="../media/image27.png"/><Relationship Id="rId2" Type="http://schemas.openxmlformats.org/officeDocument/2006/relationships/notesSlide" Target="../notesSlides/notesSlide7.xml"/><Relationship Id="rId16" Type="http://schemas.openxmlformats.org/officeDocument/2006/relationships/customXml" Target="../ink/ink12.xml"/><Relationship Id="rId20" Type="http://schemas.openxmlformats.org/officeDocument/2006/relationships/customXml" Target="../ink/ink14.xml"/><Relationship Id="rId29"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customXml" Target="../ink/ink7.xml"/><Relationship Id="rId11" Type="http://schemas.openxmlformats.org/officeDocument/2006/relationships/image" Target="../media/image20.png"/><Relationship Id="rId24" Type="http://schemas.openxmlformats.org/officeDocument/2006/relationships/customXml" Target="../ink/ink16.xml"/><Relationship Id="rId5" Type="http://schemas.openxmlformats.org/officeDocument/2006/relationships/image" Target="../media/image17.png"/><Relationship Id="rId15" Type="http://schemas.openxmlformats.org/officeDocument/2006/relationships/image" Target="../media/image22.png"/><Relationship Id="rId23" Type="http://schemas.openxmlformats.org/officeDocument/2006/relationships/image" Target="../media/image26.png"/><Relationship Id="rId28" Type="http://schemas.openxmlformats.org/officeDocument/2006/relationships/customXml" Target="../ink/ink18.xml"/><Relationship Id="rId10" Type="http://schemas.openxmlformats.org/officeDocument/2006/relationships/customXml" Target="../ink/ink9.xml"/><Relationship Id="rId19" Type="http://schemas.openxmlformats.org/officeDocument/2006/relationships/image" Target="../media/image24.png"/><Relationship Id="rId4" Type="http://schemas.openxmlformats.org/officeDocument/2006/relationships/customXml" Target="../ink/ink6.xml"/><Relationship Id="rId9" Type="http://schemas.openxmlformats.org/officeDocument/2006/relationships/image" Target="../media/image19.png"/><Relationship Id="rId14" Type="http://schemas.openxmlformats.org/officeDocument/2006/relationships/customXml" Target="../ink/ink11.xml"/><Relationship Id="rId22" Type="http://schemas.openxmlformats.org/officeDocument/2006/relationships/customXml" Target="../ink/ink15.xml"/><Relationship Id="rId27" Type="http://schemas.openxmlformats.org/officeDocument/2006/relationships/image" Target="../media/image28.png"/></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customXml" Target="../ink/ink1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7" name="Rectangle 8">
            <a:extLst>
              <a:ext uri="{FF2B5EF4-FFF2-40B4-BE49-F238E27FC236}">
                <a16:creationId xmlns:a16="http://schemas.microsoft.com/office/drawing/2014/main" id="{F2E5B6AE-5EFE-45F0-A2AE-ED771CA3D7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902376-5636-054C-9954-AF20B1D40F90}"/>
              </a:ext>
            </a:extLst>
          </p:cNvPr>
          <p:cNvSpPr>
            <a:spLocks noGrp="1"/>
          </p:cNvSpPr>
          <p:nvPr>
            <p:ph type="ctrTitle"/>
          </p:nvPr>
        </p:nvSpPr>
        <p:spPr>
          <a:xfrm>
            <a:off x="448055" y="662400"/>
            <a:ext cx="11293200" cy="1000800"/>
          </a:xfrm>
        </p:spPr>
        <p:txBody>
          <a:bodyPr anchor="ctr">
            <a:normAutofit/>
          </a:bodyPr>
          <a:lstStyle/>
          <a:p>
            <a:r>
              <a:rPr lang="en-US"/>
              <a:t>Cerebrovascular Disease</a:t>
            </a:r>
            <a:endParaRPr lang="en-US" dirty="0"/>
          </a:p>
        </p:txBody>
      </p:sp>
      <p:sp>
        <p:nvSpPr>
          <p:cNvPr id="3" name="Subtitle 2">
            <a:extLst>
              <a:ext uri="{FF2B5EF4-FFF2-40B4-BE49-F238E27FC236}">
                <a16:creationId xmlns:a16="http://schemas.microsoft.com/office/drawing/2014/main" id="{DD1B62D8-6C2A-F24D-BF41-611DFA72F0D9}"/>
              </a:ext>
            </a:extLst>
          </p:cNvPr>
          <p:cNvSpPr>
            <a:spLocks noGrp="1"/>
          </p:cNvSpPr>
          <p:nvPr>
            <p:ph type="subTitle" idx="1"/>
          </p:nvPr>
        </p:nvSpPr>
        <p:spPr>
          <a:xfrm>
            <a:off x="448055" y="1652400"/>
            <a:ext cx="11293200" cy="984885"/>
          </a:xfrm>
        </p:spPr>
        <p:txBody>
          <a:bodyPr anchor="ctr">
            <a:normAutofit/>
          </a:bodyPr>
          <a:lstStyle/>
          <a:p>
            <a:pPr>
              <a:lnSpc>
                <a:spcPct val="110000"/>
              </a:lnSpc>
            </a:pPr>
            <a:r>
              <a:rPr lang="en-US" sz="2100"/>
              <a:t>Jason Massa D.O.</a:t>
            </a:r>
          </a:p>
          <a:p>
            <a:pPr>
              <a:lnSpc>
                <a:spcPct val="110000"/>
              </a:lnSpc>
            </a:pPr>
            <a:r>
              <a:rPr lang="en-US" sz="2100"/>
              <a:t>IS-MSN Fall 2021</a:t>
            </a:r>
          </a:p>
        </p:txBody>
      </p:sp>
      <p:cxnSp>
        <p:nvCxnSpPr>
          <p:cNvPr id="18" name="Straight Connector 10">
            <a:extLst>
              <a:ext uri="{FF2B5EF4-FFF2-40B4-BE49-F238E27FC236}">
                <a16:creationId xmlns:a16="http://schemas.microsoft.com/office/drawing/2014/main" id="{D255B435-D9F3-4A31-B89E-36741390DB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0000" y="4500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19" name="Picture 3">
            <a:extLst>
              <a:ext uri="{FF2B5EF4-FFF2-40B4-BE49-F238E27FC236}">
                <a16:creationId xmlns:a16="http://schemas.microsoft.com/office/drawing/2014/main" id="{2B9DE202-E120-47ED-B546-DD9886430414}"/>
              </a:ext>
            </a:extLst>
          </p:cNvPr>
          <p:cNvPicPr>
            <a:picLocks noChangeAspect="1"/>
          </p:cNvPicPr>
          <p:nvPr/>
        </p:nvPicPr>
        <p:blipFill rotWithShape="1">
          <a:blip r:embed="rId3"/>
          <a:srcRect t="33878" b="34144"/>
          <a:stretch/>
        </p:blipFill>
        <p:spPr>
          <a:xfrm>
            <a:off x="20" y="2959198"/>
            <a:ext cx="12191980" cy="3898801"/>
          </a:xfrm>
          <a:prstGeom prst="rect">
            <a:avLst/>
          </a:prstGeom>
        </p:spPr>
      </p:pic>
    </p:spTree>
    <p:extLst>
      <p:ext uri="{BB962C8B-B14F-4D97-AF65-F5344CB8AC3E}">
        <p14:creationId xmlns:p14="http://schemas.microsoft.com/office/powerpoint/2010/main" val="39452266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D607D-5DAD-6348-ACCD-85624E6000AA}"/>
              </a:ext>
            </a:extLst>
          </p:cNvPr>
          <p:cNvSpPr>
            <a:spLocks noGrp="1"/>
          </p:cNvSpPr>
          <p:nvPr>
            <p:ph type="title"/>
          </p:nvPr>
        </p:nvSpPr>
        <p:spPr/>
        <p:txBody>
          <a:bodyPr/>
          <a:lstStyle/>
          <a:p>
            <a:r>
              <a:rPr lang="en-US" dirty="0"/>
              <a:t>Learning Objectives</a:t>
            </a:r>
          </a:p>
        </p:txBody>
      </p:sp>
      <p:sp>
        <p:nvSpPr>
          <p:cNvPr id="3" name="Content Placeholder 2">
            <a:extLst>
              <a:ext uri="{FF2B5EF4-FFF2-40B4-BE49-F238E27FC236}">
                <a16:creationId xmlns:a16="http://schemas.microsoft.com/office/drawing/2014/main" id="{0D375084-4363-E74D-BBA6-B4AC2C968762}"/>
              </a:ext>
            </a:extLst>
          </p:cNvPr>
          <p:cNvSpPr>
            <a:spLocks noGrp="1"/>
          </p:cNvSpPr>
          <p:nvPr>
            <p:ph idx="1"/>
          </p:nvPr>
        </p:nvSpPr>
        <p:spPr>
          <a:xfrm>
            <a:off x="448056" y="1008186"/>
            <a:ext cx="11502206" cy="5627076"/>
          </a:xfrm>
        </p:spPr>
        <p:txBody>
          <a:bodyPr>
            <a:normAutofit fontScale="92500" lnSpcReduction="20000"/>
          </a:bodyPr>
          <a:lstStyle/>
          <a:p>
            <a:pPr>
              <a:buFont typeface="Arial" panose="020B0604020202020204" pitchFamily="34" charset="0"/>
              <a:buChar char="•"/>
            </a:pPr>
            <a:r>
              <a:rPr lang="en-US" b="1" dirty="0">
                <a:solidFill>
                  <a:srgbClr val="FFC000">
                    <a:alpha val="55000"/>
                  </a:srgbClr>
                </a:solidFill>
              </a:rPr>
              <a:t>Acute Ischemic Stroke:</a:t>
            </a:r>
          </a:p>
          <a:p>
            <a:pPr lvl="1">
              <a:buFont typeface="Arial" panose="020B0604020202020204" pitchFamily="34" charset="0"/>
              <a:buChar char="•"/>
            </a:pPr>
            <a:r>
              <a:rPr lang="en-US" dirty="0"/>
              <a:t>Appreciate and be able to counsel your patients regarding risk of stroke based on risk factors</a:t>
            </a:r>
          </a:p>
          <a:p>
            <a:pPr lvl="1">
              <a:buFont typeface="Arial" panose="020B0604020202020204" pitchFamily="34" charset="0"/>
              <a:buChar char="•"/>
            </a:pPr>
            <a:r>
              <a:rPr lang="en-US" dirty="0"/>
              <a:t>Participate in the evaluation and treatment of patients presenting with acute stroke syndromes. </a:t>
            </a:r>
          </a:p>
          <a:p>
            <a:pPr lvl="1">
              <a:buFont typeface="Arial" panose="020B0604020202020204" pitchFamily="34" charset="0"/>
              <a:buChar char="•"/>
            </a:pPr>
            <a:r>
              <a:rPr lang="en-US" dirty="0"/>
              <a:t>Initiate therapies for secondary stroke prevention.</a:t>
            </a:r>
          </a:p>
          <a:p>
            <a:pPr>
              <a:buFont typeface="Arial" panose="020B0604020202020204" pitchFamily="34" charset="0"/>
              <a:buChar char="•"/>
            </a:pPr>
            <a:r>
              <a:rPr lang="en-US" b="1" dirty="0">
                <a:solidFill>
                  <a:srgbClr val="FFC000">
                    <a:alpha val="55000"/>
                  </a:srgbClr>
                </a:solidFill>
              </a:rPr>
              <a:t>Transient Ischemic Attack </a:t>
            </a:r>
          </a:p>
          <a:p>
            <a:pPr lvl="1">
              <a:buFont typeface="Arial" panose="020B0604020202020204" pitchFamily="34" charset="0"/>
              <a:buChar char="•"/>
            </a:pPr>
            <a:r>
              <a:rPr lang="en-US" dirty="0"/>
              <a:t>Understand the work up for a patient presenting with transient neurologic deficits and differentiate from acute stroke syndrome. </a:t>
            </a:r>
          </a:p>
          <a:p>
            <a:pPr lvl="1">
              <a:buFont typeface="Arial" panose="020B0604020202020204" pitchFamily="34" charset="0"/>
              <a:buChar char="•"/>
            </a:pPr>
            <a:r>
              <a:rPr lang="en-US" dirty="0"/>
              <a:t>Initiate therapies to reduce risk of future stroke. </a:t>
            </a:r>
          </a:p>
          <a:p>
            <a:pPr>
              <a:buFont typeface="Arial" panose="020B0604020202020204" pitchFamily="34" charset="0"/>
              <a:buChar char="•"/>
            </a:pPr>
            <a:r>
              <a:rPr lang="en-US" b="1" dirty="0">
                <a:solidFill>
                  <a:srgbClr val="FFC000">
                    <a:alpha val="55000"/>
                  </a:srgbClr>
                </a:solidFill>
              </a:rPr>
              <a:t>Cardioembolic stroke</a:t>
            </a:r>
          </a:p>
          <a:p>
            <a:pPr lvl="1">
              <a:buFont typeface="Arial" panose="020B0604020202020204" pitchFamily="34" charset="0"/>
              <a:buChar char="•"/>
            </a:pPr>
            <a:r>
              <a:rPr lang="en-US" dirty="0"/>
              <a:t>Appreciate the tell-tale signs of a cardioembolic stroke based on risk factors, history and diagnostic work up. </a:t>
            </a:r>
          </a:p>
          <a:p>
            <a:pPr lvl="1">
              <a:buFont typeface="Arial" panose="020B0604020202020204" pitchFamily="34" charset="0"/>
              <a:buChar char="•"/>
            </a:pPr>
            <a:r>
              <a:rPr lang="en-US" dirty="0"/>
              <a:t>Understand benefits and potential risks for treatment depending on cause and stratification of this patient population. </a:t>
            </a:r>
          </a:p>
          <a:p>
            <a:pPr>
              <a:buFont typeface="Arial" panose="020B0604020202020204" pitchFamily="34" charset="0"/>
              <a:buChar char="•"/>
            </a:pPr>
            <a:r>
              <a:rPr lang="en-US" b="1" dirty="0">
                <a:solidFill>
                  <a:srgbClr val="FFC000">
                    <a:alpha val="55000"/>
                  </a:srgbClr>
                </a:solidFill>
              </a:rPr>
              <a:t>Intracerebral Hemorrhage</a:t>
            </a:r>
          </a:p>
          <a:p>
            <a:pPr lvl="1">
              <a:buFont typeface="Arial" panose="020B0604020202020204" pitchFamily="34" charset="0"/>
              <a:buChar char="•"/>
            </a:pPr>
            <a:r>
              <a:rPr lang="en-US" dirty="0"/>
              <a:t>Know the most common causes and their differentiating characteristics.</a:t>
            </a:r>
          </a:p>
          <a:p>
            <a:pPr lvl="1"/>
            <a:endParaRPr lang="en-US" dirty="0"/>
          </a:p>
        </p:txBody>
      </p:sp>
    </p:spTree>
    <p:extLst>
      <p:ext uri="{BB962C8B-B14F-4D97-AF65-F5344CB8AC3E}">
        <p14:creationId xmlns:p14="http://schemas.microsoft.com/office/powerpoint/2010/main" val="1940572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D607D-5DAD-6348-ACCD-85624E6000AA}"/>
              </a:ext>
            </a:extLst>
          </p:cNvPr>
          <p:cNvSpPr>
            <a:spLocks noGrp="1"/>
          </p:cNvSpPr>
          <p:nvPr>
            <p:ph type="title"/>
          </p:nvPr>
        </p:nvSpPr>
        <p:spPr/>
        <p:txBody>
          <a:bodyPr/>
          <a:lstStyle/>
          <a:p>
            <a:r>
              <a:rPr lang="en-US" dirty="0"/>
              <a:t>Learning Objectives</a:t>
            </a:r>
          </a:p>
        </p:txBody>
      </p:sp>
      <p:sp>
        <p:nvSpPr>
          <p:cNvPr id="3" name="Content Placeholder 2">
            <a:extLst>
              <a:ext uri="{FF2B5EF4-FFF2-40B4-BE49-F238E27FC236}">
                <a16:creationId xmlns:a16="http://schemas.microsoft.com/office/drawing/2014/main" id="{0D375084-4363-E74D-BBA6-B4AC2C968762}"/>
              </a:ext>
            </a:extLst>
          </p:cNvPr>
          <p:cNvSpPr>
            <a:spLocks noGrp="1"/>
          </p:cNvSpPr>
          <p:nvPr>
            <p:ph idx="1"/>
          </p:nvPr>
        </p:nvSpPr>
        <p:spPr>
          <a:xfrm>
            <a:off x="448056" y="1008186"/>
            <a:ext cx="11502206" cy="5627076"/>
          </a:xfrm>
        </p:spPr>
        <p:txBody>
          <a:bodyPr>
            <a:normAutofit/>
          </a:bodyPr>
          <a:lstStyle/>
          <a:p>
            <a:pPr>
              <a:buFont typeface="Arial" panose="020B0604020202020204" pitchFamily="34" charset="0"/>
              <a:buChar char="•"/>
            </a:pPr>
            <a:r>
              <a:rPr lang="en-US" b="1" dirty="0">
                <a:solidFill>
                  <a:srgbClr val="FFC000">
                    <a:alpha val="55000"/>
                  </a:srgbClr>
                </a:solidFill>
              </a:rPr>
              <a:t>Subarachnoid Hemorrhage:</a:t>
            </a:r>
          </a:p>
          <a:p>
            <a:pPr lvl="1">
              <a:buFont typeface="Arial" panose="020B0604020202020204" pitchFamily="34" charset="0"/>
              <a:buChar char="•"/>
            </a:pPr>
            <a:r>
              <a:rPr lang="en-US" dirty="0"/>
              <a:t>Recognize clinical presentation of subarachnoid hemorrhage</a:t>
            </a:r>
          </a:p>
          <a:p>
            <a:pPr lvl="1">
              <a:buFont typeface="Arial" panose="020B0604020202020204" pitchFamily="34" charset="0"/>
              <a:buChar char="•"/>
            </a:pPr>
            <a:r>
              <a:rPr lang="en-US" dirty="0"/>
              <a:t>Understand the different types of subarachnoid hemorrhage and risk factors</a:t>
            </a:r>
          </a:p>
          <a:p>
            <a:pPr lvl="1">
              <a:buFont typeface="Arial" panose="020B0604020202020204" pitchFamily="34" charset="0"/>
              <a:buChar char="•"/>
            </a:pPr>
            <a:r>
              <a:rPr lang="en-US" dirty="0"/>
              <a:t>Initiate therapies for hemorrhage and prevention of further bleeding</a:t>
            </a:r>
          </a:p>
          <a:p>
            <a:pPr>
              <a:buFont typeface="Arial" panose="020B0604020202020204" pitchFamily="34" charset="0"/>
              <a:buChar char="•"/>
            </a:pPr>
            <a:r>
              <a:rPr lang="en-US" b="1" dirty="0">
                <a:solidFill>
                  <a:srgbClr val="FFC000">
                    <a:alpha val="55000"/>
                  </a:srgbClr>
                </a:solidFill>
              </a:rPr>
              <a:t>Venous Sinus Thrombosis</a:t>
            </a:r>
          </a:p>
          <a:p>
            <a:pPr lvl="1">
              <a:buFont typeface="Arial" panose="020B0604020202020204" pitchFamily="34" charset="0"/>
              <a:buChar char="•"/>
            </a:pPr>
            <a:r>
              <a:rPr lang="en-US" dirty="0"/>
              <a:t>Understand the diverse clinical presentation of DVST</a:t>
            </a:r>
          </a:p>
          <a:p>
            <a:pPr lvl="1">
              <a:buFont typeface="Arial" panose="020B0604020202020204" pitchFamily="34" charset="0"/>
              <a:buChar char="•"/>
            </a:pPr>
            <a:r>
              <a:rPr lang="en-US" dirty="0"/>
              <a:t>Recognize significant risk factors, most susceptible populations.</a:t>
            </a:r>
          </a:p>
          <a:p>
            <a:pPr lvl="1">
              <a:buFont typeface="Arial" panose="020B0604020202020204" pitchFamily="34" charset="0"/>
              <a:buChar char="•"/>
            </a:pPr>
            <a:r>
              <a:rPr lang="en-US" dirty="0"/>
              <a:t>Initiate therapies to reduce morbidity and mortality.</a:t>
            </a:r>
          </a:p>
        </p:txBody>
      </p:sp>
    </p:spTree>
    <p:extLst>
      <p:ext uri="{BB962C8B-B14F-4D97-AF65-F5344CB8AC3E}">
        <p14:creationId xmlns:p14="http://schemas.microsoft.com/office/powerpoint/2010/main" val="1248042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8CB6F-C6DB-2449-A90F-DB6082385AAD}"/>
              </a:ext>
            </a:extLst>
          </p:cNvPr>
          <p:cNvSpPr>
            <a:spLocks noGrp="1"/>
          </p:cNvSpPr>
          <p:nvPr>
            <p:ph type="title"/>
          </p:nvPr>
        </p:nvSpPr>
        <p:spPr/>
        <p:txBody>
          <a:bodyPr/>
          <a:lstStyle/>
          <a:p>
            <a:r>
              <a:rPr lang="en-US" dirty="0"/>
              <a:t>Definitions</a:t>
            </a:r>
          </a:p>
        </p:txBody>
      </p:sp>
      <p:sp>
        <p:nvSpPr>
          <p:cNvPr id="3" name="Text Placeholder 2">
            <a:extLst>
              <a:ext uri="{FF2B5EF4-FFF2-40B4-BE49-F238E27FC236}">
                <a16:creationId xmlns:a16="http://schemas.microsoft.com/office/drawing/2014/main" id="{5FAD44FE-EF1C-3846-8861-AAFAED7A5CA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61045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E99AC95-9FC1-42BD-A490-2EDBABE7C2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A99D7A-62B0-B646-87A2-D5123DBD9522}"/>
              </a:ext>
            </a:extLst>
          </p:cNvPr>
          <p:cNvSpPr>
            <a:spLocks noGrp="1"/>
          </p:cNvSpPr>
          <p:nvPr>
            <p:ph type="title"/>
          </p:nvPr>
        </p:nvSpPr>
        <p:spPr>
          <a:xfrm>
            <a:off x="448056" y="388800"/>
            <a:ext cx="7380000" cy="860400"/>
          </a:xfrm>
        </p:spPr>
        <p:txBody>
          <a:bodyPr anchor="b">
            <a:normAutofit/>
          </a:bodyPr>
          <a:lstStyle/>
          <a:p>
            <a:r>
              <a:rPr lang="en-US" dirty="0"/>
              <a:t>What is a Stroke?</a:t>
            </a:r>
          </a:p>
        </p:txBody>
      </p:sp>
      <p:cxnSp>
        <p:nvCxnSpPr>
          <p:cNvPr id="18" name="Straight Connector 17">
            <a:extLst>
              <a:ext uri="{FF2B5EF4-FFF2-40B4-BE49-F238E27FC236}">
                <a16:creationId xmlns:a16="http://schemas.microsoft.com/office/drawing/2014/main" id="{B32E796E-8D19-4926-B7B8-653B019390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0000" y="1609200"/>
            <a:ext cx="73836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E27E5A5-0A6D-0544-8A75-2D26E7780E54}"/>
              </a:ext>
            </a:extLst>
          </p:cNvPr>
          <p:cNvSpPr>
            <a:spLocks noGrp="1"/>
          </p:cNvSpPr>
          <p:nvPr>
            <p:ph idx="1"/>
          </p:nvPr>
        </p:nvSpPr>
        <p:spPr>
          <a:xfrm>
            <a:off x="448056" y="1944000"/>
            <a:ext cx="7380000" cy="4006800"/>
          </a:xfrm>
        </p:spPr>
        <p:txBody>
          <a:bodyPr>
            <a:normAutofit fontScale="92500" lnSpcReduction="10000"/>
          </a:bodyPr>
          <a:lstStyle/>
          <a:p>
            <a:r>
              <a:rPr lang="en-US" b="1" u="sng" dirty="0">
                <a:solidFill>
                  <a:srgbClr val="FFFF00">
                    <a:alpha val="55000"/>
                  </a:srgbClr>
                </a:solidFill>
              </a:rPr>
              <a:t>Lack of oxygen</a:t>
            </a:r>
            <a:r>
              <a:rPr lang="en-US" b="1" dirty="0">
                <a:solidFill>
                  <a:srgbClr val="FFFF00">
                    <a:alpha val="55000"/>
                  </a:srgbClr>
                </a:solidFill>
              </a:rPr>
              <a:t> </a:t>
            </a:r>
            <a:r>
              <a:rPr lang="en-US" b="1" dirty="0"/>
              <a:t>to the brain or spinal cord resulting in ischemia and/or infarction</a:t>
            </a:r>
          </a:p>
          <a:p>
            <a:r>
              <a:rPr lang="en-US" b="1" dirty="0"/>
              <a:t>Causes: </a:t>
            </a:r>
          </a:p>
          <a:p>
            <a:pPr lvl="1"/>
            <a:r>
              <a:rPr lang="en-US" b="1" dirty="0"/>
              <a:t>Ischemic stroke</a:t>
            </a:r>
          </a:p>
          <a:p>
            <a:pPr lvl="2"/>
            <a:r>
              <a:rPr lang="en-US" dirty="0"/>
              <a:t>Can be ‘silent’ or without symptoms</a:t>
            </a:r>
          </a:p>
          <a:p>
            <a:pPr lvl="1"/>
            <a:r>
              <a:rPr lang="en-US" b="1" dirty="0"/>
              <a:t>Hemorrhagic stroke</a:t>
            </a:r>
          </a:p>
          <a:p>
            <a:pPr lvl="2"/>
            <a:r>
              <a:rPr lang="en-US" dirty="0"/>
              <a:t>Intracerebral hemorrhage</a:t>
            </a:r>
          </a:p>
          <a:p>
            <a:pPr lvl="2"/>
            <a:r>
              <a:rPr lang="en-US" dirty="0"/>
              <a:t>Subarachnoid hemorrhage </a:t>
            </a:r>
          </a:p>
          <a:p>
            <a:pPr lvl="1"/>
            <a:r>
              <a:rPr lang="en-US" b="1" dirty="0"/>
              <a:t>Cerebral venous thrombosis </a:t>
            </a:r>
          </a:p>
          <a:p>
            <a:pPr lvl="1"/>
            <a:r>
              <a:rPr lang="en-US" dirty="0"/>
              <a:t>Other: “Stroke, NOS”</a:t>
            </a:r>
          </a:p>
        </p:txBody>
      </p:sp>
      <p:pic>
        <p:nvPicPr>
          <p:cNvPr id="11" name="Picture 10" descr="Text, letter&#10;&#10;Description automatically generated">
            <a:extLst>
              <a:ext uri="{FF2B5EF4-FFF2-40B4-BE49-F238E27FC236}">
                <a16:creationId xmlns:a16="http://schemas.microsoft.com/office/drawing/2014/main" id="{30D27F99-C954-AF41-8394-92651ED396DC}"/>
              </a:ext>
            </a:extLst>
          </p:cNvPr>
          <p:cNvPicPr>
            <a:picLocks noChangeAspect="1"/>
          </p:cNvPicPr>
          <p:nvPr/>
        </p:nvPicPr>
        <p:blipFill>
          <a:blip r:embed="rId2"/>
          <a:stretch>
            <a:fillRect/>
          </a:stretch>
        </p:blipFill>
        <p:spPr>
          <a:xfrm>
            <a:off x="8618703" y="450000"/>
            <a:ext cx="2767770" cy="5508000"/>
          </a:xfrm>
          <a:prstGeom prst="rect">
            <a:avLst/>
          </a:prstGeom>
        </p:spPr>
      </p:pic>
    </p:spTree>
    <p:extLst>
      <p:ext uri="{BB962C8B-B14F-4D97-AF65-F5344CB8AC3E}">
        <p14:creationId xmlns:p14="http://schemas.microsoft.com/office/powerpoint/2010/main" val="594717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2" name="Rectangle 7">
            <a:extLst>
              <a:ext uri="{FF2B5EF4-FFF2-40B4-BE49-F238E27FC236}">
                <a16:creationId xmlns:a16="http://schemas.microsoft.com/office/drawing/2014/main" id="{871D199B-5E15-43A6-BA31-F5CDFDB3A9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8E64C92-4CC9-8B4E-A361-87CC631D0074}"/>
              </a:ext>
            </a:extLst>
          </p:cNvPr>
          <p:cNvSpPr>
            <a:spLocks noGrp="1"/>
          </p:cNvSpPr>
          <p:nvPr>
            <p:ph type="title"/>
          </p:nvPr>
        </p:nvSpPr>
        <p:spPr>
          <a:xfrm>
            <a:off x="448056" y="393192"/>
            <a:ext cx="11301984" cy="859536"/>
          </a:xfrm>
        </p:spPr>
        <p:txBody>
          <a:bodyPr anchor="b">
            <a:normAutofit/>
          </a:bodyPr>
          <a:lstStyle/>
          <a:p>
            <a:r>
              <a:rPr lang="en-US" dirty="0"/>
              <a:t>Time is brain…</a:t>
            </a:r>
          </a:p>
        </p:txBody>
      </p:sp>
      <p:cxnSp>
        <p:nvCxnSpPr>
          <p:cNvPr id="13" name="Straight Connector 9">
            <a:extLst>
              <a:ext uri="{FF2B5EF4-FFF2-40B4-BE49-F238E27FC236}">
                <a16:creationId xmlns:a16="http://schemas.microsoft.com/office/drawing/2014/main" id="{6C52BBAB-664F-48C3-A5C1-4CE9D3555D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9400" y="16092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B44EECE-5C47-2F44-BDCA-4387581FFF35}"/>
              </a:ext>
            </a:extLst>
          </p:cNvPr>
          <p:cNvSpPr>
            <a:spLocks noGrp="1"/>
          </p:cNvSpPr>
          <p:nvPr>
            <p:ph idx="1"/>
          </p:nvPr>
        </p:nvSpPr>
        <p:spPr>
          <a:xfrm>
            <a:off x="448055" y="1947672"/>
            <a:ext cx="10993667" cy="4605528"/>
          </a:xfrm>
        </p:spPr>
        <p:txBody>
          <a:bodyPr>
            <a:normAutofit lnSpcReduction="10000"/>
          </a:bodyPr>
          <a:lstStyle/>
          <a:p>
            <a:pPr>
              <a:lnSpc>
                <a:spcPct val="110000"/>
              </a:lnSpc>
            </a:pPr>
            <a:r>
              <a:rPr lang="en-US" dirty="0"/>
              <a:t>A </a:t>
            </a:r>
            <a:r>
              <a:rPr lang="en-US" b="1" dirty="0">
                <a:solidFill>
                  <a:srgbClr val="FFFF00">
                    <a:alpha val="55000"/>
                  </a:srgbClr>
                </a:solidFill>
              </a:rPr>
              <a:t>sudden onset of neurological deficit </a:t>
            </a:r>
            <a:r>
              <a:rPr lang="en-US" dirty="0"/>
              <a:t>is the unifying concept in stroke</a:t>
            </a:r>
          </a:p>
          <a:p>
            <a:pPr>
              <a:lnSpc>
                <a:spcPct val="110000"/>
              </a:lnSpc>
            </a:pPr>
            <a:r>
              <a:rPr lang="en-US" dirty="0"/>
              <a:t>Stroke is a clinical diagnosis</a:t>
            </a:r>
          </a:p>
          <a:p>
            <a:pPr lvl="1">
              <a:lnSpc>
                <a:spcPct val="110000"/>
              </a:lnSpc>
            </a:pPr>
            <a:r>
              <a:rPr lang="en-US" dirty="0"/>
              <a:t>Rapid bedside assessment establishes a diagnosis of stroke but not underlying mechanism</a:t>
            </a:r>
          </a:p>
          <a:p>
            <a:pPr lvl="1">
              <a:lnSpc>
                <a:spcPct val="110000"/>
              </a:lnSpc>
            </a:pPr>
            <a:r>
              <a:rPr lang="en-US" dirty="0"/>
              <a:t>To distinguish among different mechanisms requires imaging and sometimes laboratory workup</a:t>
            </a:r>
          </a:p>
          <a:p>
            <a:pPr>
              <a:lnSpc>
                <a:spcPct val="110000"/>
              </a:lnSpc>
            </a:pPr>
            <a:r>
              <a:rPr lang="en-US" dirty="0"/>
              <a:t>Ischemia refers to inadequate blood flow, causes include:</a:t>
            </a:r>
          </a:p>
          <a:p>
            <a:pPr lvl="1">
              <a:lnSpc>
                <a:spcPct val="110000"/>
              </a:lnSpc>
            </a:pPr>
            <a:r>
              <a:rPr lang="en-US" dirty="0"/>
              <a:t>Embolism</a:t>
            </a:r>
          </a:p>
          <a:p>
            <a:pPr lvl="1">
              <a:lnSpc>
                <a:spcPct val="110000"/>
              </a:lnSpc>
            </a:pPr>
            <a:r>
              <a:rPr lang="en-US" dirty="0"/>
              <a:t>Thrombosis</a:t>
            </a:r>
          </a:p>
          <a:p>
            <a:pPr lvl="1">
              <a:lnSpc>
                <a:spcPct val="110000"/>
              </a:lnSpc>
            </a:pPr>
            <a:r>
              <a:rPr lang="en-US" dirty="0"/>
              <a:t>Hemorrhage</a:t>
            </a:r>
          </a:p>
          <a:p>
            <a:pPr>
              <a:lnSpc>
                <a:spcPct val="110000"/>
              </a:lnSpc>
            </a:pPr>
            <a:r>
              <a:rPr lang="en-US" b="1" dirty="0">
                <a:solidFill>
                  <a:schemeClr val="accent6">
                    <a:alpha val="55000"/>
                  </a:schemeClr>
                </a:solidFill>
              </a:rPr>
              <a:t>Infarct is cell death, time is brain</a:t>
            </a:r>
          </a:p>
        </p:txBody>
      </p:sp>
    </p:spTree>
    <p:extLst>
      <p:ext uri="{BB962C8B-B14F-4D97-AF65-F5344CB8AC3E}">
        <p14:creationId xmlns:p14="http://schemas.microsoft.com/office/powerpoint/2010/main" val="2042942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E21CA63-4B99-4925-8CAF-F408D7AB0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7C85AB-919D-A749-A949-381A3FECD9B5}"/>
              </a:ext>
            </a:extLst>
          </p:cNvPr>
          <p:cNvSpPr>
            <a:spLocks noGrp="1"/>
          </p:cNvSpPr>
          <p:nvPr>
            <p:ph type="title"/>
          </p:nvPr>
        </p:nvSpPr>
        <p:spPr>
          <a:xfrm>
            <a:off x="448056" y="388799"/>
            <a:ext cx="2854800" cy="5965199"/>
          </a:xfrm>
        </p:spPr>
        <p:txBody>
          <a:bodyPr>
            <a:normAutofit/>
          </a:bodyPr>
          <a:lstStyle/>
          <a:p>
            <a:r>
              <a:rPr lang="en-US" dirty="0"/>
              <a:t>Different strokes for different folks</a:t>
            </a:r>
          </a:p>
        </p:txBody>
      </p:sp>
      <p:cxnSp>
        <p:nvCxnSpPr>
          <p:cNvPr id="11" name="Straight Connector 10">
            <a:extLst>
              <a:ext uri="{FF2B5EF4-FFF2-40B4-BE49-F238E27FC236}">
                <a16:creationId xmlns:a16="http://schemas.microsoft.com/office/drawing/2014/main" id="{7F935FD8-9F2E-4F15-8ED9-1C692DA6F35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44000" y="450000"/>
            <a:ext cx="0" cy="5965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C2AC7382-00F4-4346-AD0A-3FA23B7523DF}"/>
              </a:ext>
            </a:extLst>
          </p:cNvPr>
          <p:cNvGraphicFramePr>
            <a:graphicFrameLocks noGrp="1"/>
          </p:cNvGraphicFramePr>
          <p:nvPr>
            <p:ph idx="1"/>
            <p:extLst>
              <p:ext uri="{D42A27DB-BD31-4B8C-83A1-F6EECF244321}">
                <p14:modId xmlns:p14="http://schemas.microsoft.com/office/powerpoint/2010/main" val="267702026"/>
              </p:ext>
            </p:extLst>
          </p:nvPr>
        </p:nvGraphicFramePr>
        <p:xfrm>
          <a:off x="4194000" y="449997"/>
          <a:ext cx="7084788" cy="59580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86551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D6BCA94-FEDC-4F9B-820A-BA138802E2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D8766F-351D-754B-A42D-A7E9369D9F88}"/>
              </a:ext>
            </a:extLst>
          </p:cNvPr>
          <p:cNvSpPr>
            <a:spLocks noGrp="1"/>
          </p:cNvSpPr>
          <p:nvPr>
            <p:ph type="title"/>
          </p:nvPr>
        </p:nvSpPr>
        <p:spPr>
          <a:xfrm>
            <a:off x="448056" y="388800"/>
            <a:ext cx="11300532" cy="986400"/>
          </a:xfrm>
        </p:spPr>
        <p:txBody>
          <a:bodyPr anchor="b">
            <a:normAutofit/>
          </a:bodyPr>
          <a:lstStyle/>
          <a:p>
            <a:r>
              <a:rPr lang="en-US" sz="6400"/>
              <a:t>Epidemiology</a:t>
            </a:r>
          </a:p>
        </p:txBody>
      </p:sp>
      <p:cxnSp>
        <p:nvCxnSpPr>
          <p:cNvPr id="11" name="Straight Connector 10">
            <a:extLst>
              <a:ext uri="{FF2B5EF4-FFF2-40B4-BE49-F238E27FC236}">
                <a16:creationId xmlns:a16="http://schemas.microsoft.com/office/drawing/2014/main" id="{B32E796E-8D19-4926-B7B8-653B019390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0000" y="1609200"/>
            <a:ext cx="113004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860F992-1136-8841-94CB-524EDB992A90}"/>
              </a:ext>
            </a:extLst>
          </p:cNvPr>
          <p:cNvSpPr>
            <a:spLocks noGrp="1"/>
          </p:cNvSpPr>
          <p:nvPr>
            <p:ph idx="1"/>
          </p:nvPr>
        </p:nvSpPr>
        <p:spPr>
          <a:xfrm>
            <a:off x="6311900" y="1944000"/>
            <a:ext cx="5434900" cy="4006800"/>
          </a:xfrm>
        </p:spPr>
        <p:txBody>
          <a:bodyPr>
            <a:normAutofit fontScale="85000" lnSpcReduction="10000"/>
          </a:bodyPr>
          <a:lstStyle/>
          <a:p>
            <a:pPr>
              <a:lnSpc>
                <a:spcPct val="110000"/>
              </a:lnSpc>
            </a:pPr>
            <a:r>
              <a:rPr lang="en-US" sz="2000" dirty="0"/>
              <a:t>Stroke is the second most common cause of mortality and third most common cause of disability worldwide. </a:t>
            </a:r>
          </a:p>
          <a:p>
            <a:pPr>
              <a:lnSpc>
                <a:spcPct val="110000"/>
              </a:lnSpc>
            </a:pPr>
            <a:r>
              <a:rPr lang="en-US" sz="2000" dirty="0"/>
              <a:t>Globally, 68% of all strokes are ischemic and 32% are hemorrhagic. </a:t>
            </a:r>
          </a:p>
          <a:p>
            <a:pPr>
              <a:lnSpc>
                <a:spcPct val="110000"/>
              </a:lnSpc>
            </a:pPr>
            <a:r>
              <a:rPr lang="en-US" sz="2000" dirty="0"/>
              <a:t>In the US: </a:t>
            </a:r>
          </a:p>
          <a:p>
            <a:pPr lvl="1">
              <a:lnSpc>
                <a:spcPct val="110000"/>
              </a:lnSpc>
            </a:pPr>
            <a:r>
              <a:rPr lang="en-US" sz="2000" dirty="0"/>
              <a:t>5</a:t>
            </a:r>
            <a:r>
              <a:rPr lang="en-US" sz="2000" baseline="30000" dirty="0"/>
              <a:t>TH</a:t>
            </a:r>
            <a:r>
              <a:rPr lang="en-US" sz="2000" dirty="0"/>
              <a:t> Leading Cause of Death in US (2016)</a:t>
            </a:r>
          </a:p>
          <a:p>
            <a:pPr lvl="1">
              <a:lnSpc>
                <a:spcPct val="110000"/>
              </a:lnSpc>
            </a:pPr>
            <a:r>
              <a:rPr lang="en-US" sz="2000" dirty="0"/>
              <a:t>87% of all strokes are ischemic</a:t>
            </a:r>
          </a:p>
          <a:p>
            <a:pPr lvl="1">
              <a:lnSpc>
                <a:spcPct val="110000"/>
              </a:lnSpc>
            </a:pPr>
            <a:r>
              <a:rPr lang="en-US" sz="2000" dirty="0"/>
              <a:t>10% hemorrhagic </a:t>
            </a:r>
          </a:p>
          <a:p>
            <a:pPr lvl="1">
              <a:lnSpc>
                <a:spcPct val="110000"/>
              </a:lnSpc>
            </a:pPr>
            <a:r>
              <a:rPr lang="en-US" sz="2000" dirty="0"/>
              <a:t>3% being subarachnoid hemorrhage</a:t>
            </a:r>
          </a:p>
          <a:p>
            <a:pPr lvl="1">
              <a:lnSpc>
                <a:spcPct val="110000"/>
              </a:lnSpc>
            </a:pPr>
            <a:r>
              <a:rPr lang="en-US" sz="2000" dirty="0"/>
              <a:t>A stroke occurs every 40 seconds in the US </a:t>
            </a:r>
          </a:p>
          <a:p>
            <a:pPr lvl="2">
              <a:lnSpc>
                <a:spcPct val="110000"/>
              </a:lnSpc>
            </a:pPr>
            <a:r>
              <a:rPr lang="en-US" sz="2000" dirty="0"/>
              <a:t>Every 3 minutes and 42 seconds a death from stroke occurs in US (2016)</a:t>
            </a:r>
          </a:p>
          <a:p>
            <a:pPr lvl="1">
              <a:lnSpc>
                <a:spcPct val="110000"/>
              </a:lnSpc>
            </a:pPr>
            <a:endParaRPr lang="en-US" sz="1700" dirty="0"/>
          </a:p>
        </p:txBody>
      </p:sp>
      <p:graphicFrame>
        <p:nvGraphicFramePr>
          <p:cNvPr id="4" name="Content Placeholder 3">
            <a:extLst>
              <a:ext uri="{FF2B5EF4-FFF2-40B4-BE49-F238E27FC236}">
                <a16:creationId xmlns:a16="http://schemas.microsoft.com/office/drawing/2014/main" id="{75213660-CA6A-484B-825F-7F2935405742}"/>
              </a:ext>
            </a:extLst>
          </p:cNvPr>
          <p:cNvGraphicFramePr>
            <a:graphicFrameLocks/>
          </p:cNvGraphicFramePr>
          <p:nvPr>
            <p:extLst>
              <p:ext uri="{D42A27DB-BD31-4B8C-83A1-F6EECF244321}">
                <p14:modId xmlns:p14="http://schemas.microsoft.com/office/powerpoint/2010/main" val="4274367053"/>
              </p:ext>
            </p:extLst>
          </p:nvPr>
        </p:nvGraphicFramePr>
        <p:xfrm>
          <a:off x="664685" y="2059200"/>
          <a:ext cx="5000731" cy="3891603"/>
        </p:xfrm>
        <a:graphic>
          <a:graphicData uri="http://schemas.openxmlformats.org/drawingml/2006/table">
            <a:tbl>
              <a:tblPr firstRow="1" bandRow="1">
                <a:tableStyleId>{5C22544A-7EE6-4342-B048-85BDC9FD1C3A}</a:tableStyleId>
              </a:tblPr>
              <a:tblGrid>
                <a:gridCol w="1682825">
                  <a:extLst>
                    <a:ext uri="{9D8B030D-6E8A-4147-A177-3AD203B41FA5}">
                      <a16:colId xmlns:a16="http://schemas.microsoft.com/office/drawing/2014/main" val="20000"/>
                    </a:ext>
                  </a:extLst>
                </a:gridCol>
                <a:gridCol w="1347904">
                  <a:extLst>
                    <a:ext uri="{9D8B030D-6E8A-4147-A177-3AD203B41FA5}">
                      <a16:colId xmlns:a16="http://schemas.microsoft.com/office/drawing/2014/main" val="20001"/>
                    </a:ext>
                  </a:extLst>
                </a:gridCol>
                <a:gridCol w="622098">
                  <a:extLst>
                    <a:ext uri="{9D8B030D-6E8A-4147-A177-3AD203B41FA5}">
                      <a16:colId xmlns:a16="http://schemas.microsoft.com/office/drawing/2014/main" val="20002"/>
                    </a:ext>
                  </a:extLst>
                </a:gridCol>
                <a:gridCol w="1347904">
                  <a:extLst>
                    <a:ext uri="{9D8B030D-6E8A-4147-A177-3AD203B41FA5}">
                      <a16:colId xmlns:a16="http://schemas.microsoft.com/office/drawing/2014/main" val="20003"/>
                    </a:ext>
                  </a:extLst>
                </a:gridCol>
              </a:tblGrid>
              <a:tr h="307064">
                <a:tc>
                  <a:txBody>
                    <a:bodyPr/>
                    <a:lstStyle/>
                    <a:p>
                      <a:r>
                        <a:rPr lang="en-US" sz="1400"/>
                        <a:t>Condition</a:t>
                      </a:r>
                    </a:p>
                  </a:txBody>
                  <a:tcPr marL="69203" marR="69203" marT="34602" marB="34602"/>
                </a:tc>
                <a:tc>
                  <a:txBody>
                    <a:bodyPr/>
                    <a:lstStyle/>
                    <a:p>
                      <a:r>
                        <a:rPr lang="en-US" sz="1400"/>
                        <a:t>2000</a:t>
                      </a:r>
                    </a:p>
                  </a:txBody>
                  <a:tcPr marL="69203" marR="69203" marT="34602" marB="34602"/>
                </a:tc>
                <a:tc>
                  <a:txBody>
                    <a:bodyPr/>
                    <a:lstStyle/>
                    <a:p>
                      <a:r>
                        <a:rPr lang="en-US" sz="1400"/>
                        <a:t>2015</a:t>
                      </a:r>
                    </a:p>
                  </a:txBody>
                  <a:tcPr marL="69203" marR="69203" marT="34602" marB="34602"/>
                </a:tc>
                <a:tc>
                  <a:txBody>
                    <a:bodyPr/>
                    <a:lstStyle/>
                    <a:p>
                      <a:r>
                        <a:rPr lang="en-US" sz="1400"/>
                        <a:t>2016</a:t>
                      </a:r>
                    </a:p>
                  </a:txBody>
                  <a:tcPr marL="69203" marR="69203" marT="34602" marB="34602"/>
                </a:tc>
                <a:extLst>
                  <a:ext uri="{0D108BD9-81ED-4DB2-BD59-A6C34878D82A}">
                    <a16:rowId xmlns:a16="http://schemas.microsoft.com/office/drawing/2014/main" val="10000"/>
                  </a:ext>
                </a:extLst>
              </a:tr>
              <a:tr h="307064">
                <a:tc>
                  <a:txBody>
                    <a:bodyPr/>
                    <a:lstStyle/>
                    <a:p>
                      <a:r>
                        <a:rPr lang="en-US" sz="1400"/>
                        <a:t>All Causes</a:t>
                      </a:r>
                    </a:p>
                  </a:txBody>
                  <a:tcPr marL="69203" marR="69203" marT="34602" marB="34602"/>
                </a:tc>
                <a:tc>
                  <a:txBody>
                    <a:bodyPr/>
                    <a:lstStyle/>
                    <a:p>
                      <a:r>
                        <a:rPr lang="en-US" sz="1400"/>
                        <a:t>869</a:t>
                      </a:r>
                    </a:p>
                  </a:txBody>
                  <a:tcPr marL="69203" marR="69203" marT="34602" marB="34602"/>
                </a:tc>
                <a:tc>
                  <a:txBody>
                    <a:bodyPr/>
                    <a:lstStyle/>
                    <a:p>
                      <a:r>
                        <a:rPr lang="en-US" sz="1400"/>
                        <a:t>733</a:t>
                      </a:r>
                    </a:p>
                  </a:txBody>
                  <a:tcPr marL="69203" marR="69203" marT="34602" marB="34602"/>
                </a:tc>
                <a:tc>
                  <a:txBody>
                    <a:bodyPr/>
                    <a:lstStyle/>
                    <a:p>
                      <a:r>
                        <a:rPr lang="en-US" sz="1400"/>
                        <a:t>728.8</a:t>
                      </a:r>
                    </a:p>
                  </a:txBody>
                  <a:tcPr marL="69203" marR="69203" marT="34602" marB="34602"/>
                </a:tc>
                <a:extLst>
                  <a:ext uri="{0D108BD9-81ED-4DB2-BD59-A6C34878D82A}">
                    <a16:rowId xmlns:a16="http://schemas.microsoft.com/office/drawing/2014/main" val="10001"/>
                  </a:ext>
                </a:extLst>
              </a:tr>
              <a:tr h="307064">
                <a:tc>
                  <a:txBody>
                    <a:bodyPr/>
                    <a:lstStyle/>
                    <a:p>
                      <a:r>
                        <a:rPr lang="en-US" sz="1400"/>
                        <a:t>Heart Dz</a:t>
                      </a:r>
                    </a:p>
                  </a:txBody>
                  <a:tcPr marL="69203" marR="69203" marT="34602" marB="34602"/>
                </a:tc>
                <a:tc>
                  <a:txBody>
                    <a:bodyPr/>
                    <a:lstStyle/>
                    <a:p>
                      <a:r>
                        <a:rPr lang="en-US" sz="1400"/>
                        <a:t>257.6</a:t>
                      </a:r>
                    </a:p>
                  </a:txBody>
                  <a:tcPr marL="69203" marR="69203" marT="34602" marB="34602"/>
                </a:tc>
                <a:tc>
                  <a:txBody>
                    <a:bodyPr/>
                    <a:lstStyle/>
                    <a:p>
                      <a:r>
                        <a:rPr lang="en-US" sz="1400"/>
                        <a:t>168.5</a:t>
                      </a:r>
                    </a:p>
                  </a:txBody>
                  <a:tcPr marL="69203" marR="69203" marT="34602" marB="34602"/>
                </a:tc>
                <a:tc>
                  <a:txBody>
                    <a:bodyPr/>
                    <a:lstStyle/>
                    <a:p>
                      <a:r>
                        <a:rPr lang="en-US" sz="1400"/>
                        <a:t>165.5</a:t>
                      </a:r>
                    </a:p>
                  </a:txBody>
                  <a:tcPr marL="69203" marR="69203" marT="34602" marB="34602"/>
                </a:tc>
                <a:extLst>
                  <a:ext uri="{0D108BD9-81ED-4DB2-BD59-A6C34878D82A}">
                    <a16:rowId xmlns:a16="http://schemas.microsoft.com/office/drawing/2014/main" val="10002"/>
                  </a:ext>
                </a:extLst>
              </a:tr>
              <a:tr h="307064">
                <a:tc>
                  <a:txBody>
                    <a:bodyPr/>
                    <a:lstStyle/>
                    <a:p>
                      <a:r>
                        <a:rPr lang="en-US" sz="1400"/>
                        <a:t>Cancer</a:t>
                      </a:r>
                    </a:p>
                  </a:txBody>
                  <a:tcPr marL="69203" marR="69203" marT="34602" marB="34602"/>
                </a:tc>
                <a:tc>
                  <a:txBody>
                    <a:bodyPr/>
                    <a:lstStyle/>
                    <a:p>
                      <a:r>
                        <a:rPr lang="en-US" sz="1400"/>
                        <a:t>199.6</a:t>
                      </a:r>
                    </a:p>
                  </a:txBody>
                  <a:tcPr marL="69203" marR="69203" marT="34602" marB="34602"/>
                </a:tc>
                <a:tc>
                  <a:txBody>
                    <a:bodyPr/>
                    <a:lstStyle/>
                    <a:p>
                      <a:r>
                        <a:rPr lang="en-US" sz="1400"/>
                        <a:t>158.5</a:t>
                      </a:r>
                    </a:p>
                  </a:txBody>
                  <a:tcPr marL="69203" marR="69203" marT="34602" marB="34602"/>
                </a:tc>
                <a:tc>
                  <a:txBody>
                    <a:bodyPr/>
                    <a:lstStyle/>
                    <a:p>
                      <a:r>
                        <a:rPr lang="en-US" sz="1400"/>
                        <a:t>155.8</a:t>
                      </a:r>
                    </a:p>
                  </a:txBody>
                  <a:tcPr marL="69203" marR="69203" marT="34602" marB="34602"/>
                </a:tc>
                <a:extLst>
                  <a:ext uri="{0D108BD9-81ED-4DB2-BD59-A6C34878D82A}">
                    <a16:rowId xmlns:a16="http://schemas.microsoft.com/office/drawing/2014/main" val="10003"/>
                  </a:ext>
                </a:extLst>
              </a:tr>
              <a:tr h="513899">
                <a:tc>
                  <a:txBody>
                    <a:bodyPr/>
                    <a:lstStyle/>
                    <a:p>
                      <a:r>
                        <a:rPr lang="en-US" sz="1400"/>
                        <a:t>Chronic Lower Resp</a:t>
                      </a:r>
                    </a:p>
                  </a:txBody>
                  <a:tcPr marL="69203" marR="69203" marT="34602" marB="34602"/>
                </a:tc>
                <a:tc>
                  <a:txBody>
                    <a:bodyPr/>
                    <a:lstStyle/>
                    <a:p>
                      <a:r>
                        <a:rPr lang="en-US" sz="1400"/>
                        <a:t>44.2</a:t>
                      </a:r>
                    </a:p>
                  </a:txBody>
                  <a:tcPr marL="69203" marR="69203" marT="34602" marB="34602"/>
                </a:tc>
                <a:tc>
                  <a:txBody>
                    <a:bodyPr/>
                    <a:lstStyle/>
                    <a:p>
                      <a:r>
                        <a:rPr lang="en-US" sz="1400"/>
                        <a:t>41.6</a:t>
                      </a:r>
                    </a:p>
                  </a:txBody>
                  <a:tcPr marL="69203" marR="69203" marT="34602" marB="34602"/>
                </a:tc>
                <a:tc>
                  <a:txBody>
                    <a:bodyPr/>
                    <a:lstStyle/>
                    <a:p>
                      <a:r>
                        <a:rPr lang="en-US" sz="1400"/>
                        <a:t>40.6</a:t>
                      </a:r>
                    </a:p>
                  </a:txBody>
                  <a:tcPr marL="69203" marR="69203" marT="34602" marB="34602"/>
                </a:tc>
                <a:extLst>
                  <a:ext uri="{0D108BD9-81ED-4DB2-BD59-A6C34878D82A}">
                    <a16:rowId xmlns:a16="http://schemas.microsoft.com/office/drawing/2014/main" val="10004"/>
                  </a:ext>
                </a:extLst>
              </a:tr>
              <a:tr h="307064">
                <a:tc>
                  <a:txBody>
                    <a:bodyPr/>
                    <a:lstStyle/>
                    <a:p>
                      <a:r>
                        <a:rPr lang="en-US" sz="1400"/>
                        <a:t>Unintent.</a:t>
                      </a:r>
                      <a:r>
                        <a:rPr lang="en-US" sz="1400" baseline="0"/>
                        <a:t> Injuries</a:t>
                      </a:r>
                      <a:endParaRPr lang="en-US" sz="1400"/>
                    </a:p>
                  </a:txBody>
                  <a:tcPr marL="69203" marR="69203" marT="34602" marB="34602"/>
                </a:tc>
                <a:tc>
                  <a:txBody>
                    <a:bodyPr/>
                    <a:lstStyle/>
                    <a:p>
                      <a:r>
                        <a:rPr lang="en-US" sz="1400"/>
                        <a:t>34.9</a:t>
                      </a:r>
                    </a:p>
                  </a:txBody>
                  <a:tcPr marL="69203" marR="69203" marT="34602" marB="34602"/>
                </a:tc>
                <a:tc>
                  <a:txBody>
                    <a:bodyPr/>
                    <a:lstStyle/>
                    <a:p>
                      <a:r>
                        <a:rPr lang="en-US" sz="1400"/>
                        <a:t>43.2</a:t>
                      </a:r>
                    </a:p>
                  </a:txBody>
                  <a:tcPr marL="69203" marR="69203" marT="34602" marB="34602"/>
                </a:tc>
                <a:tc>
                  <a:txBody>
                    <a:bodyPr/>
                    <a:lstStyle/>
                    <a:p>
                      <a:r>
                        <a:rPr lang="en-US" sz="1400"/>
                        <a:t>47.4</a:t>
                      </a:r>
                    </a:p>
                  </a:txBody>
                  <a:tcPr marL="69203" marR="69203" marT="34602" marB="34602"/>
                </a:tc>
                <a:extLst>
                  <a:ext uri="{0D108BD9-81ED-4DB2-BD59-A6C34878D82A}">
                    <a16:rowId xmlns:a16="http://schemas.microsoft.com/office/drawing/2014/main" val="10005"/>
                  </a:ext>
                </a:extLst>
              </a:tr>
              <a:tr h="307064">
                <a:tc>
                  <a:txBody>
                    <a:bodyPr/>
                    <a:lstStyle/>
                    <a:p>
                      <a:r>
                        <a:rPr lang="en-US" sz="1400" b="1">
                          <a:solidFill>
                            <a:srgbClr val="FF0000"/>
                          </a:solidFill>
                        </a:rPr>
                        <a:t>STROKE</a:t>
                      </a:r>
                    </a:p>
                  </a:txBody>
                  <a:tcPr marL="69203" marR="69203" marT="34602" marB="34602"/>
                </a:tc>
                <a:tc>
                  <a:txBody>
                    <a:bodyPr/>
                    <a:lstStyle/>
                    <a:p>
                      <a:r>
                        <a:rPr lang="en-US" sz="1400" b="1">
                          <a:solidFill>
                            <a:srgbClr val="FF0000"/>
                          </a:solidFill>
                        </a:rPr>
                        <a:t>60.9 (RANK 3)</a:t>
                      </a:r>
                    </a:p>
                  </a:txBody>
                  <a:tcPr marL="69203" marR="69203" marT="34602" marB="34602"/>
                </a:tc>
                <a:tc>
                  <a:txBody>
                    <a:bodyPr/>
                    <a:lstStyle/>
                    <a:p>
                      <a:r>
                        <a:rPr lang="en-US" sz="1400" b="1">
                          <a:solidFill>
                            <a:srgbClr val="FF0000"/>
                          </a:solidFill>
                        </a:rPr>
                        <a:t>37.6</a:t>
                      </a:r>
                    </a:p>
                  </a:txBody>
                  <a:tcPr marL="69203" marR="69203" marT="34602" marB="34602"/>
                </a:tc>
                <a:tc>
                  <a:txBody>
                    <a:bodyPr/>
                    <a:lstStyle/>
                    <a:p>
                      <a:r>
                        <a:rPr lang="en-US" sz="1400" b="1">
                          <a:solidFill>
                            <a:srgbClr val="FF0000"/>
                          </a:solidFill>
                        </a:rPr>
                        <a:t>37.3 (RANK</a:t>
                      </a:r>
                      <a:r>
                        <a:rPr lang="en-US" sz="1400" b="1" baseline="0">
                          <a:solidFill>
                            <a:srgbClr val="FF0000"/>
                          </a:solidFill>
                        </a:rPr>
                        <a:t> 5)</a:t>
                      </a:r>
                      <a:endParaRPr lang="en-US" sz="1400" b="1">
                        <a:solidFill>
                          <a:srgbClr val="FF0000"/>
                        </a:solidFill>
                      </a:endParaRPr>
                    </a:p>
                  </a:txBody>
                  <a:tcPr marL="69203" marR="69203" marT="34602" marB="34602"/>
                </a:tc>
                <a:extLst>
                  <a:ext uri="{0D108BD9-81ED-4DB2-BD59-A6C34878D82A}">
                    <a16:rowId xmlns:a16="http://schemas.microsoft.com/office/drawing/2014/main" val="10006"/>
                  </a:ext>
                </a:extLst>
              </a:tr>
              <a:tr h="307064">
                <a:tc>
                  <a:txBody>
                    <a:bodyPr/>
                    <a:lstStyle/>
                    <a:p>
                      <a:r>
                        <a:rPr lang="en-US" sz="1400"/>
                        <a:t>Alzheimer</a:t>
                      </a:r>
                      <a:r>
                        <a:rPr lang="en-US" sz="1400" baseline="0"/>
                        <a:t> Dz</a:t>
                      </a:r>
                      <a:endParaRPr lang="en-US" sz="1400"/>
                    </a:p>
                  </a:txBody>
                  <a:tcPr marL="69203" marR="69203" marT="34602" marB="34602"/>
                </a:tc>
                <a:tc>
                  <a:txBody>
                    <a:bodyPr/>
                    <a:lstStyle/>
                    <a:p>
                      <a:r>
                        <a:rPr lang="en-US" sz="1400"/>
                        <a:t>18.1</a:t>
                      </a:r>
                    </a:p>
                  </a:txBody>
                  <a:tcPr marL="69203" marR="69203" marT="34602" marB="34602"/>
                </a:tc>
                <a:tc>
                  <a:txBody>
                    <a:bodyPr/>
                    <a:lstStyle/>
                    <a:p>
                      <a:r>
                        <a:rPr lang="en-US" sz="1400"/>
                        <a:t>29.4</a:t>
                      </a:r>
                    </a:p>
                  </a:txBody>
                  <a:tcPr marL="69203" marR="69203" marT="34602" marB="34602"/>
                </a:tc>
                <a:tc>
                  <a:txBody>
                    <a:bodyPr/>
                    <a:lstStyle/>
                    <a:p>
                      <a:r>
                        <a:rPr lang="en-US" sz="1400"/>
                        <a:t>33.3</a:t>
                      </a:r>
                    </a:p>
                  </a:txBody>
                  <a:tcPr marL="69203" marR="69203" marT="34602" marB="34602"/>
                </a:tc>
                <a:extLst>
                  <a:ext uri="{0D108BD9-81ED-4DB2-BD59-A6C34878D82A}">
                    <a16:rowId xmlns:a16="http://schemas.microsoft.com/office/drawing/2014/main" val="10007"/>
                  </a:ext>
                </a:extLst>
              </a:tr>
              <a:tr h="307064">
                <a:tc>
                  <a:txBody>
                    <a:bodyPr/>
                    <a:lstStyle/>
                    <a:p>
                      <a:r>
                        <a:rPr lang="en-US" sz="1400"/>
                        <a:t>Diabetes</a:t>
                      </a:r>
                    </a:p>
                  </a:txBody>
                  <a:tcPr marL="69203" marR="69203" marT="34602" marB="34602"/>
                </a:tc>
                <a:tc>
                  <a:txBody>
                    <a:bodyPr/>
                    <a:lstStyle/>
                    <a:p>
                      <a:r>
                        <a:rPr lang="en-US" sz="1400"/>
                        <a:t>25</a:t>
                      </a:r>
                    </a:p>
                  </a:txBody>
                  <a:tcPr marL="69203" marR="69203" marT="34602" marB="34602"/>
                </a:tc>
                <a:tc>
                  <a:txBody>
                    <a:bodyPr/>
                    <a:lstStyle/>
                    <a:p>
                      <a:r>
                        <a:rPr lang="en-US" sz="1400"/>
                        <a:t>21.3</a:t>
                      </a:r>
                    </a:p>
                  </a:txBody>
                  <a:tcPr marL="69203" marR="69203" marT="34602" marB="34602"/>
                </a:tc>
                <a:tc>
                  <a:txBody>
                    <a:bodyPr/>
                    <a:lstStyle/>
                    <a:p>
                      <a:r>
                        <a:rPr lang="en-US" sz="1400"/>
                        <a:t>21</a:t>
                      </a:r>
                    </a:p>
                  </a:txBody>
                  <a:tcPr marL="69203" marR="69203" marT="34602" marB="34602"/>
                </a:tc>
                <a:extLst>
                  <a:ext uri="{0D108BD9-81ED-4DB2-BD59-A6C34878D82A}">
                    <a16:rowId xmlns:a16="http://schemas.microsoft.com/office/drawing/2014/main" val="10008"/>
                  </a:ext>
                </a:extLst>
              </a:tr>
              <a:tr h="307064">
                <a:tc>
                  <a:txBody>
                    <a:bodyPr/>
                    <a:lstStyle/>
                    <a:p>
                      <a:r>
                        <a:rPr lang="en-US" sz="1400"/>
                        <a:t>Influenza/Pneum.</a:t>
                      </a:r>
                    </a:p>
                  </a:txBody>
                  <a:tcPr marL="69203" marR="69203" marT="34602" marB="34602"/>
                </a:tc>
                <a:tc>
                  <a:txBody>
                    <a:bodyPr/>
                    <a:lstStyle/>
                    <a:p>
                      <a:r>
                        <a:rPr lang="en-US" sz="1400"/>
                        <a:t>23.7</a:t>
                      </a:r>
                    </a:p>
                  </a:txBody>
                  <a:tcPr marL="69203" marR="69203" marT="34602" marB="34602"/>
                </a:tc>
                <a:tc>
                  <a:txBody>
                    <a:bodyPr/>
                    <a:lstStyle/>
                    <a:p>
                      <a:r>
                        <a:rPr lang="en-US" sz="1400"/>
                        <a:t>15.2</a:t>
                      </a:r>
                    </a:p>
                  </a:txBody>
                  <a:tcPr marL="69203" marR="69203" marT="34602" marB="34602"/>
                </a:tc>
                <a:tc>
                  <a:txBody>
                    <a:bodyPr/>
                    <a:lstStyle/>
                    <a:p>
                      <a:r>
                        <a:rPr lang="en-US" sz="1400"/>
                        <a:t>13.5</a:t>
                      </a:r>
                    </a:p>
                  </a:txBody>
                  <a:tcPr marL="69203" marR="69203" marT="34602" marB="34602"/>
                </a:tc>
                <a:extLst>
                  <a:ext uri="{0D108BD9-81ED-4DB2-BD59-A6C34878D82A}">
                    <a16:rowId xmlns:a16="http://schemas.microsoft.com/office/drawing/2014/main" val="10009"/>
                  </a:ext>
                </a:extLst>
              </a:tr>
              <a:tr h="307064">
                <a:tc>
                  <a:txBody>
                    <a:bodyPr/>
                    <a:lstStyle/>
                    <a:p>
                      <a:r>
                        <a:rPr lang="en-US" sz="1400"/>
                        <a:t>Nephritis</a:t>
                      </a:r>
                    </a:p>
                  </a:txBody>
                  <a:tcPr marL="69203" marR="69203" marT="34602" marB="34602"/>
                </a:tc>
                <a:tc>
                  <a:txBody>
                    <a:bodyPr/>
                    <a:lstStyle/>
                    <a:p>
                      <a:r>
                        <a:rPr lang="en-US" sz="1400"/>
                        <a:t>13.5</a:t>
                      </a:r>
                    </a:p>
                  </a:txBody>
                  <a:tcPr marL="69203" marR="69203" marT="34602" marB="34602"/>
                </a:tc>
                <a:tc>
                  <a:txBody>
                    <a:bodyPr/>
                    <a:lstStyle/>
                    <a:p>
                      <a:r>
                        <a:rPr lang="en-US" sz="1400"/>
                        <a:t>13.4</a:t>
                      </a:r>
                    </a:p>
                  </a:txBody>
                  <a:tcPr marL="69203" marR="69203" marT="34602" marB="34602"/>
                </a:tc>
                <a:tc>
                  <a:txBody>
                    <a:bodyPr/>
                    <a:lstStyle/>
                    <a:p>
                      <a:r>
                        <a:rPr lang="en-US" sz="1400"/>
                        <a:t>13.1</a:t>
                      </a:r>
                    </a:p>
                  </a:txBody>
                  <a:tcPr marL="69203" marR="69203" marT="34602" marB="34602"/>
                </a:tc>
                <a:extLst>
                  <a:ext uri="{0D108BD9-81ED-4DB2-BD59-A6C34878D82A}">
                    <a16:rowId xmlns:a16="http://schemas.microsoft.com/office/drawing/2014/main" val="10010"/>
                  </a:ext>
                </a:extLst>
              </a:tr>
              <a:tr h="307064">
                <a:tc>
                  <a:txBody>
                    <a:bodyPr/>
                    <a:lstStyle/>
                    <a:p>
                      <a:r>
                        <a:rPr lang="en-US" sz="1400"/>
                        <a:t>Suicide</a:t>
                      </a:r>
                    </a:p>
                  </a:txBody>
                  <a:tcPr marL="69203" marR="69203" marT="34602" marB="34602"/>
                </a:tc>
                <a:tc>
                  <a:txBody>
                    <a:bodyPr/>
                    <a:lstStyle/>
                    <a:p>
                      <a:r>
                        <a:rPr lang="en-US" sz="1400"/>
                        <a:t>10.4</a:t>
                      </a:r>
                    </a:p>
                  </a:txBody>
                  <a:tcPr marL="69203" marR="69203" marT="34602" marB="34602"/>
                </a:tc>
                <a:tc>
                  <a:txBody>
                    <a:bodyPr/>
                    <a:lstStyle/>
                    <a:p>
                      <a:r>
                        <a:rPr lang="en-US" sz="1400"/>
                        <a:t>13.3</a:t>
                      </a:r>
                    </a:p>
                  </a:txBody>
                  <a:tcPr marL="69203" marR="69203" marT="34602" marB="34602"/>
                </a:tc>
                <a:tc>
                  <a:txBody>
                    <a:bodyPr/>
                    <a:lstStyle/>
                    <a:p>
                      <a:r>
                        <a:rPr lang="en-US" sz="1400"/>
                        <a:t>13.5</a:t>
                      </a:r>
                    </a:p>
                  </a:txBody>
                  <a:tcPr marL="69203" marR="69203" marT="34602" marB="34602"/>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1897826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DB236-2282-914C-9E83-C34A4607E55C}"/>
              </a:ext>
            </a:extLst>
          </p:cNvPr>
          <p:cNvSpPr>
            <a:spLocks noGrp="1"/>
          </p:cNvSpPr>
          <p:nvPr>
            <p:ph type="title"/>
          </p:nvPr>
        </p:nvSpPr>
        <p:spPr/>
        <p:txBody>
          <a:bodyPr/>
          <a:lstStyle/>
          <a:p>
            <a:r>
              <a:rPr lang="en-US" dirty="0"/>
              <a:t>Acute Ischemic Stroke and TIA</a:t>
            </a:r>
          </a:p>
        </p:txBody>
      </p:sp>
      <p:sp>
        <p:nvSpPr>
          <p:cNvPr id="3" name="Text Placeholder 2">
            <a:extLst>
              <a:ext uri="{FF2B5EF4-FFF2-40B4-BE49-F238E27FC236}">
                <a16:creationId xmlns:a16="http://schemas.microsoft.com/office/drawing/2014/main" id="{0F6C667E-F023-0840-B073-BD76293D3A3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68256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C9D2EB17-7133-49D4-9B24-19D463C31C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9E1E0D-9686-FE4F-A4BD-60E85DC71611}"/>
              </a:ext>
            </a:extLst>
          </p:cNvPr>
          <p:cNvSpPr>
            <a:spLocks noGrp="1"/>
          </p:cNvSpPr>
          <p:nvPr>
            <p:ph type="title"/>
          </p:nvPr>
        </p:nvSpPr>
        <p:spPr>
          <a:xfrm>
            <a:off x="448056" y="388800"/>
            <a:ext cx="11300532" cy="986400"/>
          </a:xfrm>
        </p:spPr>
        <p:txBody>
          <a:bodyPr anchor="b">
            <a:normAutofit/>
          </a:bodyPr>
          <a:lstStyle/>
          <a:p>
            <a:r>
              <a:rPr lang="en-US" sz="6400"/>
              <a:t>Ischemic Stroke</a:t>
            </a:r>
          </a:p>
        </p:txBody>
      </p:sp>
      <p:cxnSp>
        <p:nvCxnSpPr>
          <p:cNvPr id="18" name="Straight Connector 17">
            <a:extLst>
              <a:ext uri="{FF2B5EF4-FFF2-40B4-BE49-F238E27FC236}">
                <a16:creationId xmlns:a16="http://schemas.microsoft.com/office/drawing/2014/main" id="{B32E796E-8D19-4926-B7B8-653B019390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0000" y="1609200"/>
            <a:ext cx="113004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F3FEA364-3522-4599-B4BE-308FAA463883}"/>
              </a:ext>
            </a:extLst>
          </p:cNvPr>
          <p:cNvGraphicFramePr>
            <a:graphicFrameLocks noGrp="1"/>
          </p:cNvGraphicFramePr>
          <p:nvPr>
            <p:ph idx="1"/>
            <p:extLst>
              <p:ext uri="{D42A27DB-BD31-4B8C-83A1-F6EECF244321}">
                <p14:modId xmlns:p14="http://schemas.microsoft.com/office/powerpoint/2010/main" val="3390908476"/>
              </p:ext>
            </p:extLst>
          </p:nvPr>
        </p:nvGraphicFramePr>
        <p:xfrm>
          <a:off x="4366800" y="1944000"/>
          <a:ext cx="7380000" cy="400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417101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05F75D8-FDBF-E34C-A226-E7BAD6CBCD08}"/>
              </a:ext>
            </a:extLst>
          </p:cNvPr>
          <p:cNvPicPr>
            <a:picLocks noChangeAspect="1"/>
          </p:cNvPicPr>
          <p:nvPr/>
        </p:nvPicPr>
        <p:blipFill>
          <a:blip r:embed="rId3"/>
          <a:stretch>
            <a:fillRect/>
          </a:stretch>
        </p:blipFill>
        <p:spPr>
          <a:xfrm>
            <a:off x="2011195" y="274449"/>
            <a:ext cx="8169610" cy="6324600"/>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9755FE61-EFD0-8A42-8794-0CE26FCABBBF}"/>
                  </a:ext>
                </a:extLst>
              </p14:cNvPr>
              <p14:cNvContentPartPr/>
              <p14:nvPr/>
            </p14:nvContentPartPr>
            <p14:xfrm>
              <a:off x="3751274" y="1423966"/>
              <a:ext cx="786600" cy="66960"/>
            </p14:xfrm>
          </p:contentPart>
        </mc:Choice>
        <mc:Fallback xmlns="">
          <p:pic>
            <p:nvPicPr>
              <p:cNvPr id="2" name="Ink 1">
                <a:extLst>
                  <a:ext uri="{FF2B5EF4-FFF2-40B4-BE49-F238E27FC236}">
                    <a16:creationId xmlns:a16="http://schemas.microsoft.com/office/drawing/2014/main" id="{9755FE61-EFD0-8A42-8794-0CE26FCABBBF}"/>
                  </a:ext>
                </a:extLst>
              </p:cNvPr>
              <p:cNvPicPr/>
              <p:nvPr/>
            </p:nvPicPr>
            <p:blipFill>
              <a:blip r:embed="rId5"/>
              <a:stretch>
                <a:fillRect/>
              </a:stretch>
            </p:blipFill>
            <p:spPr>
              <a:xfrm>
                <a:off x="3715274" y="1352326"/>
                <a:ext cx="85824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21666021-F278-3646-974A-76FF62554506}"/>
                  </a:ext>
                </a:extLst>
              </p14:cNvPr>
              <p14:cNvContentPartPr/>
              <p14:nvPr/>
            </p14:nvContentPartPr>
            <p14:xfrm>
              <a:off x="7142474" y="1348006"/>
              <a:ext cx="982800" cy="72360"/>
            </p14:xfrm>
          </p:contentPart>
        </mc:Choice>
        <mc:Fallback xmlns="">
          <p:pic>
            <p:nvPicPr>
              <p:cNvPr id="3" name="Ink 2">
                <a:extLst>
                  <a:ext uri="{FF2B5EF4-FFF2-40B4-BE49-F238E27FC236}">
                    <a16:creationId xmlns:a16="http://schemas.microsoft.com/office/drawing/2014/main" id="{21666021-F278-3646-974A-76FF62554506}"/>
                  </a:ext>
                </a:extLst>
              </p:cNvPr>
              <p:cNvPicPr/>
              <p:nvPr/>
            </p:nvPicPr>
            <p:blipFill>
              <a:blip r:embed="rId7"/>
              <a:stretch>
                <a:fillRect/>
              </a:stretch>
            </p:blipFill>
            <p:spPr>
              <a:xfrm>
                <a:off x="7106834" y="1276366"/>
                <a:ext cx="105444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2C233F1D-E282-4D4E-9F7B-B4848AB5FE2A}"/>
                  </a:ext>
                </a:extLst>
              </p14:cNvPr>
              <p14:cNvContentPartPr/>
              <p14:nvPr/>
            </p14:nvContentPartPr>
            <p14:xfrm>
              <a:off x="5337794" y="3339526"/>
              <a:ext cx="685440" cy="35640"/>
            </p14:xfrm>
          </p:contentPart>
        </mc:Choice>
        <mc:Fallback xmlns="">
          <p:pic>
            <p:nvPicPr>
              <p:cNvPr id="5" name="Ink 4">
                <a:extLst>
                  <a:ext uri="{FF2B5EF4-FFF2-40B4-BE49-F238E27FC236}">
                    <a16:creationId xmlns:a16="http://schemas.microsoft.com/office/drawing/2014/main" id="{2C233F1D-E282-4D4E-9F7B-B4848AB5FE2A}"/>
                  </a:ext>
                </a:extLst>
              </p:cNvPr>
              <p:cNvPicPr/>
              <p:nvPr/>
            </p:nvPicPr>
            <p:blipFill>
              <a:blip r:embed="rId9"/>
              <a:stretch>
                <a:fillRect/>
              </a:stretch>
            </p:blipFill>
            <p:spPr>
              <a:xfrm>
                <a:off x="5301794" y="3267526"/>
                <a:ext cx="75708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13DF3566-1DE7-1E40-BB1B-CB242B5B89FB}"/>
                  </a:ext>
                </a:extLst>
              </p14:cNvPr>
              <p14:cNvContentPartPr/>
              <p14:nvPr/>
            </p14:nvContentPartPr>
            <p14:xfrm>
              <a:off x="3733634" y="5596006"/>
              <a:ext cx="861120" cy="77040"/>
            </p14:xfrm>
          </p:contentPart>
        </mc:Choice>
        <mc:Fallback xmlns="">
          <p:pic>
            <p:nvPicPr>
              <p:cNvPr id="6" name="Ink 5">
                <a:extLst>
                  <a:ext uri="{FF2B5EF4-FFF2-40B4-BE49-F238E27FC236}">
                    <a16:creationId xmlns:a16="http://schemas.microsoft.com/office/drawing/2014/main" id="{13DF3566-1DE7-1E40-BB1B-CB242B5B89FB}"/>
                  </a:ext>
                </a:extLst>
              </p:cNvPr>
              <p:cNvPicPr/>
              <p:nvPr/>
            </p:nvPicPr>
            <p:blipFill>
              <a:blip r:embed="rId11"/>
              <a:stretch>
                <a:fillRect/>
              </a:stretch>
            </p:blipFill>
            <p:spPr>
              <a:xfrm>
                <a:off x="3697634" y="5524366"/>
                <a:ext cx="932760" cy="220680"/>
              </a:xfrm>
              <a:prstGeom prst="rect">
                <a:avLst/>
              </a:prstGeom>
            </p:spPr>
          </p:pic>
        </mc:Fallback>
      </mc:AlternateContent>
    </p:spTree>
    <p:extLst>
      <p:ext uri="{BB962C8B-B14F-4D97-AF65-F5344CB8AC3E}">
        <p14:creationId xmlns:p14="http://schemas.microsoft.com/office/powerpoint/2010/main" val="30588094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C66CC717-08C5-4F3E-B8AA-BA93C875598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9400" y="41220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useBgFill="1">
        <p:nvSpPr>
          <p:cNvPr id="19" name="Rectangle 18">
            <a:extLst>
              <a:ext uri="{FF2B5EF4-FFF2-40B4-BE49-F238E27FC236}">
                <a16:creationId xmlns:a16="http://schemas.microsoft.com/office/drawing/2014/main" id="{F2E5B6AE-5EFE-45F0-A2AE-ED771CA3D7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2F2934-A0E6-424A-8467-0E94FEA3CE64}"/>
              </a:ext>
            </a:extLst>
          </p:cNvPr>
          <p:cNvSpPr>
            <a:spLocks noGrp="1"/>
          </p:cNvSpPr>
          <p:nvPr>
            <p:ph type="title"/>
          </p:nvPr>
        </p:nvSpPr>
        <p:spPr>
          <a:xfrm>
            <a:off x="448054" y="662400"/>
            <a:ext cx="11293200" cy="1000800"/>
          </a:xfrm>
        </p:spPr>
        <p:txBody>
          <a:bodyPr vert="horz" lIns="0" tIns="0" rIns="0" bIns="0" rtlCol="0" anchor="ctr">
            <a:normAutofit/>
          </a:bodyPr>
          <a:lstStyle/>
          <a:p>
            <a:pPr>
              <a:lnSpc>
                <a:spcPct val="100000"/>
              </a:lnSpc>
            </a:pPr>
            <a:r>
              <a:rPr lang="en-US" dirty="0"/>
              <a:t>Pathophysiology</a:t>
            </a:r>
          </a:p>
        </p:txBody>
      </p:sp>
      <p:cxnSp>
        <p:nvCxnSpPr>
          <p:cNvPr id="21" name="Straight Connector 20">
            <a:extLst>
              <a:ext uri="{FF2B5EF4-FFF2-40B4-BE49-F238E27FC236}">
                <a16:creationId xmlns:a16="http://schemas.microsoft.com/office/drawing/2014/main" id="{D255B435-D9F3-4A31-B89E-36741390DB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0000" y="4500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34DF5A45-91B8-7249-A5E2-DE6C53F8F25C}"/>
              </a:ext>
            </a:extLst>
          </p:cNvPr>
          <p:cNvPicPr>
            <a:picLocks noChangeAspect="1"/>
          </p:cNvPicPr>
          <p:nvPr/>
        </p:nvPicPr>
        <p:blipFill rotWithShape="1">
          <a:blip r:embed="rId3"/>
          <a:srcRect b="12052"/>
          <a:stretch/>
        </p:blipFill>
        <p:spPr>
          <a:xfrm>
            <a:off x="1707880" y="1776869"/>
            <a:ext cx="8776239" cy="4631131"/>
          </a:xfrm>
          <a:prstGeom prst="rect">
            <a:avLst/>
          </a:prstGeom>
        </p:spPr>
      </p:pic>
    </p:spTree>
    <p:extLst>
      <p:ext uri="{BB962C8B-B14F-4D97-AF65-F5344CB8AC3E}">
        <p14:creationId xmlns:p14="http://schemas.microsoft.com/office/powerpoint/2010/main" val="3352660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B682C-B619-C542-B86F-5EA838759514}"/>
              </a:ext>
            </a:extLst>
          </p:cNvPr>
          <p:cNvSpPr>
            <a:spLocks noGrp="1"/>
          </p:cNvSpPr>
          <p:nvPr>
            <p:ph type="title"/>
          </p:nvPr>
        </p:nvSpPr>
        <p:spPr/>
        <p:txBody>
          <a:bodyPr/>
          <a:lstStyle/>
          <a:p>
            <a:r>
              <a:rPr lang="en-US" dirty="0"/>
              <a:t>Vascular territories </a:t>
            </a:r>
          </a:p>
        </p:txBody>
      </p:sp>
      <p:sp>
        <p:nvSpPr>
          <p:cNvPr id="3" name="Content Placeholder 2">
            <a:extLst>
              <a:ext uri="{FF2B5EF4-FFF2-40B4-BE49-F238E27FC236}">
                <a16:creationId xmlns:a16="http://schemas.microsoft.com/office/drawing/2014/main" id="{207F73EC-7B41-7A42-8C07-1CC4C6843616}"/>
              </a:ext>
            </a:extLst>
          </p:cNvPr>
          <p:cNvSpPr>
            <a:spLocks noGrp="1"/>
          </p:cNvSpPr>
          <p:nvPr>
            <p:ph idx="1"/>
          </p:nvPr>
        </p:nvSpPr>
        <p:spPr/>
        <p:txBody>
          <a:bodyPr/>
          <a:lstStyle/>
          <a:p>
            <a:endParaRPr lang="en-US"/>
          </a:p>
        </p:txBody>
      </p:sp>
      <p:pic>
        <p:nvPicPr>
          <p:cNvPr id="3074" name="Picture 2">
            <a:extLst>
              <a:ext uri="{FF2B5EF4-FFF2-40B4-BE49-F238E27FC236}">
                <a16:creationId xmlns:a16="http://schemas.microsoft.com/office/drawing/2014/main" id="{7365C58F-F8FD-C747-96FC-1CC5EE13E5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738" y="1230923"/>
            <a:ext cx="11962523" cy="52382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7608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AA3CC463-F933-4AC4-86E1-5AC14B0C31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6025D2DB-A12A-44DB-B00E-F4D622329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331" y="480060"/>
            <a:ext cx="4180332" cy="2788074"/>
          </a:xfrm>
          <a:prstGeom prst="rect">
            <a:avLst/>
          </a:prstGeom>
          <a:solidFill>
            <a:srgbClr val="FFFFFF"/>
          </a:solidFill>
          <a:ln w="19050">
            <a:solidFill>
              <a:srgbClr val="9E66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2" name="Picture 6">
            <a:extLst>
              <a:ext uri="{FF2B5EF4-FFF2-40B4-BE49-F238E27FC236}">
                <a16:creationId xmlns:a16="http://schemas.microsoft.com/office/drawing/2014/main" id="{F79A46DB-B88F-1148-899F-9F8AF37EAE2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37218" y="643467"/>
            <a:ext cx="3225606" cy="2475653"/>
          </a:xfrm>
          <a:prstGeom prst="rect">
            <a:avLst/>
          </a:prstGeom>
          <a:noFill/>
          <a:extLst>
            <a:ext uri="{909E8E84-426E-40DD-AFC4-6F175D3DCCD1}">
              <a14:hiddenFill xmlns:a14="http://schemas.microsoft.com/office/drawing/2010/main">
                <a:solidFill>
                  <a:srgbClr val="FFFFFF"/>
                </a:solidFill>
              </a14:hiddenFill>
            </a:ext>
          </a:extLst>
        </p:spPr>
      </p:pic>
      <p:sp>
        <p:nvSpPr>
          <p:cNvPr id="79" name="Rectangle 78">
            <a:extLst>
              <a:ext uri="{FF2B5EF4-FFF2-40B4-BE49-F238E27FC236}">
                <a16:creationId xmlns:a16="http://schemas.microsoft.com/office/drawing/2014/main" id="{CE7E7877-F64E-4EEA-B778-138031EFF8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331" y="3603670"/>
            <a:ext cx="4180332" cy="2788074"/>
          </a:xfrm>
          <a:prstGeom prst="rect">
            <a:avLst/>
          </a:prstGeom>
          <a:solidFill>
            <a:srgbClr val="FFFFFF"/>
          </a:solidFill>
          <a:ln w="19050">
            <a:solidFill>
              <a:srgbClr val="9E66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0" name="Picture 4">
            <a:extLst>
              <a:ext uri="{FF2B5EF4-FFF2-40B4-BE49-F238E27FC236}">
                <a16:creationId xmlns:a16="http://schemas.microsoft.com/office/drawing/2014/main" id="{BBB86A42-3514-B049-9DD5-3B8F8FBB924A}"/>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719184" y="3748194"/>
            <a:ext cx="3661675" cy="2471631"/>
          </a:xfrm>
          <a:prstGeom prst="rect">
            <a:avLst/>
          </a:prstGeom>
          <a:noFill/>
          <a:extLst>
            <a:ext uri="{909E8E84-426E-40DD-AFC4-6F175D3DCCD1}">
              <a14:hiddenFill xmlns:a14="http://schemas.microsoft.com/office/drawing/2010/main">
                <a:solidFill>
                  <a:srgbClr val="FFFFFF"/>
                </a:solidFill>
              </a14:hiddenFill>
            </a:ext>
          </a:extLst>
        </p:spPr>
      </p:pic>
      <p:sp>
        <p:nvSpPr>
          <p:cNvPr id="81" name="Rectangle 80">
            <a:extLst>
              <a:ext uri="{FF2B5EF4-FFF2-40B4-BE49-F238E27FC236}">
                <a16:creationId xmlns:a16="http://schemas.microsoft.com/office/drawing/2014/main" id="{7DD6C4F3-70FD-4F13-919C-702EE4886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0596" y="487090"/>
            <a:ext cx="6741849" cy="5897880"/>
          </a:xfrm>
          <a:prstGeom prst="rect">
            <a:avLst/>
          </a:prstGeom>
          <a:solidFill>
            <a:srgbClr val="FFFFFF"/>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a:extLst>
              <a:ext uri="{FF2B5EF4-FFF2-40B4-BE49-F238E27FC236}">
                <a16:creationId xmlns:a16="http://schemas.microsoft.com/office/drawing/2014/main" id="{5A3B33C8-5A2D-1A47-B1AA-6ACE907F0ADD}"/>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6608848" y="650497"/>
            <a:ext cx="3481916" cy="55710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17475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71D199B-5E15-43A6-BA31-F5CDFDB3A9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ABFC54A-DCB6-6C4F-8271-B68D33B396B8}"/>
              </a:ext>
            </a:extLst>
          </p:cNvPr>
          <p:cNvSpPr>
            <a:spLocks noGrp="1"/>
          </p:cNvSpPr>
          <p:nvPr>
            <p:ph type="title"/>
          </p:nvPr>
        </p:nvSpPr>
        <p:spPr>
          <a:xfrm>
            <a:off x="448056" y="393192"/>
            <a:ext cx="11301984" cy="859536"/>
          </a:xfrm>
        </p:spPr>
        <p:txBody>
          <a:bodyPr anchor="b">
            <a:normAutofit/>
          </a:bodyPr>
          <a:lstStyle/>
          <a:p>
            <a:r>
              <a:rPr lang="en-US" dirty="0"/>
              <a:t>Mechanisms of acute ischemic stroke</a:t>
            </a:r>
          </a:p>
        </p:txBody>
      </p:sp>
      <p:cxnSp>
        <p:nvCxnSpPr>
          <p:cNvPr id="10" name="Straight Connector 9">
            <a:extLst>
              <a:ext uri="{FF2B5EF4-FFF2-40B4-BE49-F238E27FC236}">
                <a16:creationId xmlns:a16="http://schemas.microsoft.com/office/drawing/2014/main" id="{6C52BBAB-664F-48C3-A5C1-4CE9D3555D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9400" y="16092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056D90C-A982-524E-A67C-B2EFB0939BD4}"/>
              </a:ext>
            </a:extLst>
          </p:cNvPr>
          <p:cNvSpPr>
            <a:spLocks noGrp="1"/>
          </p:cNvSpPr>
          <p:nvPr>
            <p:ph idx="1"/>
          </p:nvPr>
        </p:nvSpPr>
        <p:spPr>
          <a:xfrm>
            <a:off x="448055" y="1947671"/>
            <a:ext cx="11533737" cy="4804785"/>
          </a:xfrm>
        </p:spPr>
        <p:txBody>
          <a:bodyPr>
            <a:noAutofit/>
          </a:bodyPr>
          <a:lstStyle/>
          <a:p>
            <a:pPr>
              <a:lnSpc>
                <a:spcPct val="110000"/>
              </a:lnSpc>
            </a:pPr>
            <a:r>
              <a:rPr lang="en-US" sz="2000" dirty="0"/>
              <a:t>Vascular thrombosis</a:t>
            </a:r>
          </a:p>
          <a:p>
            <a:pPr lvl="1">
              <a:lnSpc>
                <a:spcPct val="110000"/>
              </a:lnSpc>
            </a:pPr>
            <a:r>
              <a:rPr lang="en-US" sz="2000" dirty="0"/>
              <a:t>Atherosclerosis (extracranial or intracranial), dissection (spontaneous or traumatic), vasculopathies (</a:t>
            </a:r>
            <a:r>
              <a:rPr lang="en-US" sz="2000" dirty="0" err="1"/>
              <a:t>Moyamoya</a:t>
            </a:r>
            <a:r>
              <a:rPr lang="en-US" sz="2000" dirty="0"/>
              <a:t>, fibromuscular dysplasia, vasculitis)</a:t>
            </a:r>
          </a:p>
          <a:p>
            <a:pPr>
              <a:lnSpc>
                <a:spcPct val="110000"/>
              </a:lnSpc>
            </a:pPr>
            <a:r>
              <a:rPr lang="en-US" sz="2000" dirty="0"/>
              <a:t>Embolic etiologies</a:t>
            </a:r>
          </a:p>
          <a:p>
            <a:pPr lvl="1">
              <a:lnSpc>
                <a:spcPct val="110000"/>
              </a:lnSpc>
            </a:pPr>
            <a:r>
              <a:rPr lang="en-US" sz="2000" dirty="0"/>
              <a:t>Atherosclerosis (</a:t>
            </a:r>
            <a:r>
              <a:rPr lang="en-US" sz="2000" b="1" dirty="0">
                <a:solidFill>
                  <a:schemeClr val="accent6">
                    <a:alpha val="55000"/>
                  </a:schemeClr>
                </a:solidFill>
              </a:rPr>
              <a:t>proximal artery embolism</a:t>
            </a:r>
            <a:r>
              <a:rPr lang="en-US" sz="2000" dirty="0"/>
              <a:t>), </a:t>
            </a:r>
            <a:r>
              <a:rPr lang="en-US" sz="2000" b="1" dirty="0">
                <a:solidFill>
                  <a:schemeClr val="accent6">
                    <a:alpha val="55000"/>
                  </a:schemeClr>
                </a:solidFill>
              </a:rPr>
              <a:t>cardioembolic</a:t>
            </a:r>
            <a:r>
              <a:rPr lang="en-US" sz="2000" dirty="0"/>
              <a:t> (</a:t>
            </a:r>
            <a:r>
              <a:rPr lang="en-US" sz="2000" dirty="0" err="1"/>
              <a:t>afib</a:t>
            </a:r>
            <a:r>
              <a:rPr lang="en-US" sz="2000" dirty="0"/>
              <a:t>, endocarditis, PFO)</a:t>
            </a:r>
          </a:p>
          <a:p>
            <a:pPr>
              <a:lnSpc>
                <a:spcPct val="110000"/>
              </a:lnSpc>
            </a:pPr>
            <a:r>
              <a:rPr lang="en-US" sz="2000" dirty="0"/>
              <a:t>Hypercoagulable states affecting arteries</a:t>
            </a:r>
          </a:p>
          <a:p>
            <a:pPr lvl="1">
              <a:lnSpc>
                <a:spcPct val="110000"/>
              </a:lnSpc>
            </a:pPr>
            <a:r>
              <a:rPr lang="en-US" sz="2000" dirty="0"/>
              <a:t>Malignancy, antiphospholipid syndrome</a:t>
            </a:r>
          </a:p>
          <a:p>
            <a:pPr>
              <a:lnSpc>
                <a:spcPct val="110000"/>
              </a:lnSpc>
            </a:pPr>
            <a:r>
              <a:rPr lang="en-US" sz="2000" dirty="0"/>
              <a:t>Venous hypertension, hypercoagulable states affecting veins</a:t>
            </a:r>
          </a:p>
          <a:p>
            <a:pPr lvl="1">
              <a:lnSpc>
                <a:spcPct val="110000"/>
              </a:lnSpc>
            </a:pPr>
            <a:r>
              <a:rPr lang="en-US" sz="2000" dirty="0"/>
              <a:t>Dural sinus thrombosis due to malignancy, antiphospholipid syndrome, factor V </a:t>
            </a:r>
            <a:r>
              <a:rPr lang="en-US" sz="2000" dirty="0" err="1"/>
              <a:t>leiden</a:t>
            </a:r>
            <a:r>
              <a:rPr lang="en-US" sz="2000" dirty="0"/>
              <a:t>, protein C or S deficiency</a:t>
            </a:r>
          </a:p>
          <a:p>
            <a:pPr lvl="1">
              <a:lnSpc>
                <a:spcPct val="110000"/>
              </a:lnSpc>
            </a:pPr>
            <a:r>
              <a:rPr lang="en-US" sz="2000" dirty="0"/>
              <a:t>Paradoxical embolism: DVT or another venous thrombus makes its way through a PFO to the left side of the heart to cause a cardioembolic stroke</a:t>
            </a:r>
          </a:p>
        </p:txBody>
      </p:sp>
    </p:spTree>
    <p:extLst>
      <p:ext uri="{BB962C8B-B14F-4D97-AF65-F5344CB8AC3E}">
        <p14:creationId xmlns:p14="http://schemas.microsoft.com/office/powerpoint/2010/main" val="23265946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29C70-3A54-094E-B17A-0749CF8CFE4B}"/>
              </a:ext>
            </a:extLst>
          </p:cNvPr>
          <p:cNvSpPr>
            <a:spLocks noGrp="1"/>
          </p:cNvSpPr>
          <p:nvPr>
            <p:ph type="title"/>
          </p:nvPr>
        </p:nvSpPr>
        <p:spPr/>
        <p:txBody>
          <a:bodyPr/>
          <a:lstStyle/>
          <a:p>
            <a:r>
              <a:rPr lang="en-US" dirty="0"/>
              <a:t>Risk Factors</a:t>
            </a:r>
          </a:p>
        </p:txBody>
      </p:sp>
      <p:sp>
        <p:nvSpPr>
          <p:cNvPr id="3" name="Content Placeholder 2">
            <a:extLst>
              <a:ext uri="{FF2B5EF4-FFF2-40B4-BE49-F238E27FC236}">
                <a16:creationId xmlns:a16="http://schemas.microsoft.com/office/drawing/2014/main" id="{B0E83ED7-3FEE-0E4A-AB17-B09FF914E942}"/>
              </a:ext>
            </a:extLst>
          </p:cNvPr>
          <p:cNvSpPr>
            <a:spLocks noGrp="1"/>
          </p:cNvSpPr>
          <p:nvPr>
            <p:ph idx="1"/>
          </p:nvPr>
        </p:nvSpPr>
        <p:spPr>
          <a:xfrm>
            <a:off x="448056" y="1768247"/>
            <a:ext cx="4974102" cy="4700953"/>
          </a:xfrm>
        </p:spPr>
        <p:txBody>
          <a:bodyPr>
            <a:normAutofit/>
          </a:bodyPr>
          <a:lstStyle/>
          <a:p>
            <a:r>
              <a:rPr lang="en-US" dirty="0"/>
              <a:t>Non-Modifiable Risk Factors Include:</a:t>
            </a:r>
          </a:p>
          <a:p>
            <a:pPr lvl="1"/>
            <a:r>
              <a:rPr lang="en-US" dirty="0"/>
              <a:t>Age </a:t>
            </a:r>
          </a:p>
          <a:p>
            <a:pPr lvl="1"/>
            <a:r>
              <a:rPr lang="en-US" dirty="0"/>
              <a:t>Race </a:t>
            </a:r>
          </a:p>
          <a:p>
            <a:pPr lvl="1"/>
            <a:r>
              <a:rPr lang="en-US" dirty="0"/>
              <a:t>Sex </a:t>
            </a:r>
          </a:p>
          <a:p>
            <a:pPr lvl="1"/>
            <a:r>
              <a:rPr lang="en-US" dirty="0"/>
              <a:t>Ethnicity </a:t>
            </a:r>
          </a:p>
          <a:p>
            <a:pPr lvl="1"/>
            <a:r>
              <a:rPr lang="en-US" dirty="0"/>
              <a:t>Family history of stroke or transient ischemic attacks (TIAs)</a:t>
            </a:r>
          </a:p>
        </p:txBody>
      </p:sp>
      <p:sp>
        <p:nvSpPr>
          <p:cNvPr id="5" name="Content Placeholder 2">
            <a:extLst>
              <a:ext uri="{FF2B5EF4-FFF2-40B4-BE49-F238E27FC236}">
                <a16:creationId xmlns:a16="http://schemas.microsoft.com/office/drawing/2014/main" id="{11D59537-44FB-4143-B8B0-BC42BA4B39ED}"/>
              </a:ext>
            </a:extLst>
          </p:cNvPr>
          <p:cNvSpPr txBox="1">
            <a:spLocks/>
          </p:cNvSpPr>
          <p:nvPr/>
        </p:nvSpPr>
        <p:spPr>
          <a:xfrm>
            <a:off x="5756031" y="504368"/>
            <a:ext cx="5987913" cy="4700953"/>
          </a:xfrm>
          <a:prstGeom prst="rect">
            <a:avLst/>
          </a:prstGeom>
        </p:spPr>
        <p:txBody>
          <a:bodyPr vert="horz" wrap="square" lIns="0" tIns="0" rIns="91440" bIns="0" rtlCol="0">
            <a:noAutofit/>
          </a:bodyPr>
          <a:lstStyle>
            <a:lvl1pPr marL="450000" indent="-448056" algn="l" defTabSz="914400" rtl="0" eaLnBrk="1" latinLnBrk="0" hangingPunct="1">
              <a:lnSpc>
                <a:spcPct val="120000"/>
              </a:lnSpc>
              <a:spcBef>
                <a:spcPts val="1000"/>
              </a:spcBef>
              <a:buFont typeface="Calibri Light" panose="020F0302020204030204" pitchFamily="34" charset="0"/>
              <a:buChar char="→"/>
              <a:defRPr sz="2200" kern="1200">
                <a:solidFill>
                  <a:schemeClr val="tx2">
                    <a:alpha val="55000"/>
                  </a:schemeClr>
                </a:solidFill>
                <a:latin typeface="+mn-lt"/>
                <a:ea typeface="+mn-ea"/>
                <a:cs typeface="+mn-cs"/>
              </a:defRPr>
            </a:lvl1pPr>
            <a:lvl2pPr marL="900000" indent="-448056" algn="l" defTabSz="914400" rtl="0" eaLnBrk="1" latinLnBrk="0" hangingPunct="1">
              <a:lnSpc>
                <a:spcPct val="120000"/>
              </a:lnSpc>
              <a:spcBef>
                <a:spcPts val="500"/>
              </a:spcBef>
              <a:buFont typeface="Calibri Light" panose="020F0302020204030204" pitchFamily="34" charset="0"/>
              <a:buChar char="→"/>
              <a:defRPr sz="2200" kern="1200">
                <a:solidFill>
                  <a:schemeClr val="tx2">
                    <a:alpha val="55000"/>
                  </a:schemeClr>
                </a:solidFill>
                <a:latin typeface="+mn-lt"/>
                <a:ea typeface="+mn-ea"/>
                <a:cs typeface="+mn-cs"/>
              </a:defRPr>
            </a:lvl2pPr>
            <a:lvl3pPr marL="1350000" indent="-448056" algn="l" defTabSz="914400" rtl="0" eaLnBrk="1" latinLnBrk="0" hangingPunct="1">
              <a:lnSpc>
                <a:spcPct val="120000"/>
              </a:lnSpc>
              <a:spcBef>
                <a:spcPts val="500"/>
              </a:spcBef>
              <a:buFont typeface="Calibri Light" panose="020F0302020204030204" pitchFamily="34" charset="0"/>
              <a:buChar char="→"/>
              <a:defRPr sz="2200" kern="1200">
                <a:solidFill>
                  <a:schemeClr val="tx2">
                    <a:alpha val="55000"/>
                  </a:schemeClr>
                </a:solidFill>
                <a:latin typeface="+mn-lt"/>
                <a:ea typeface="+mn-ea"/>
                <a:cs typeface="+mn-cs"/>
              </a:defRPr>
            </a:lvl3pPr>
            <a:lvl4pPr marL="1800000" indent="-448056" algn="l" defTabSz="914400" rtl="0" eaLnBrk="1" latinLnBrk="0" hangingPunct="1">
              <a:lnSpc>
                <a:spcPct val="120000"/>
              </a:lnSpc>
              <a:spcBef>
                <a:spcPts val="500"/>
              </a:spcBef>
              <a:buFont typeface="Calibri Light" panose="020F0302020204030204" pitchFamily="34" charset="0"/>
              <a:buChar char="→"/>
              <a:defRPr sz="2200" kern="1200">
                <a:solidFill>
                  <a:schemeClr val="tx2">
                    <a:alpha val="55000"/>
                  </a:schemeClr>
                </a:solidFill>
                <a:latin typeface="+mn-lt"/>
                <a:ea typeface="+mn-ea"/>
                <a:cs typeface="+mn-cs"/>
              </a:defRPr>
            </a:lvl4pPr>
            <a:lvl5pPr marL="2250000" indent="-448056" algn="l" defTabSz="914400" rtl="0" eaLnBrk="1" latinLnBrk="0" hangingPunct="1">
              <a:lnSpc>
                <a:spcPct val="120000"/>
              </a:lnSpc>
              <a:spcBef>
                <a:spcPts val="500"/>
              </a:spcBef>
              <a:buFont typeface="Calibri Light" panose="020F0302020204030204" pitchFamily="34" charset="0"/>
              <a:buChar char="→"/>
              <a:defRPr sz="2200" kern="1200">
                <a:solidFill>
                  <a:schemeClr val="tx2">
                    <a:alpha val="5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Modifiable Risk Factors Include:</a:t>
            </a:r>
          </a:p>
          <a:p>
            <a:pPr lvl="1"/>
            <a:r>
              <a:rPr lang="en-US" dirty="0"/>
              <a:t>Hypertension </a:t>
            </a:r>
          </a:p>
          <a:p>
            <a:pPr lvl="1"/>
            <a:r>
              <a:rPr lang="en-US" dirty="0"/>
              <a:t>Diabetes mellitus </a:t>
            </a:r>
          </a:p>
          <a:p>
            <a:pPr lvl="1"/>
            <a:r>
              <a:rPr lang="en-US" dirty="0"/>
              <a:t>Cardiac disease </a:t>
            </a:r>
          </a:p>
          <a:p>
            <a:pPr lvl="1"/>
            <a:r>
              <a:rPr lang="en-US" dirty="0"/>
              <a:t>High cholesterol</a:t>
            </a:r>
          </a:p>
          <a:p>
            <a:pPr lvl="1"/>
            <a:r>
              <a:rPr lang="en-US" b="1" dirty="0">
                <a:solidFill>
                  <a:schemeClr val="accent6">
                    <a:alpha val="55000"/>
                  </a:schemeClr>
                </a:solidFill>
              </a:rPr>
              <a:t>Carotid stenosis</a:t>
            </a:r>
          </a:p>
          <a:p>
            <a:pPr lvl="1"/>
            <a:r>
              <a:rPr lang="en-US" b="1" dirty="0">
                <a:solidFill>
                  <a:schemeClr val="accent6">
                    <a:alpha val="55000"/>
                  </a:schemeClr>
                </a:solidFill>
              </a:rPr>
              <a:t>Atrial Fibrillation</a:t>
            </a:r>
          </a:p>
          <a:p>
            <a:pPr lvl="1"/>
            <a:r>
              <a:rPr lang="en-US" dirty="0"/>
              <a:t>Lifestyle issues: Excessive alcohol intake, tobacco use, illicit drug use, physical inactivity </a:t>
            </a:r>
          </a:p>
          <a:p>
            <a:pPr lvl="1"/>
            <a:r>
              <a:rPr lang="en-US" dirty="0"/>
              <a:t>Obesity </a:t>
            </a:r>
          </a:p>
          <a:p>
            <a:pPr lvl="1"/>
            <a:r>
              <a:rPr lang="en-US" dirty="0"/>
              <a:t>Oral contraceptive use/postmenopausal hormone use (probably estrogen more than progesterone)</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378555E4-1073-AD47-A034-208B11F1075D}"/>
                  </a:ext>
                </a:extLst>
              </p14:cNvPr>
              <p14:cNvContentPartPr/>
              <p14:nvPr/>
            </p14:nvContentPartPr>
            <p14:xfrm>
              <a:off x="6111927" y="2745401"/>
              <a:ext cx="2968920" cy="1094760"/>
            </p14:xfrm>
          </p:contentPart>
        </mc:Choice>
        <mc:Fallback>
          <p:pic>
            <p:nvPicPr>
              <p:cNvPr id="4" name="Ink 3">
                <a:extLst>
                  <a:ext uri="{FF2B5EF4-FFF2-40B4-BE49-F238E27FC236}">
                    <a16:creationId xmlns:a16="http://schemas.microsoft.com/office/drawing/2014/main" id="{378555E4-1073-AD47-A034-208B11F1075D}"/>
                  </a:ext>
                </a:extLst>
              </p:cNvPr>
              <p:cNvPicPr/>
              <p:nvPr/>
            </p:nvPicPr>
            <p:blipFill>
              <a:blip r:embed="rId3"/>
              <a:stretch>
                <a:fillRect/>
              </a:stretch>
            </p:blipFill>
            <p:spPr>
              <a:xfrm>
                <a:off x="6093927" y="2727401"/>
                <a:ext cx="3004560" cy="1130400"/>
              </a:xfrm>
              <a:prstGeom prst="rect">
                <a:avLst/>
              </a:prstGeom>
            </p:spPr>
          </p:pic>
        </mc:Fallback>
      </mc:AlternateContent>
    </p:spTree>
    <p:extLst>
      <p:ext uri="{BB962C8B-B14F-4D97-AF65-F5344CB8AC3E}">
        <p14:creationId xmlns:p14="http://schemas.microsoft.com/office/powerpoint/2010/main" val="18881446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4925016-C67B-4188-B5DB-5C9F831A39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B8E7622-F143-C74B-B158-D32E51218760}"/>
              </a:ext>
            </a:extLst>
          </p:cNvPr>
          <p:cNvSpPr>
            <a:spLocks noGrp="1"/>
          </p:cNvSpPr>
          <p:nvPr>
            <p:ph type="title"/>
          </p:nvPr>
        </p:nvSpPr>
        <p:spPr>
          <a:xfrm>
            <a:off x="448056" y="393192"/>
            <a:ext cx="11301984" cy="859536"/>
          </a:xfrm>
        </p:spPr>
        <p:txBody>
          <a:bodyPr anchor="b">
            <a:normAutofit/>
          </a:bodyPr>
          <a:lstStyle/>
          <a:p>
            <a:r>
              <a:rPr lang="en-US" dirty="0"/>
              <a:t>Clinical Presentation</a:t>
            </a:r>
          </a:p>
        </p:txBody>
      </p:sp>
      <p:cxnSp>
        <p:nvCxnSpPr>
          <p:cNvPr id="10" name="Straight Connector 9">
            <a:extLst>
              <a:ext uri="{FF2B5EF4-FFF2-40B4-BE49-F238E27FC236}">
                <a16:creationId xmlns:a16="http://schemas.microsoft.com/office/drawing/2014/main" id="{6C52BBAB-664F-48C3-A5C1-4CE9D3555D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9400" y="16092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372E09E-0FD0-E641-A38A-FB93C5BD9718}"/>
              </a:ext>
            </a:extLst>
          </p:cNvPr>
          <p:cNvSpPr>
            <a:spLocks noGrp="1"/>
          </p:cNvSpPr>
          <p:nvPr>
            <p:ph idx="1"/>
          </p:nvPr>
        </p:nvSpPr>
        <p:spPr>
          <a:xfrm>
            <a:off x="456840" y="1947671"/>
            <a:ext cx="11293200" cy="4687579"/>
          </a:xfrm>
        </p:spPr>
        <p:txBody>
          <a:bodyPr>
            <a:noAutofit/>
          </a:bodyPr>
          <a:lstStyle/>
          <a:p>
            <a:pPr>
              <a:lnSpc>
                <a:spcPct val="110000"/>
              </a:lnSpc>
            </a:pPr>
            <a:r>
              <a:rPr lang="en-US" sz="1900" dirty="0"/>
              <a:t>Many different clinical presentations, depending on location of the stroke</a:t>
            </a:r>
          </a:p>
          <a:p>
            <a:pPr>
              <a:lnSpc>
                <a:spcPct val="110000"/>
              </a:lnSpc>
            </a:pPr>
            <a:r>
              <a:rPr lang="en-US" sz="1900" dirty="0"/>
              <a:t>Examples of chief complaints:</a:t>
            </a:r>
          </a:p>
          <a:p>
            <a:pPr lvl="1">
              <a:lnSpc>
                <a:spcPct val="110000"/>
              </a:lnSpc>
            </a:pPr>
            <a:r>
              <a:rPr lang="en-US" sz="1900" dirty="0"/>
              <a:t>Weakness</a:t>
            </a:r>
          </a:p>
          <a:p>
            <a:pPr lvl="1">
              <a:lnSpc>
                <a:spcPct val="110000"/>
              </a:lnSpc>
            </a:pPr>
            <a:r>
              <a:rPr lang="en-US" sz="1900" dirty="0"/>
              <a:t>Numbness</a:t>
            </a:r>
          </a:p>
          <a:p>
            <a:pPr lvl="1">
              <a:lnSpc>
                <a:spcPct val="110000"/>
              </a:lnSpc>
            </a:pPr>
            <a:r>
              <a:rPr lang="en-US" sz="1900" dirty="0"/>
              <a:t>Difficulty speaking</a:t>
            </a:r>
          </a:p>
          <a:p>
            <a:pPr lvl="1">
              <a:lnSpc>
                <a:spcPct val="110000"/>
              </a:lnSpc>
            </a:pPr>
            <a:r>
              <a:rPr lang="en-US" sz="1900" dirty="0"/>
              <a:t>Difficulty walking</a:t>
            </a:r>
          </a:p>
          <a:p>
            <a:pPr lvl="1">
              <a:lnSpc>
                <a:spcPct val="110000"/>
              </a:lnSpc>
            </a:pPr>
            <a:r>
              <a:rPr lang="en-US" sz="1900" dirty="0"/>
              <a:t>Confusion</a:t>
            </a:r>
          </a:p>
          <a:p>
            <a:pPr lvl="1">
              <a:lnSpc>
                <a:spcPct val="110000"/>
              </a:lnSpc>
            </a:pPr>
            <a:r>
              <a:rPr lang="en-US" sz="1900" dirty="0"/>
              <a:t>‘not right’</a:t>
            </a:r>
          </a:p>
          <a:p>
            <a:pPr>
              <a:lnSpc>
                <a:spcPct val="110000"/>
              </a:lnSpc>
            </a:pPr>
            <a:r>
              <a:rPr lang="en-US" sz="1900" dirty="0"/>
              <a:t>Stroke should be considered in any </a:t>
            </a:r>
            <a:r>
              <a:rPr lang="en-US" sz="1900" b="1" dirty="0">
                <a:solidFill>
                  <a:schemeClr val="accent5">
                    <a:alpha val="55000"/>
                  </a:schemeClr>
                </a:solidFill>
              </a:rPr>
              <a:t>sudden onset neurologic deficit</a:t>
            </a:r>
          </a:p>
          <a:p>
            <a:pPr>
              <a:lnSpc>
                <a:spcPct val="110000"/>
              </a:lnSpc>
            </a:pPr>
            <a:r>
              <a:rPr lang="en-US" sz="1900" b="1" dirty="0">
                <a:solidFill>
                  <a:schemeClr val="tx1">
                    <a:alpha val="55000"/>
                  </a:schemeClr>
                </a:solidFill>
              </a:rPr>
              <a:t>Your stroke syndromes lecture focused on combinations of deficits commonly seen in stroke, today we’re more interested in how to proceed after the diagnosis is made</a:t>
            </a:r>
          </a:p>
        </p:txBody>
      </p:sp>
    </p:spTree>
    <p:extLst>
      <p:ext uri="{BB962C8B-B14F-4D97-AF65-F5344CB8AC3E}">
        <p14:creationId xmlns:p14="http://schemas.microsoft.com/office/powerpoint/2010/main" val="21506996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4925016-C67B-4188-B5DB-5C9F831A39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17E258D-1FCB-964F-8F09-6B7958838531}"/>
              </a:ext>
            </a:extLst>
          </p:cNvPr>
          <p:cNvSpPr>
            <a:spLocks noGrp="1"/>
          </p:cNvSpPr>
          <p:nvPr>
            <p:ph type="title"/>
          </p:nvPr>
        </p:nvSpPr>
        <p:spPr>
          <a:xfrm>
            <a:off x="448056" y="393192"/>
            <a:ext cx="11301984" cy="859536"/>
          </a:xfrm>
        </p:spPr>
        <p:txBody>
          <a:bodyPr anchor="b">
            <a:normAutofit/>
          </a:bodyPr>
          <a:lstStyle/>
          <a:p>
            <a:r>
              <a:rPr lang="en-US" dirty="0"/>
              <a:t>Differential Diagnosis Considerations</a:t>
            </a:r>
          </a:p>
        </p:txBody>
      </p:sp>
      <p:cxnSp>
        <p:nvCxnSpPr>
          <p:cNvPr id="10" name="Straight Connector 9">
            <a:extLst>
              <a:ext uri="{FF2B5EF4-FFF2-40B4-BE49-F238E27FC236}">
                <a16:creationId xmlns:a16="http://schemas.microsoft.com/office/drawing/2014/main" id="{6C52BBAB-664F-48C3-A5C1-4CE9D3555D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9400" y="16092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93DE3D5-3DE6-2943-9316-0215BCFE6D34}"/>
              </a:ext>
            </a:extLst>
          </p:cNvPr>
          <p:cNvSpPr>
            <a:spLocks noGrp="1"/>
          </p:cNvSpPr>
          <p:nvPr>
            <p:ph idx="1"/>
          </p:nvPr>
        </p:nvSpPr>
        <p:spPr>
          <a:xfrm>
            <a:off x="4370832" y="1947672"/>
            <a:ext cx="7379208" cy="4005072"/>
          </a:xfrm>
        </p:spPr>
        <p:txBody>
          <a:bodyPr>
            <a:normAutofit/>
          </a:bodyPr>
          <a:lstStyle/>
          <a:p>
            <a:r>
              <a:rPr lang="en-US" sz="2800" dirty="0"/>
              <a:t>Consider different mechanisms of stroke</a:t>
            </a:r>
          </a:p>
          <a:p>
            <a:r>
              <a:rPr lang="en-US" sz="2800" dirty="0"/>
              <a:t>Transient Ischemic Attack (TIA)</a:t>
            </a:r>
          </a:p>
          <a:p>
            <a:r>
              <a:rPr lang="en-US" sz="2800" dirty="0"/>
              <a:t>Seizure and post-ictal paralysis</a:t>
            </a:r>
          </a:p>
          <a:p>
            <a:r>
              <a:rPr lang="en-US" sz="2800" dirty="0"/>
              <a:t>Migraine with Aura</a:t>
            </a:r>
          </a:p>
          <a:p>
            <a:r>
              <a:rPr lang="en-US" sz="2800" dirty="0"/>
              <a:t>Functional neurologic deficit</a:t>
            </a:r>
          </a:p>
          <a:p>
            <a:r>
              <a:rPr lang="en-US" sz="2800" dirty="0"/>
              <a:t>Cerebral Amyloid Angiopathy</a:t>
            </a:r>
          </a:p>
          <a:p>
            <a:endParaRPr lang="en-US" dirty="0"/>
          </a:p>
        </p:txBody>
      </p:sp>
    </p:spTree>
    <p:extLst>
      <p:ext uri="{BB962C8B-B14F-4D97-AF65-F5344CB8AC3E}">
        <p14:creationId xmlns:p14="http://schemas.microsoft.com/office/powerpoint/2010/main" val="42736091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4925016-C67B-4188-B5DB-5C9F831A39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3AAA6BF-3BEB-0249-ADD2-717E2E7B5313}"/>
              </a:ext>
            </a:extLst>
          </p:cNvPr>
          <p:cNvSpPr>
            <a:spLocks noGrp="1"/>
          </p:cNvSpPr>
          <p:nvPr>
            <p:ph type="title"/>
          </p:nvPr>
        </p:nvSpPr>
        <p:spPr>
          <a:xfrm>
            <a:off x="448056" y="393192"/>
            <a:ext cx="11301984" cy="859536"/>
          </a:xfrm>
        </p:spPr>
        <p:txBody>
          <a:bodyPr anchor="b">
            <a:normAutofit/>
          </a:bodyPr>
          <a:lstStyle/>
          <a:p>
            <a:r>
              <a:rPr lang="en-US" dirty="0"/>
              <a:t>Treatment/management principles</a:t>
            </a:r>
          </a:p>
        </p:txBody>
      </p:sp>
      <p:cxnSp>
        <p:nvCxnSpPr>
          <p:cNvPr id="10" name="Straight Connector 9">
            <a:extLst>
              <a:ext uri="{FF2B5EF4-FFF2-40B4-BE49-F238E27FC236}">
                <a16:creationId xmlns:a16="http://schemas.microsoft.com/office/drawing/2014/main" id="{6C52BBAB-664F-48C3-A5C1-4CE9D3555D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9400" y="16092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0B1DEA7-49EC-FA40-954F-4AD8464A0D56}"/>
              </a:ext>
            </a:extLst>
          </p:cNvPr>
          <p:cNvSpPr>
            <a:spLocks noGrp="1"/>
          </p:cNvSpPr>
          <p:nvPr>
            <p:ph idx="1"/>
          </p:nvPr>
        </p:nvSpPr>
        <p:spPr>
          <a:xfrm>
            <a:off x="448056" y="1947672"/>
            <a:ext cx="11301984" cy="4517136"/>
          </a:xfrm>
        </p:spPr>
        <p:txBody>
          <a:bodyPr>
            <a:normAutofit/>
          </a:bodyPr>
          <a:lstStyle/>
          <a:p>
            <a:r>
              <a:rPr lang="en-US" dirty="0"/>
              <a:t>Time is Brain</a:t>
            </a:r>
          </a:p>
          <a:p>
            <a:pPr lvl="1"/>
            <a:r>
              <a:rPr lang="en-US" dirty="0"/>
              <a:t>Once acute ischemic stroke is suspected, rapid determination of eligibility for acute interventions is needed</a:t>
            </a:r>
          </a:p>
          <a:p>
            <a:pPr lvl="1"/>
            <a:r>
              <a:rPr lang="en-US" dirty="0"/>
              <a:t>Every minute brain is deprived of blood flow leads to irreversible ischemia and neuronal death.</a:t>
            </a:r>
          </a:p>
          <a:p>
            <a:r>
              <a:rPr lang="en-US" dirty="0"/>
              <a:t>Acute interventions for ischemic stroke include: </a:t>
            </a:r>
          </a:p>
          <a:p>
            <a:pPr lvl="1"/>
            <a:r>
              <a:rPr lang="en-US" dirty="0"/>
              <a:t>Acute thrombolysis with </a:t>
            </a:r>
            <a:r>
              <a:rPr lang="en-US" dirty="0">
                <a:solidFill>
                  <a:schemeClr val="accent5">
                    <a:alpha val="55000"/>
                  </a:schemeClr>
                </a:solidFill>
              </a:rPr>
              <a:t>IV </a:t>
            </a:r>
            <a:r>
              <a:rPr lang="en-US" b="1" dirty="0" err="1">
                <a:solidFill>
                  <a:schemeClr val="accent5">
                    <a:alpha val="55000"/>
                  </a:schemeClr>
                </a:solidFill>
              </a:rPr>
              <a:t>tPA</a:t>
            </a:r>
            <a:endParaRPr lang="en-US" b="1" dirty="0">
              <a:solidFill>
                <a:schemeClr val="accent5">
                  <a:alpha val="55000"/>
                </a:schemeClr>
              </a:solidFill>
            </a:endParaRPr>
          </a:p>
          <a:p>
            <a:pPr lvl="1"/>
            <a:r>
              <a:rPr lang="en-US" dirty="0"/>
              <a:t>Mechanical </a:t>
            </a:r>
            <a:r>
              <a:rPr lang="en-US" b="1" dirty="0">
                <a:solidFill>
                  <a:schemeClr val="accent5">
                    <a:alpha val="55000"/>
                  </a:schemeClr>
                </a:solidFill>
              </a:rPr>
              <a:t>Thrombectomy</a:t>
            </a:r>
            <a:r>
              <a:rPr lang="en-US" dirty="0"/>
              <a:t> for large vessel occlusion</a:t>
            </a:r>
          </a:p>
          <a:p>
            <a:pPr lvl="1"/>
            <a:r>
              <a:rPr lang="en-US" dirty="0"/>
              <a:t>Patients may get both, one or neither of these interventions depending on many factors</a:t>
            </a:r>
          </a:p>
        </p:txBody>
      </p:sp>
    </p:spTree>
    <p:extLst>
      <p:ext uri="{BB962C8B-B14F-4D97-AF65-F5344CB8AC3E}">
        <p14:creationId xmlns:p14="http://schemas.microsoft.com/office/powerpoint/2010/main" val="26895487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D86DADD-940E-4CC1-AF60-0D36FB29B1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3009F4-D3EE-254F-85B9-0F3E920B2167}"/>
              </a:ext>
            </a:extLst>
          </p:cNvPr>
          <p:cNvSpPr>
            <a:spLocks noGrp="1"/>
          </p:cNvSpPr>
          <p:nvPr>
            <p:ph type="title"/>
          </p:nvPr>
        </p:nvSpPr>
        <p:spPr>
          <a:xfrm>
            <a:off x="448056" y="388800"/>
            <a:ext cx="5432044" cy="860400"/>
          </a:xfrm>
        </p:spPr>
        <p:txBody>
          <a:bodyPr anchor="b">
            <a:normAutofit/>
          </a:bodyPr>
          <a:lstStyle/>
          <a:p>
            <a:r>
              <a:rPr lang="en-US" sz="3000"/>
              <a:t>IV </a:t>
            </a:r>
            <a:r>
              <a:rPr lang="en-US" sz="3000" err="1"/>
              <a:t>tPA</a:t>
            </a:r>
            <a:r>
              <a:rPr lang="en-US" sz="3000"/>
              <a:t> – Mechanism of action and establishment of efficacy</a:t>
            </a:r>
          </a:p>
        </p:txBody>
      </p:sp>
      <p:cxnSp>
        <p:nvCxnSpPr>
          <p:cNvPr id="12" name="Straight Connector 11">
            <a:extLst>
              <a:ext uri="{FF2B5EF4-FFF2-40B4-BE49-F238E27FC236}">
                <a16:creationId xmlns:a16="http://schemas.microsoft.com/office/drawing/2014/main" id="{B32E796E-8D19-4926-B7B8-653B019390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0000" y="1609200"/>
            <a:ext cx="5434694"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02DEBE5-114D-054A-B58E-EC8808592869}"/>
              </a:ext>
            </a:extLst>
          </p:cNvPr>
          <p:cNvSpPr>
            <a:spLocks noGrp="1"/>
          </p:cNvSpPr>
          <p:nvPr>
            <p:ph idx="1"/>
          </p:nvPr>
        </p:nvSpPr>
        <p:spPr>
          <a:xfrm>
            <a:off x="448056" y="1944000"/>
            <a:ext cx="5432044" cy="4006800"/>
          </a:xfrm>
        </p:spPr>
        <p:txBody>
          <a:bodyPr>
            <a:normAutofit lnSpcReduction="10000"/>
          </a:bodyPr>
          <a:lstStyle/>
          <a:p>
            <a:r>
              <a:rPr lang="en-US" dirty="0"/>
              <a:t>Binds to fibrin within a clot</a:t>
            </a:r>
          </a:p>
          <a:p>
            <a:r>
              <a:rPr lang="en-US" dirty="0"/>
              <a:t>Converts entrapped plasminogen to plasmin</a:t>
            </a:r>
          </a:p>
          <a:p>
            <a:r>
              <a:rPr lang="en-US" dirty="0"/>
              <a:t>Proven to improve outcomes when given in accordance with strict inclusion/exclusion criteria</a:t>
            </a:r>
          </a:p>
          <a:p>
            <a:pPr lvl="1"/>
            <a:r>
              <a:rPr lang="en-US" dirty="0"/>
              <a:t>NINDS 1995</a:t>
            </a:r>
          </a:p>
          <a:p>
            <a:pPr lvl="1"/>
            <a:r>
              <a:rPr lang="en-US" dirty="0"/>
              <a:t>ECASS 2008</a:t>
            </a:r>
          </a:p>
          <a:p>
            <a:pPr lvl="1"/>
            <a:r>
              <a:rPr lang="en-US" dirty="0"/>
              <a:t>SITS-MOST 2007</a:t>
            </a:r>
          </a:p>
          <a:p>
            <a:pPr marL="1944" indent="0">
              <a:buNone/>
            </a:pPr>
            <a:endParaRPr lang="en-US" dirty="0"/>
          </a:p>
        </p:txBody>
      </p:sp>
      <p:pic>
        <p:nvPicPr>
          <p:cNvPr id="5" name="Picture 4" descr="Shape, arrow&#10;&#10;Description automatically generated">
            <a:extLst>
              <a:ext uri="{FF2B5EF4-FFF2-40B4-BE49-F238E27FC236}">
                <a16:creationId xmlns:a16="http://schemas.microsoft.com/office/drawing/2014/main" id="{B6E919FF-1F9C-5D48-A207-E871C6F80764}"/>
              </a:ext>
            </a:extLst>
          </p:cNvPr>
          <p:cNvPicPr>
            <a:picLocks noChangeAspect="1"/>
          </p:cNvPicPr>
          <p:nvPr/>
        </p:nvPicPr>
        <p:blipFill>
          <a:blip r:embed="rId3"/>
          <a:stretch>
            <a:fillRect/>
          </a:stretch>
        </p:blipFill>
        <p:spPr>
          <a:xfrm>
            <a:off x="6955563" y="450000"/>
            <a:ext cx="4144770" cy="5508000"/>
          </a:xfrm>
          <a:prstGeom prst="rect">
            <a:avLst/>
          </a:prstGeom>
        </p:spPr>
      </p:pic>
    </p:spTree>
    <p:extLst>
      <p:ext uri="{BB962C8B-B14F-4D97-AF65-F5344CB8AC3E}">
        <p14:creationId xmlns:p14="http://schemas.microsoft.com/office/powerpoint/2010/main" val="41531233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4925016-C67B-4188-B5DB-5C9F831A39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DB47B1-6E4E-364A-AA89-CFB8C93F3A37}"/>
              </a:ext>
            </a:extLst>
          </p:cNvPr>
          <p:cNvSpPr>
            <a:spLocks noGrp="1"/>
          </p:cNvSpPr>
          <p:nvPr>
            <p:ph type="title"/>
          </p:nvPr>
        </p:nvSpPr>
        <p:spPr>
          <a:xfrm>
            <a:off x="448056" y="393192"/>
            <a:ext cx="11301984" cy="859536"/>
          </a:xfrm>
        </p:spPr>
        <p:txBody>
          <a:bodyPr anchor="b">
            <a:normAutofit/>
          </a:bodyPr>
          <a:lstStyle/>
          <a:p>
            <a:r>
              <a:rPr lang="en-US" dirty="0"/>
              <a:t>Acute thrombolysis with IV </a:t>
            </a:r>
            <a:r>
              <a:rPr lang="en-US" dirty="0" err="1"/>
              <a:t>tPA</a:t>
            </a:r>
            <a:r>
              <a:rPr lang="en-US" dirty="0"/>
              <a:t>: eligibility algorithm</a:t>
            </a:r>
          </a:p>
        </p:txBody>
      </p:sp>
      <p:cxnSp>
        <p:nvCxnSpPr>
          <p:cNvPr id="10" name="Straight Connector 9">
            <a:extLst>
              <a:ext uri="{FF2B5EF4-FFF2-40B4-BE49-F238E27FC236}">
                <a16:creationId xmlns:a16="http://schemas.microsoft.com/office/drawing/2014/main" id="{6C52BBAB-664F-48C3-A5C1-4CE9D3555D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9400" y="16092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D05D2CA-D515-D441-83CF-445C954BDFEF}"/>
              </a:ext>
            </a:extLst>
          </p:cNvPr>
          <p:cNvSpPr>
            <a:spLocks noGrp="1"/>
          </p:cNvSpPr>
          <p:nvPr>
            <p:ph idx="1"/>
          </p:nvPr>
        </p:nvSpPr>
        <p:spPr>
          <a:xfrm>
            <a:off x="456840" y="1947671"/>
            <a:ext cx="11293200" cy="4605527"/>
          </a:xfrm>
        </p:spPr>
        <p:txBody>
          <a:bodyPr>
            <a:normAutofit lnSpcReduction="10000"/>
          </a:bodyPr>
          <a:lstStyle/>
          <a:p>
            <a:pPr>
              <a:lnSpc>
                <a:spcPct val="110000"/>
              </a:lnSpc>
            </a:pPr>
            <a:r>
              <a:rPr lang="en-US" sz="2400" dirty="0"/>
              <a:t>Establish a </a:t>
            </a:r>
            <a:r>
              <a:rPr lang="en-US" sz="2400" b="1" dirty="0">
                <a:solidFill>
                  <a:schemeClr val="accent5">
                    <a:alpha val="55000"/>
                  </a:schemeClr>
                </a:solidFill>
              </a:rPr>
              <a:t>last known well time (LKWT)</a:t>
            </a:r>
          </a:p>
          <a:p>
            <a:pPr>
              <a:lnSpc>
                <a:spcPct val="110000"/>
              </a:lnSpc>
            </a:pPr>
            <a:r>
              <a:rPr lang="en-US" sz="2400" dirty="0"/>
              <a:t>Focused neurological exam with </a:t>
            </a:r>
            <a:r>
              <a:rPr lang="en-US" sz="2400" b="1" dirty="0">
                <a:solidFill>
                  <a:schemeClr val="accent5">
                    <a:alpha val="55000"/>
                  </a:schemeClr>
                </a:solidFill>
              </a:rPr>
              <a:t>National Institutes of Health Stroke Scale (NIHSS)</a:t>
            </a:r>
          </a:p>
          <a:p>
            <a:pPr>
              <a:lnSpc>
                <a:spcPct val="110000"/>
              </a:lnSpc>
            </a:pPr>
            <a:r>
              <a:rPr lang="en-US" sz="2400" dirty="0"/>
              <a:t>Brief medication history (e.g., anticoagulants) to assess contraindications to therapy</a:t>
            </a:r>
          </a:p>
          <a:p>
            <a:pPr>
              <a:lnSpc>
                <a:spcPct val="110000"/>
              </a:lnSpc>
            </a:pPr>
            <a:r>
              <a:rPr lang="en-US" sz="2400" b="1" dirty="0">
                <a:solidFill>
                  <a:schemeClr val="accent6">
                    <a:alpha val="55000"/>
                  </a:schemeClr>
                </a:solidFill>
              </a:rPr>
              <a:t>Non contrast head CT</a:t>
            </a:r>
            <a:r>
              <a:rPr lang="en-US" sz="2400" dirty="0"/>
              <a:t> to rule out hemorrhage</a:t>
            </a:r>
          </a:p>
          <a:p>
            <a:pPr>
              <a:lnSpc>
                <a:spcPct val="110000"/>
              </a:lnSpc>
            </a:pPr>
            <a:r>
              <a:rPr lang="en-US" sz="2400" dirty="0"/>
              <a:t>Labs: </a:t>
            </a:r>
            <a:r>
              <a:rPr lang="en-US" sz="2400" b="1" dirty="0">
                <a:solidFill>
                  <a:schemeClr val="accent5">
                    <a:alpha val="55000"/>
                  </a:schemeClr>
                </a:solidFill>
              </a:rPr>
              <a:t>fingerstick blood glucose</a:t>
            </a:r>
            <a:r>
              <a:rPr lang="en-US" sz="2400" dirty="0"/>
              <a:t>, coagulation studies such as PT-INR, PTT, platelet count, and renal functions such as creatinine</a:t>
            </a:r>
          </a:p>
          <a:p>
            <a:pPr lvl="1"/>
            <a:r>
              <a:rPr lang="en-US" dirty="0"/>
              <a:t>Fingerstick glucose: technically only lab REQUIRED before IV </a:t>
            </a:r>
            <a:r>
              <a:rPr lang="en-US" dirty="0" err="1"/>
              <a:t>tPA</a:t>
            </a:r>
            <a:r>
              <a:rPr lang="en-US" dirty="0"/>
              <a:t> can be administered (caveats apply)</a:t>
            </a:r>
          </a:p>
          <a:p>
            <a:pPr lvl="1"/>
            <a:r>
              <a:rPr lang="en-US" dirty="0"/>
              <a:t>Coagulation studies: abnormalities on these labs can be exclusion criteria for IV </a:t>
            </a:r>
            <a:r>
              <a:rPr lang="en-US" dirty="0" err="1"/>
              <a:t>tPA</a:t>
            </a:r>
            <a:endParaRPr lang="en-US" dirty="0"/>
          </a:p>
          <a:p>
            <a:pPr lvl="1"/>
            <a:endParaRPr lang="en-US" dirty="0"/>
          </a:p>
          <a:p>
            <a:pPr lvl="1"/>
            <a:endParaRPr lang="en-US" dirty="0"/>
          </a:p>
          <a:p>
            <a:pPr lvl="1">
              <a:lnSpc>
                <a:spcPct val="110000"/>
              </a:lnSpc>
            </a:pPr>
            <a:endParaRPr lang="en-US" sz="2400" dirty="0"/>
          </a:p>
        </p:txBody>
      </p:sp>
    </p:spTree>
    <p:extLst>
      <p:ext uri="{BB962C8B-B14F-4D97-AF65-F5344CB8AC3E}">
        <p14:creationId xmlns:p14="http://schemas.microsoft.com/office/powerpoint/2010/main" val="773618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4925016-C67B-4188-B5DB-5C9F831A39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F285198-D466-8341-89CD-15EAD9F95225}"/>
              </a:ext>
            </a:extLst>
          </p:cNvPr>
          <p:cNvSpPr>
            <a:spLocks noGrp="1"/>
          </p:cNvSpPr>
          <p:nvPr>
            <p:ph type="title"/>
          </p:nvPr>
        </p:nvSpPr>
        <p:spPr>
          <a:xfrm>
            <a:off x="448056" y="393192"/>
            <a:ext cx="11301984" cy="859536"/>
          </a:xfrm>
        </p:spPr>
        <p:txBody>
          <a:bodyPr anchor="b">
            <a:normAutofit/>
          </a:bodyPr>
          <a:lstStyle/>
          <a:p>
            <a:r>
              <a:rPr lang="en-US" dirty="0"/>
              <a:t>Physical Examination</a:t>
            </a:r>
          </a:p>
        </p:txBody>
      </p:sp>
      <p:cxnSp>
        <p:nvCxnSpPr>
          <p:cNvPr id="10" name="Straight Connector 9">
            <a:extLst>
              <a:ext uri="{FF2B5EF4-FFF2-40B4-BE49-F238E27FC236}">
                <a16:creationId xmlns:a16="http://schemas.microsoft.com/office/drawing/2014/main" id="{6C52BBAB-664F-48C3-A5C1-4CE9D3555D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9400" y="16092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E448E97-F834-274D-BC2D-799E39401098}"/>
              </a:ext>
            </a:extLst>
          </p:cNvPr>
          <p:cNvSpPr>
            <a:spLocks noGrp="1"/>
          </p:cNvSpPr>
          <p:nvPr>
            <p:ph idx="1"/>
          </p:nvPr>
        </p:nvSpPr>
        <p:spPr>
          <a:xfrm>
            <a:off x="456840" y="1947672"/>
            <a:ext cx="11293200" cy="4005072"/>
          </a:xfrm>
        </p:spPr>
        <p:txBody>
          <a:bodyPr>
            <a:normAutofit/>
          </a:bodyPr>
          <a:lstStyle/>
          <a:p>
            <a:r>
              <a:rPr lang="en-US" sz="2400" dirty="0"/>
              <a:t>Urgency of the evaluation will dictate the level of detail in your exam</a:t>
            </a:r>
          </a:p>
          <a:p>
            <a:r>
              <a:rPr lang="en-US" sz="2400" dirty="0"/>
              <a:t>NIHSS – national institutes of health stroke scale</a:t>
            </a:r>
          </a:p>
          <a:p>
            <a:pPr lvl="1"/>
            <a:r>
              <a:rPr lang="en-US" sz="2400" dirty="0"/>
              <a:t>Standardized neurologic assessment for high yield stroke exam findings</a:t>
            </a:r>
          </a:p>
          <a:p>
            <a:pPr lvl="1"/>
            <a:r>
              <a:rPr lang="en-US" sz="2400" dirty="0"/>
              <a:t>All providers should have training on NIHSS</a:t>
            </a:r>
          </a:p>
          <a:p>
            <a:pPr lvl="1"/>
            <a:r>
              <a:rPr lang="en-US" sz="2400" dirty="0"/>
              <a:t>Scored 0 to 42 (higher is worse)</a:t>
            </a:r>
          </a:p>
          <a:p>
            <a:pPr lvl="1"/>
            <a:r>
              <a:rPr lang="en-US" sz="2400" dirty="0"/>
              <a:t>Reliable and validated screening tool for stroke assessment</a:t>
            </a:r>
          </a:p>
          <a:p>
            <a:pPr lvl="1"/>
            <a:r>
              <a:rPr lang="en-US" sz="2400" dirty="0"/>
              <a:t>Less sensitive to posterior circulation stroke syndromes</a:t>
            </a:r>
          </a:p>
        </p:txBody>
      </p:sp>
    </p:spTree>
    <p:extLst>
      <p:ext uri="{BB962C8B-B14F-4D97-AF65-F5344CB8AC3E}">
        <p14:creationId xmlns:p14="http://schemas.microsoft.com/office/powerpoint/2010/main" val="615510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59DAD-51C9-894D-AC65-CCE82DED781C}"/>
              </a:ext>
            </a:extLst>
          </p:cNvPr>
          <p:cNvSpPr>
            <a:spLocks noGrp="1"/>
          </p:cNvSpPr>
          <p:nvPr>
            <p:ph type="title"/>
          </p:nvPr>
        </p:nvSpPr>
        <p:spPr/>
        <p:txBody>
          <a:bodyPr/>
          <a:lstStyle/>
          <a:p>
            <a:r>
              <a:rPr lang="en-US"/>
              <a:t>NIHSS</a:t>
            </a:r>
            <a:endParaRPr lang="en-US" dirty="0"/>
          </a:p>
        </p:txBody>
      </p:sp>
      <p:pic>
        <p:nvPicPr>
          <p:cNvPr id="1026" name="Picture 2" descr="What Is The NIH Stroke Scale (NIHSS Score)? | Saebo">
            <a:extLst>
              <a:ext uri="{FF2B5EF4-FFF2-40B4-BE49-F238E27FC236}">
                <a16:creationId xmlns:a16="http://schemas.microsoft.com/office/drawing/2014/main" id="{FF961953-FCEE-3D41-9E80-FCCEFE09814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175" r="11024" b="50000"/>
          <a:stretch/>
        </p:blipFill>
        <p:spPr bwMode="auto">
          <a:xfrm>
            <a:off x="2876490" y="387820"/>
            <a:ext cx="4419601" cy="606965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What Is The NIH Stroke Scale (NIHSS Score)? | Saebo">
            <a:extLst>
              <a:ext uri="{FF2B5EF4-FFF2-40B4-BE49-F238E27FC236}">
                <a16:creationId xmlns:a16="http://schemas.microsoft.com/office/drawing/2014/main" id="{0D4683AD-0934-814F-B283-8BE1150C30E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0934" r="10886" b="6526"/>
          <a:stretch/>
        </p:blipFill>
        <p:spPr bwMode="auto">
          <a:xfrm>
            <a:off x="7302187" y="400522"/>
            <a:ext cx="4441757" cy="605022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D46ACA3-1ED5-5A4E-A8B8-56D44B7C28C4}"/>
              </a:ext>
            </a:extLst>
          </p:cNvPr>
          <p:cNvSpPr txBox="1"/>
          <p:nvPr/>
        </p:nvSpPr>
        <p:spPr>
          <a:xfrm>
            <a:off x="337930" y="1530000"/>
            <a:ext cx="1977887" cy="3139321"/>
          </a:xfrm>
          <a:prstGeom prst="rect">
            <a:avLst/>
          </a:prstGeom>
          <a:noFill/>
        </p:spPr>
        <p:txBody>
          <a:bodyPr wrap="square" rtlCol="0">
            <a:spAutoFit/>
          </a:bodyPr>
          <a:lstStyle/>
          <a:p>
            <a:r>
              <a:rPr lang="en-US" dirty="0"/>
              <a:t>If you will be doing a neurology, ER, or critical care rotation, please </a:t>
            </a:r>
            <a:r>
              <a:rPr lang="en-US" dirty="0">
                <a:hlinkClick r:id="rId3"/>
              </a:rPr>
              <a:t>visit this website </a:t>
            </a:r>
            <a:r>
              <a:rPr lang="en-US" dirty="0"/>
              <a:t>and complete your NIHSS certification. It will be invaluable when you get to third year. </a:t>
            </a:r>
          </a:p>
        </p:txBody>
      </p:sp>
    </p:spTree>
    <p:extLst>
      <p:ext uri="{BB962C8B-B14F-4D97-AF65-F5344CB8AC3E}">
        <p14:creationId xmlns:p14="http://schemas.microsoft.com/office/powerpoint/2010/main" val="24578061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71D199B-5E15-43A6-BA31-F5CDFDB3A9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E474937-CB48-2141-8D67-E662B7CE5E6C}"/>
              </a:ext>
            </a:extLst>
          </p:cNvPr>
          <p:cNvSpPr>
            <a:spLocks noGrp="1"/>
          </p:cNvSpPr>
          <p:nvPr>
            <p:ph type="title"/>
          </p:nvPr>
        </p:nvSpPr>
        <p:spPr>
          <a:xfrm>
            <a:off x="448056" y="393192"/>
            <a:ext cx="11301984" cy="859536"/>
          </a:xfrm>
        </p:spPr>
        <p:txBody>
          <a:bodyPr anchor="b">
            <a:normAutofit/>
          </a:bodyPr>
          <a:lstStyle/>
          <a:p>
            <a:r>
              <a:rPr lang="en-US" dirty="0"/>
              <a:t>NIHSS Instruction</a:t>
            </a:r>
          </a:p>
        </p:txBody>
      </p:sp>
      <p:cxnSp>
        <p:nvCxnSpPr>
          <p:cNvPr id="10" name="Straight Connector 9">
            <a:extLst>
              <a:ext uri="{FF2B5EF4-FFF2-40B4-BE49-F238E27FC236}">
                <a16:creationId xmlns:a16="http://schemas.microsoft.com/office/drawing/2014/main" id="{6C52BBAB-664F-48C3-A5C1-4CE9D3555D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9400" y="16092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297B934-7D22-5E4B-888C-355A9B4F7BDD}"/>
              </a:ext>
            </a:extLst>
          </p:cNvPr>
          <p:cNvSpPr>
            <a:spLocks noGrp="1"/>
          </p:cNvSpPr>
          <p:nvPr>
            <p:ph idx="1"/>
          </p:nvPr>
        </p:nvSpPr>
        <p:spPr>
          <a:xfrm>
            <a:off x="448056" y="1947672"/>
            <a:ext cx="11293200" cy="4335898"/>
          </a:xfrm>
        </p:spPr>
        <p:txBody>
          <a:bodyPr>
            <a:normAutofit/>
          </a:bodyPr>
          <a:lstStyle/>
          <a:p>
            <a:pPr marL="457200" indent="-457200">
              <a:lnSpc>
                <a:spcPct val="110000"/>
              </a:lnSpc>
              <a:buFont typeface="+mj-lt"/>
              <a:buAutoNum type="arabicPeriod"/>
            </a:pPr>
            <a:r>
              <a:rPr lang="en-US" dirty="0"/>
              <a:t>Administer stroke scale items in the order listed. </a:t>
            </a:r>
          </a:p>
          <a:p>
            <a:pPr marL="457200" indent="-457200">
              <a:lnSpc>
                <a:spcPct val="110000"/>
              </a:lnSpc>
              <a:buFont typeface="+mj-lt"/>
              <a:buAutoNum type="arabicPeriod"/>
            </a:pPr>
            <a:r>
              <a:rPr lang="en-US" dirty="0"/>
              <a:t>Record performance in each category after each subscale exam. </a:t>
            </a:r>
          </a:p>
          <a:p>
            <a:pPr marL="457200" indent="-457200">
              <a:lnSpc>
                <a:spcPct val="110000"/>
              </a:lnSpc>
              <a:buFont typeface="+mj-lt"/>
              <a:buAutoNum type="arabicPeriod"/>
            </a:pPr>
            <a:r>
              <a:rPr lang="en-US" dirty="0"/>
              <a:t>Do not go back and change scores. </a:t>
            </a:r>
          </a:p>
          <a:p>
            <a:pPr marL="457200" indent="-457200">
              <a:lnSpc>
                <a:spcPct val="110000"/>
              </a:lnSpc>
              <a:buFont typeface="+mj-lt"/>
              <a:buAutoNum type="arabicPeriod"/>
            </a:pPr>
            <a:r>
              <a:rPr lang="en-US" dirty="0"/>
              <a:t>Follow directions provided for each exam technique. </a:t>
            </a:r>
          </a:p>
          <a:p>
            <a:pPr marL="457200" indent="-457200">
              <a:lnSpc>
                <a:spcPct val="110000"/>
              </a:lnSpc>
              <a:buFont typeface="+mj-lt"/>
              <a:buAutoNum type="arabicPeriod"/>
            </a:pPr>
            <a:r>
              <a:rPr lang="en-US" dirty="0"/>
              <a:t>Scores should reflect what the patient does, not what the clinician thinks the patient can do. </a:t>
            </a:r>
          </a:p>
          <a:p>
            <a:pPr marL="457200" indent="-457200">
              <a:lnSpc>
                <a:spcPct val="110000"/>
              </a:lnSpc>
              <a:buFont typeface="+mj-lt"/>
              <a:buAutoNum type="arabicPeriod"/>
            </a:pPr>
            <a:r>
              <a:rPr lang="en-US" dirty="0"/>
              <a:t>The clinician should record answers while administering the exam and work quickly. </a:t>
            </a:r>
          </a:p>
          <a:p>
            <a:pPr marL="457200" indent="-457200">
              <a:lnSpc>
                <a:spcPct val="110000"/>
              </a:lnSpc>
              <a:buFont typeface="+mj-lt"/>
              <a:buAutoNum type="arabicPeriod"/>
            </a:pPr>
            <a:r>
              <a:rPr lang="en-US" dirty="0"/>
              <a:t>Except where indicated, the patient should not be coached (i.e., repeated requests to patient to make a special effort).</a:t>
            </a:r>
          </a:p>
        </p:txBody>
      </p:sp>
    </p:spTree>
    <p:extLst>
      <p:ext uri="{BB962C8B-B14F-4D97-AF65-F5344CB8AC3E}">
        <p14:creationId xmlns:p14="http://schemas.microsoft.com/office/powerpoint/2010/main" val="41173074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71D199B-5E15-43A6-BA31-F5CDFDB3A9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E617DF9-6E32-9E4F-9217-204A6662939C}"/>
              </a:ext>
            </a:extLst>
          </p:cNvPr>
          <p:cNvSpPr>
            <a:spLocks noGrp="1"/>
          </p:cNvSpPr>
          <p:nvPr>
            <p:ph type="title"/>
          </p:nvPr>
        </p:nvSpPr>
        <p:spPr>
          <a:xfrm>
            <a:off x="448056" y="393192"/>
            <a:ext cx="11301984" cy="859536"/>
          </a:xfrm>
        </p:spPr>
        <p:txBody>
          <a:bodyPr anchor="b">
            <a:normAutofit/>
          </a:bodyPr>
          <a:lstStyle/>
          <a:p>
            <a:r>
              <a:rPr lang="en-US" dirty="0"/>
              <a:t>Initial Imaging in Acute Stroke</a:t>
            </a:r>
          </a:p>
        </p:txBody>
      </p:sp>
      <p:cxnSp>
        <p:nvCxnSpPr>
          <p:cNvPr id="10" name="Straight Connector 9">
            <a:extLst>
              <a:ext uri="{FF2B5EF4-FFF2-40B4-BE49-F238E27FC236}">
                <a16:creationId xmlns:a16="http://schemas.microsoft.com/office/drawing/2014/main" id="{6C52BBAB-664F-48C3-A5C1-4CE9D3555D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9400" y="16092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3584F23-FB83-7B4A-8846-2B2D066F8E33}"/>
              </a:ext>
            </a:extLst>
          </p:cNvPr>
          <p:cNvSpPr>
            <a:spLocks noGrp="1"/>
          </p:cNvSpPr>
          <p:nvPr>
            <p:ph idx="1"/>
          </p:nvPr>
        </p:nvSpPr>
        <p:spPr>
          <a:xfrm>
            <a:off x="448056" y="1947672"/>
            <a:ext cx="7379208" cy="4005072"/>
          </a:xfrm>
        </p:spPr>
        <p:txBody>
          <a:bodyPr>
            <a:normAutofit fontScale="92500" lnSpcReduction="10000"/>
          </a:bodyPr>
          <a:lstStyle/>
          <a:p>
            <a:pPr marL="1944" indent="0">
              <a:buNone/>
            </a:pPr>
            <a:r>
              <a:rPr lang="en-US" b="1" dirty="0">
                <a:solidFill>
                  <a:schemeClr val="accent5">
                    <a:alpha val="55000"/>
                  </a:schemeClr>
                </a:solidFill>
              </a:rPr>
              <a:t>Always:</a:t>
            </a:r>
          </a:p>
          <a:p>
            <a:r>
              <a:rPr lang="en-US" b="1" dirty="0">
                <a:solidFill>
                  <a:schemeClr val="accent5">
                    <a:alpha val="55000"/>
                  </a:schemeClr>
                </a:solidFill>
              </a:rPr>
              <a:t>CT Head wo contrast</a:t>
            </a:r>
          </a:p>
          <a:p>
            <a:pPr lvl="1"/>
            <a:r>
              <a:rPr lang="en-US" b="1" dirty="0"/>
              <a:t>Weakness for posterior fossa strokes</a:t>
            </a:r>
          </a:p>
          <a:p>
            <a:pPr marL="1944" indent="0">
              <a:buNone/>
            </a:pPr>
            <a:r>
              <a:rPr lang="en-US" dirty="0"/>
              <a:t>Sometimes:</a:t>
            </a:r>
          </a:p>
          <a:p>
            <a:r>
              <a:rPr lang="en-US" dirty="0"/>
              <a:t>CT Angiogram</a:t>
            </a:r>
          </a:p>
          <a:p>
            <a:r>
              <a:rPr lang="en-US" dirty="0"/>
              <a:t>CT Perfusion</a:t>
            </a:r>
          </a:p>
          <a:p>
            <a:r>
              <a:rPr lang="en-US" dirty="0"/>
              <a:t>MRI Brain wo contrast</a:t>
            </a:r>
          </a:p>
          <a:p>
            <a:pPr lvl="1"/>
            <a:r>
              <a:rPr lang="en-US" dirty="0"/>
              <a:t>MR Angiogram</a:t>
            </a:r>
          </a:p>
          <a:p>
            <a:pPr lvl="1"/>
            <a:r>
              <a:rPr lang="en-US" dirty="0"/>
              <a:t>MR Perfusion</a:t>
            </a:r>
          </a:p>
          <a:p>
            <a:pPr lvl="1"/>
            <a:endParaRPr lang="en-US" dirty="0"/>
          </a:p>
          <a:p>
            <a:endParaRPr lang="en-US" dirty="0"/>
          </a:p>
        </p:txBody>
      </p:sp>
      <p:pic>
        <p:nvPicPr>
          <p:cNvPr id="5" name="Picture 4" descr="A close-up of a planet&#10;&#10;Description automatically generated with low confidence">
            <a:extLst>
              <a:ext uri="{FF2B5EF4-FFF2-40B4-BE49-F238E27FC236}">
                <a16:creationId xmlns:a16="http://schemas.microsoft.com/office/drawing/2014/main" id="{EA923693-D543-4E4D-8433-4947BB305C56}"/>
              </a:ext>
            </a:extLst>
          </p:cNvPr>
          <p:cNvPicPr>
            <a:picLocks noChangeAspect="1"/>
          </p:cNvPicPr>
          <p:nvPr/>
        </p:nvPicPr>
        <p:blipFill>
          <a:blip r:embed="rId3"/>
          <a:stretch>
            <a:fillRect/>
          </a:stretch>
        </p:blipFill>
        <p:spPr>
          <a:xfrm>
            <a:off x="7496908" y="1978914"/>
            <a:ext cx="3505200" cy="4152900"/>
          </a:xfrm>
          <a:prstGeom prst="rect">
            <a:avLst/>
          </a:prstGeom>
        </p:spPr>
      </p:pic>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5C72223B-ACFE-5344-A428-3733D51F8878}"/>
                  </a:ext>
                </a:extLst>
              </p14:cNvPr>
              <p14:cNvContentPartPr/>
              <p14:nvPr/>
            </p14:nvContentPartPr>
            <p14:xfrm>
              <a:off x="8862327" y="1307201"/>
              <a:ext cx="1123560" cy="2593800"/>
            </p14:xfrm>
          </p:contentPart>
        </mc:Choice>
        <mc:Fallback>
          <p:pic>
            <p:nvPicPr>
              <p:cNvPr id="4" name="Ink 3">
                <a:extLst>
                  <a:ext uri="{FF2B5EF4-FFF2-40B4-BE49-F238E27FC236}">
                    <a16:creationId xmlns:a16="http://schemas.microsoft.com/office/drawing/2014/main" id="{5C72223B-ACFE-5344-A428-3733D51F8878}"/>
                  </a:ext>
                </a:extLst>
              </p:cNvPr>
              <p:cNvPicPr/>
              <p:nvPr/>
            </p:nvPicPr>
            <p:blipFill>
              <a:blip r:embed="rId5"/>
              <a:stretch>
                <a:fillRect/>
              </a:stretch>
            </p:blipFill>
            <p:spPr>
              <a:xfrm>
                <a:off x="8844687" y="1289201"/>
                <a:ext cx="1159200" cy="2629440"/>
              </a:xfrm>
              <a:prstGeom prst="rect">
                <a:avLst/>
              </a:prstGeom>
            </p:spPr>
          </p:pic>
        </mc:Fallback>
      </mc:AlternateContent>
      <p:grpSp>
        <p:nvGrpSpPr>
          <p:cNvPr id="30" name="Group 29">
            <a:extLst>
              <a:ext uri="{FF2B5EF4-FFF2-40B4-BE49-F238E27FC236}">
                <a16:creationId xmlns:a16="http://schemas.microsoft.com/office/drawing/2014/main" id="{5BBA4A42-26B2-2049-84C5-386E180A3473}"/>
              </a:ext>
            </a:extLst>
          </p:cNvPr>
          <p:cNvGrpSpPr/>
          <p:nvPr/>
        </p:nvGrpSpPr>
        <p:grpSpPr>
          <a:xfrm>
            <a:off x="7717167" y="609161"/>
            <a:ext cx="2967840" cy="560160"/>
            <a:chOff x="7717167" y="609161"/>
            <a:chExt cx="2967840" cy="560160"/>
          </a:xfrm>
        </p:grpSpPr>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20596743-8915-7042-B45E-F53023DD5A5F}"/>
                    </a:ext>
                  </a:extLst>
                </p14:cNvPr>
                <p14:cNvContentPartPr/>
                <p14:nvPr/>
              </p14:nvContentPartPr>
              <p14:xfrm>
                <a:off x="7717167" y="609161"/>
                <a:ext cx="267480" cy="513360"/>
              </p14:xfrm>
            </p:contentPart>
          </mc:Choice>
          <mc:Fallback>
            <p:pic>
              <p:nvPicPr>
                <p:cNvPr id="6" name="Ink 5">
                  <a:extLst>
                    <a:ext uri="{FF2B5EF4-FFF2-40B4-BE49-F238E27FC236}">
                      <a16:creationId xmlns:a16="http://schemas.microsoft.com/office/drawing/2014/main" id="{20596743-8915-7042-B45E-F53023DD5A5F}"/>
                    </a:ext>
                  </a:extLst>
                </p:cNvPr>
                <p:cNvPicPr/>
                <p:nvPr/>
              </p:nvPicPr>
              <p:blipFill>
                <a:blip r:embed="rId7"/>
                <a:stretch>
                  <a:fillRect/>
                </a:stretch>
              </p:blipFill>
              <p:spPr>
                <a:xfrm>
                  <a:off x="7699167" y="591521"/>
                  <a:ext cx="303120" cy="549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A0E76707-F096-E145-B97A-2750F06FAA57}"/>
                    </a:ext>
                  </a:extLst>
                </p14:cNvPr>
                <p14:cNvContentPartPr/>
                <p14:nvPr/>
              </p14:nvContentPartPr>
              <p14:xfrm>
                <a:off x="8276247" y="776201"/>
                <a:ext cx="2520" cy="393120"/>
              </p14:xfrm>
            </p:contentPart>
          </mc:Choice>
          <mc:Fallback>
            <p:pic>
              <p:nvPicPr>
                <p:cNvPr id="7" name="Ink 6">
                  <a:extLst>
                    <a:ext uri="{FF2B5EF4-FFF2-40B4-BE49-F238E27FC236}">
                      <a16:creationId xmlns:a16="http://schemas.microsoft.com/office/drawing/2014/main" id="{A0E76707-F096-E145-B97A-2750F06FAA57}"/>
                    </a:ext>
                  </a:extLst>
                </p:cNvPr>
                <p:cNvPicPr/>
                <p:nvPr/>
              </p:nvPicPr>
              <p:blipFill>
                <a:blip r:embed="rId9"/>
                <a:stretch>
                  <a:fillRect/>
                </a:stretch>
              </p:blipFill>
              <p:spPr>
                <a:xfrm>
                  <a:off x="8258607" y="758201"/>
                  <a:ext cx="38160" cy="4287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1" name="Ink 10">
                  <a:extLst>
                    <a:ext uri="{FF2B5EF4-FFF2-40B4-BE49-F238E27FC236}">
                      <a16:creationId xmlns:a16="http://schemas.microsoft.com/office/drawing/2014/main" id="{806DB3A4-F38A-E74B-80C0-342D0ED1D92A}"/>
                    </a:ext>
                  </a:extLst>
                </p14:cNvPr>
                <p14:cNvContentPartPr/>
                <p14:nvPr/>
              </p14:nvContentPartPr>
              <p14:xfrm>
                <a:off x="8107767" y="784841"/>
                <a:ext cx="363240" cy="360"/>
              </p14:xfrm>
            </p:contentPart>
          </mc:Choice>
          <mc:Fallback>
            <p:pic>
              <p:nvPicPr>
                <p:cNvPr id="11" name="Ink 10">
                  <a:extLst>
                    <a:ext uri="{FF2B5EF4-FFF2-40B4-BE49-F238E27FC236}">
                      <a16:creationId xmlns:a16="http://schemas.microsoft.com/office/drawing/2014/main" id="{806DB3A4-F38A-E74B-80C0-342D0ED1D92A}"/>
                    </a:ext>
                  </a:extLst>
                </p:cNvPr>
                <p:cNvPicPr/>
                <p:nvPr/>
              </p:nvPicPr>
              <p:blipFill>
                <a:blip r:embed="rId11"/>
                <a:stretch>
                  <a:fillRect/>
                </a:stretch>
              </p:blipFill>
              <p:spPr>
                <a:xfrm>
                  <a:off x="8090127" y="766841"/>
                  <a:ext cx="39888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3" name="Ink 12">
                  <a:extLst>
                    <a:ext uri="{FF2B5EF4-FFF2-40B4-BE49-F238E27FC236}">
                      <a16:creationId xmlns:a16="http://schemas.microsoft.com/office/drawing/2014/main" id="{59ACFCB0-8F73-9644-BFB5-4B746475B443}"/>
                    </a:ext>
                  </a:extLst>
                </p14:cNvPr>
                <p14:cNvContentPartPr/>
                <p14:nvPr/>
              </p14:nvContentPartPr>
              <p14:xfrm>
                <a:off x="8649567" y="725441"/>
                <a:ext cx="274320" cy="357120"/>
              </p14:xfrm>
            </p:contentPart>
          </mc:Choice>
          <mc:Fallback>
            <p:pic>
              <p:nvPicPr>
                <p:cNvPr id="13" name="Ink 12">
                  <a:extLst>
                    <a:ext uri="{FF2B5EF4-FFF2-40B4-BE49-F238E27FC236}">
                      <a16:creationId xmlns:a16="http://schemas.microsoft.com/office/drawing/2014/main" id="{59ACFCB0-8F73-9644-BFB5-4B746475B443}"/>
                    </a:ext>
                  </a:extLst>
                </p:cNvPr>
                <p:cNvPicPr/>
                <p:nvPr/>
              </p:nvPicPr>
              <p:blipFill>
                <a:blip r:embed="rId13"/>
                <a:stretch>
                  <a:fillRect/>
                </a:stretch>
              </p:blipFill>
              <p:spPr>
                <a:xfrm>
                  <a:off x="8631927" y="707441"/>
                  <a:ext cx="309960" cy="3927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5" name="Ink 14">
                  <a:extLst>
                    <a:ext uri="{FF2B5EF4-FFF2-40B4-BE49-F238E27FC236}">
                      <a16:creationId xmlns:a16="http://schemas.microsoft.com/office/drawing/2014/main" id="{F074E58C-C2A5-344C-8E8D-749658F15E5F}"/>
                    </a:ext>
                  </a:extLst>
                </p14:cNvPr>
                <p14:cNvContentPartPr/>
                <p14:nvPr/>
              </p14:nvContentPartPr>
              <p14:xfrm>
                <a:off x="9247527" y="767921"/>
                <a:ext cx="172800" cy="293040"/>
              </p14:xfrm>
            </p:contentPart>
          </mc:Choice>
          <mc:Fallback>
            <p:pic>
              <p:nvPicPr>
                <p:cNvPr id="15" name="Ink 14">
                  <a:extLst>
                    <a:ext uri="{FF2B5EF4-FFF2-40B4-BE49-F238E27FC236}">
                      <a16:creationId xmlns:a16="http://schemas.microsoft.com/office/drawing/2014/main" id="{F074E58C-C2A5-344C-8E8D-749658F15E5F}"/>
                    </a:ext>
                  </a:extLst>
                </p:cNvPr>
                <p:cNvPicPr/>
                <p:nvPr/>
              </p:nvPicPr>
              <p:blipFill>
                <a:blip r:embed="rId15"/>
                <a:stretch>
                  <a:fillRect/>
                </a:stretch>
              </p:blipFill>
              <p:spPr>
                <a:xfrm>
                  <a:off x="9229887" y="750281"/>
                  <a:ext cx="208440" cy="3286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7" name="Ink 16">
                  <a:extLst>
                    <a:ext uri="{FF2B5EF4-FFF2-40B4-BE49-F238E27FC236}">
                      <a16:creationId xmlns:a16="http://schemas.microsoft.com/office/drawing/2014/main" id="{6116AD0E-BF53-604A-82A9-C43DAF6D0F7B}"/>
                    </a:ext>
                  </a:extLst>
                </p14:cNvPr>
                <p14:cNvContentPartPr/>
                <p14:nvPr/>
              </p14:nvContentPartPr>
              <p14:xfrm>
                <a:off x="9671607" y="747761"/>
                <a:ext cx="360" cy="391680"/>
              </p14:xfrm>
            </p:contentPart>
          </mc:Choice>
          <mc:Fallback>
            <p:pic>
              <p:nvPicPr>
                <p:cNvPr id="17" name="Ink 16">
                  <a:extLst>
                    <a:ext uri="{FF2B5EF4-FFF2-40B4-BE49-F238E27FC236}">
                      <a16:creationId xmlns:a16="http://schemas.microsoft.com/office/drawing/2014/main" id="{6116AD0E-BF53-604A-82A9-C43DAF6D0F7B}"/>
                    </a:ext>
                  </a:extLst>
                </p:cNvPr>
                <p:cNvPicPr/>
                <p:nvPr/>
              </p:nvPicPr>
              <p:blipFill>
                <a:blip r:embed="rId17"/>
                <a:stretch>
                  <a:fillRect/>
                </a:stretch>
              </p:blipFill>
              <p:spPr>
                <a:xfrm>
                  <a:off x="9653967" y="730121"/>
                  <a:ext cx="36000" cy="4273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9" name="Ink 18">
                  <a:extLst>
                    <a:ext uri="{FF2B5EF4-FFF2-40B4-BE49-F238E27FC236}">
                      <a16:creationId xmlns:a16="http://schemas.microsoft.com/office/drawing/2014/main" id="{DF8855CB-DD75-3042-B765-C495CAA4C639}"/>
                    </a:ext>
                  </a:extLst>
                </p14:cNvPr>
                <p14:cNvContentPartPr/>
                <p14:nvPr/>
              </p14:nvContentPartPr>
              <p14:xfrm>
                <a:off x="9675567" y="804641"/>
                <a:ext cx="451800" cy="177480"/>
              </p14:xfrm>
            </p:contentPart>
          </mc:Choice>
          <mc:Fallback>
            <p:pic>
              <p:nvPicPr>
                <p:cNvPr id="19" name="Ink 18">
                  <a:extLst>
                    <a:ext uri="{FF2B5EF4-FFF2-40B4-BE49-F238E27FC236}">
                      <a16:creationId xmlns:a16="http://schemas.microsoft.com/office/drawing/2014/main" id="{DF8855CB-DD75-3042-B765-C495CAA4C639}"/>
                    </a:ext>
                  </a:extLst>
                </p:cNvPr>
                <p:cNvPicPr/>
                <p:nvPr/>
              </p:nvPicPr>
              <p:blipFill>
                <a:blip r:embed="rId19"/>
                <a:stretch>
                  <a:fillRect/>
                </a:stretch>
              </p:blipFill>
              <p:spPr>
                <a:xfrm>
                  <a:off x="9657927" y="787001"/>
                  <a:ext cx="487440" cy="2131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1" name="Ink 20">
                  <a:extLst>
                    <a:ext uri="{FF2B5EF4-FFF2-40B4-BE49-F238E27FC236}">
                      <a16:creationId xmlns:a16="http://schemas.microsoft.com/office/drawing/2014/main" id="{61492747-831C-C04F-BFB8-24A40F1679FA}"/>
                    </a:ext>
                  </a:extLst>
                </p14:cNvPr>
                <p14:cNvContentPartPr/>
                <p14:nvPr/>
              </p14:nvContentPartPr>
              <p14:xfrm>
                <a:off x="9660087" y="1001201"/>
                <a:ext cx="363960" cy="101160"/>
              </p14:xfrm>
            </p:contentPart>
          </mc:Choice>
          <mc:Fallback>
            <p:pic>
              <p:nvPicPr>
                <p:cNvPr id="21" name="Ink 20">
                  <a:extLst>
                    <a:ext uri="{FF2B5EF4-FFF2-40B4-BE49-F238E27FC236}">
                      <a16:creationId xmlns:a16="http://schemas.microsoft.com/office/drawing/2014/main" id="{61492747-831C-C04F-BFB8-24A40F1679FA}"/>
                    </a:ext>
                  </a:extLst>
                </p:cNvPr>
                <p:cNvPicPr/>
                <p:nvPr/>
              </p:nvPicPr>
              <p:blipFill>
                <a:blip r:embed="rId21"/>
                <a:stretch>
                  <a:fillRect/>
                </a:stretch>
              </p:blipFill>
              <p:spPr>
                <a:xfrm>
                  <a:off x="9642087" y="983201"/>
                  <a:ext cx="399600" cy="1368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3" name="Ink 22">
                  <a:extLst>
                    <a:ext uri="{FF2B5EF4-FFF2-40B4-BE49-F238E27FC236}">
                      <a16:creationId xmlns:a16="http://schemas.microsoft.com/office/drawing/2014/main" id="{5E0C81BC-C15D-DF4A-9F1E-7A280ADBA570}"/>
                    </a:ext>
                  </a:extLst>
                </p14:cNvPr>
                <p14:cNvContentPartPr/>
                <p14:nvPr/>
              </p14:nvContentPartPr>
              <p14:xfrm>
                <a:off x="10348407" y="823721"/>
                <a:ext cx="51840" cy="257040"/>
              </p14:xfrm>
            </p:contentPart>
          </mc:Choice>
          <mc:Fallback>
            <p:pic>
              <p:nvPicPr>
                <p:cNvPr id="23" name="Ink 22">
                  <a:extLst>
                    <a:ext uri="{FF2B5EF4-FFF2-40B4-BE49-F238E27FC236}">
                      <a16:creationId xmlns:a16="http://schemas.microsoft.com/office/drawing/2014/main" id="{5E0C81BC-C15D-DF4A-9F1E-7A280ADBA570}"/>
                    </a:ext>
                  </a:extLst>
                </p:cNvPr>
                <p:cNvPicPr/>
                <p:nvPr/>
              </p:nvPicPr>
              <p:blipFill>
                <a:blip r:embed="rId23"/>
                <a:stretch>
                  <a:fillRect/>
                </a:stretch>
              </p:blipFill>
              <p:spPr>
                <a:xfrm>
                  <a:off x="10330407" y="806081"/>
                  <a:ext cx="87480" cy="2926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5" name="Ink 24">
                  <a:extLst>
                    <a:ext uri="{FF2B5EF4-FFF2-40B4-BE49-F238E27FC236}">
                      <a16:creationId xmlns:a16="http://schemas.microsoft.com/office/drawing/2014/main" id="{D8A75EA0-7F1E-4B45-92C6-23066FCE57E8}"/>
                    </a:ext>
                  </a:extLst>
                </p14:cNvPr>
                <p14:cNvContentPartPr/>
                <p14:nvPr/>
              </p14:nvContentPartPr>
              <p14:xfrm>
                <a:off x="10389087" y="790961"/>
                <a:ext cx="295200" cy="20880"/>
              </p14:xfrm>
            </p:contentPart>
          </mc:Choice>
          <mc:Fallback>
            <p:pic>
              <p:nvPicPr>
                <p:cNvPr id="25" name="Ink 24">
                  <a:extLst>
                    <a:ext uri="{FF2B5EF4-FFF2-40B4-BE49-F238E27FC236}">
                      <a16:creationId xmlns:a16="http://schemas.microsoft.com/office/drawing/2014/main" id="{D8A75EA0-7F1E-4B45-92C6-23066FCE57E8}"/>
                    </a:ext>
                  </a:extLst>
                </p:cNvPr>
                <p:cNvPicPr/>
                <p:nvPr/>
              </p:nvPicPr>
              <p:blipFill>
                <a:blip r:embed="rId25"/>
                <a:stretch>
                  <a:fillRect/>
                </a:stretch>
              </p:blipFill>
              <p:spPr>
                <a:xfrm>
                  <a:off x="10371087" y="773321"/>
                  <a:ext cx="330840" cy="565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7" name="Ink 26">
                  <a:extLst>
                    <a:ext uri="{FF2B5EF4-FFF2-40B4-BE49-F238E27FC236}">
                      <a16:creationId xmlns:a16="http://schemas.microsoft.com/office/drawing/2014/main" id="{EEFD53BE-F3E0-5E47-9ECD-AC3295EFCF49}"/>
                    </a:ext>
                  </a:extLst>
                </p14:cNvPr>
                <p14:cNvContentPartPr/>
                <p14:nvPr/>
              </p14:nvContentPartPr>
              <p14:xfrm>
                <a:off x="10377207" y="949721"/>
                <a:ext cx="185400" cy="360"/>
              </p14:xfrm>
            </p:contentPart>
          </mc:Choice>
          <mc:Fallback>
            <p:pic>
              <p:nvPicPr>
                <p:cNvPr id="27" name="Ink 26">
                  <a:extLst>
                    <a:ext uri="{FF2B5EF4-FFF2-40B4-BE49-F238E27FC236}">
                      <a16:creationId xmlns:a16="http://schemas.microsoft.com/office/drawing/2014/main" id="{EEFD53BE-F3E0-5E47-9ECD-AC3295EFCF49}"/>
                    </a:ext>
                  </a:extLst>
                </p:cNvPr>
                <p:cNvPicPr/>
                <p:nvPr/>
              </p:nvPicPr>
              <p:blipFill>
                <a:blip r:embed="rId27"/>
                <a:stretch>
                  <a:fillRect/>
                </a:stretch>
              </p:blipFill>
              <p:spPr>
                <a:xfrm>
                  <a:off x="10359567" y="932081"/>
                  <a:ext cx="22104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9" name="Ink 28">
                  <a:extLst>
                    <a:ext uri="{FF2B5EF4-FFF2-40B4-BE49-F238E27FC236}">
                      <a16:creationId xmlns:a16="http://schemas.microsoft.com/office/drawing/2014/main" id="{2819560E-8E97-B94C-8C86-E5291C827225}"/>
                    </a:ext>
                  </a:extLst>
                </p14:cNvPr>
                <p14:cNvContentPartPr/>
                <p14:nvPr/>
              </p14:nvContentPartPr>
              <p14:xfrm>
                <a:off x="10413207" y="1082921"/>
                <a:ext cx="271800" cy="20880"/>
              </p14:xfrm>
            </p:contentPart>
          </mc:Choice>
          <mc:Fallback>
            <p:pic>
              <p:nvPicPr>
                <p:cNvPr id="29" name="Ink 28">
                  <a:extLst>
                    <a:ext uri="{FF2B5EF4-FFF2-40B4-BE49-F238E27FC236}">
                      <a16:creationId xmlns:a16="http://schemas.microsoft.com/office/drawing/2014/main" id="{2819560E-8E97-B94C-8C86-E5291C827225}"/>
                    </a:ext>
                  </a:extLst>
                </p:cNvPr>
                <p:cNvPicPr/>
                <p:nvPr/>
              </p:nvPicPr>
              <p:blipFill>
                <a:blip r:embed="rId29"/>
                <a:stretch>
                  <a:fillRect/>
                </a:stretch>
              </p:blipFill>
              <p:spPr>
                <a:xfrm>
                  <a:off x="10395567" y="1064921"/>
                  <a:ext cx="307440" cy="56520"/>
                </a:xfrm>
                <a:prstGeom prst="rect">
                  <a:avLst/>
                </a:prstGeom>
              </p:spPr>
            </p:pic>
          </mc:Fallback>
        </mc:AlternateContent>
      </p:grpSp>
      <p:sp>
        <p:nvSpPr>
          <p:cNvPr id="31" name="TextBox 30">
            <a:extLst>
              <a:ext uri="{FF2B5EF4-FFF2-40B4-BE49-F238E27FC236}">
                <a16:creationId xmlns:a16="http://schemas.microsoft.com/office/drawing/2014/main" id="{7BAD06EB-EE75-F74A-8B74-F64CE7886273}"/>
              </a:ext>
            </a:extLst>
          </p:cNvPr>
          <p:cNvSpPr txBox="1"/>
          <p:nvPr/>
        </p:nvSpPr>
        <p:spPr>
          <a:xfrm>
            <a:off x="8276247" y="6285186"/>
            <a:ext cx="3116967" cy="378373"/>
          </a:xfrm>
          <a:prstGeom prst="rect">
            <a:avLst/>
          </a:prstGeom>
          <a:noFill/>
        </p:spPr>
        <p:txBody>
          <a:bodyPr wrap="square" rtlCol="0">
            <a:spAutoFit/>
          </a:bodyPr>
          <a:lstStyle/>
          <a:p>
            <a:r>
              <a:rPr lang="en-US" dirty="0"/>
              <a:t>*probably not a </a:t>
            </a:r>
            <a:r>
              <a:rPr lang="en-US" dirty="0" err="1"/>
              <a:t>tPA</a:t>
            </a:r>
            <a:r>
              <a:rPr lang="en-US" dirty="0"/>
              <a:t> candidate</a:t>
            </a:r>
          </a:p>
        </p:txBody>
      </p:sp>
    </p:spTree>
    <p:extLst>
      <p:ext uri="{BB962C8B-B14F-4D97-AF65-F5344CB8AC3E}">
        <p14:creationId xmlns:p14="http://schemas.microsoft.com/office/powerpoint/2010/main" val="26020941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8A2B4-6042-C149-94DB-CA3753FA1A92}"/>
              </a:ext>
            </a:extLst>
          </p:cNvPr>
          <p:cNvSpPr>
            <a:spLocks noGrp="1"/>
          </p:cNvSpPr>
          <p:nvPr>
            <p:ph type="title"/>
          </p:nvPr>
        </p:nvSpPr>
        <p:spPr/>
        <p:txBody>
          <a:bodyPr/>
          <a:lstStyle/>
          <a:p>
            <a:r>
              <a:rPr lang="en-US" dirty="0"/>
              <a:t>Imaging in </a:t>
            </a:r>
            <a:br>
              <a:rPr lang="en-US" dirty="0"/>
            </a:br>
            <a:r>
              <a:rPr lang="en-US" dirty="0"/>
              <a:t>acute stroke</a:t>
            </a:r>
          </a:p>
        </p:txBody>
      </p:sp>
      <p:pic>
        <p:nvPicPr>
          <p:cNvPr id="9" name="Content Placeholder 8" descr="A picture containing diagram&#10;&#10;Description automatically generated">
            <a:extLst>
              <a:ext uri="{FF2B5EF4-FFF2-40B4-BE49-F238E27FC236}">
                <a16:creationId xmlns:a16="http://schemas.microsoft.com/office/drawing/2014/main" id="{763719D5-806D-874A-9E40-25E3A817246B}"/>
              </a:ext>
            </a:extLst>
          </p:cNvPr>
          <p:cNvPicPr>
            <a:picLocks noGrp="1" noChangeAspect="1"/>
          </p:cNvPicPr>
          <p:nvPr>
            <p:ph idx="1"/>
          </p:nvPr>
        </p:nvPicPr>
        <p:blipFill>
          <a:blip r:embed="rId2"/>
          <a:stretch>
            <a:fillRect/>
          </a:stretch>
        </p:blipFill>
        <p:spPr>
          <a:xfrm>
            <a:off x="3259016" y="512746"/>
            <a:ext cx="8194431" cy="5832508"/>
          </a:xfrm>
        </p:spPr>
      </p:pic>
    </p:spTree>
    <p:extLst>
      <p:ext uri="{BB962C8B-B14F-4D97-AF65-F5344CB8AC3E}">
        <p14:creationId xmlns:p14="http://schemas.microsoft.com/office/powerpoint/2010/main" val="2485231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C541A-D43E-1341-9073-8BC7A4E7B714}"/>
              </a:ext>
            </a:extLst>
          </p:cNvPr>
          <p:cNvSpPr>
            <a:spLocks noGrp="1"/>
          </p:cNvSpPr>
          <p:nvPr>
            <p:ph type="title"/>
          </p:nvPr>
        </p:nvSpPr>
        <p:spPr/>
        <p:txBody>
          <a:bodyPr/>
          <a:lstStyle/>
          <a:p>
            <a:r>
              <a:rPr lang="en-US" dirty="0"/>
              <a:t>History</a:t>
            </a:r>
          </a:p>
        </p:txBody>
      </p:sp>
      <p:graphicFrame>
        <p:nvGraphicFramePr>
          <p:cNvPr id="5" name="Content Placeholder 2">
            <a:extLst>
              <a:ext uri="{FF2B5EF4-FFF2-40B4-BE49-F238E27FC236}">
                <a16:creationId xmlns:a16="http://schemas.microsoft.com/office/drawing/2014/main" id="{B950C4F3-AC16-4649-939A-9F791DA32107}"/>
              </a:ext>
            </a:extLst>
          </p:cNvPr>
          <p:cNvGraphicFramePr>
            <a:graphicFrameLocks noGrp="1"/>
          </p:cNvGraphicFramePr>
          <p:nvPr>
            <p:ph idx="1"/>
          </p:nvPr>
        </p:nvGraphicFramePr>
        <p:xfrm>
          <a:off x="448056" y="1735200"/>
          <a:ext cx="11293200" cy="48099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830968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D4954-5350-BA4D-9B85-2E39DCF829DC}"/>
              </a:ext>
            </a:extLst>
          </p:cNvPr>
          <p:cNvSpPr>
            <a:spLocks noGrp="1"/>
          </p:cNvSpPr>
          <p:nvPr>
            <p:ph type="title"/>
          </p:nvPr>
        </p:nvSpPr>
        <p:spPr/>
        <p:txBody>
          <a:bodyPr/>
          <a:lstStyle/>
          <a:p>
            <a:r>
              <a:rPr lang="en-US" dirty="0"/>
              <a:t>Treatment </a:t>
            </a:r>
            <a:br>
              <a:rPr lang="en-US" dirty="0"/>
            </a:br>
            <a:r>
              <a:rPr lang="en-US" dirty="0"/>
              <a:t>algorithm</a:t>
            </a:r>
          </a:p>
        </p:txBody>
      </p:sp>
      <p:pic>
        <p:nvPicPr>
          <p:cNvPr id="4" name="Content Placeholder 4" descr="Timeline&#10;&#10;Description automatically generated">
            <a:extLst>
              <a:ext uri="{FF2B5EF4-FFF2-40B4-BE49-F238E27FC236}">
                <a16:creationId xmlns:a16="http://schemas.microsoft.com/office/drawing/2014/main" id="{75DC0E80-649D-F847-A0B5-C1605BE938A4}"/>
              </a:ext>
            </a:extLst>
          </p:cNvPr>
          <p:cNvPicPr>
            <a:picLocks noChangeAspect="1"/>
          </p:cNvPicPr>
          <p:nvPr/>
        </p:nvPicPr>
        <p:blipFill rotWithShape="1">
          <a:blip r:embed="rId2"/>
          <a:srcRect l="2259" t="2905" r="4844"/>
          <a:stretch/>
        </p:blipFill>
        <p:spPr>
          <a:xfrm>
            <a:off x="3141785" y="265206"/>
            <a:ext cx="8510953" cy="6327587"/>
          </a:xfrm>
          <a:prstGeom prst="rect">
            <a:avLst/>
          </a:prstGeom>
        </p:spPr>
      </p:pic>
    </p:spTree>
    <p:extLst>
      <p:ext uri="{BB962C8B-B14F-4D97-AF65-F5344CB8AC3E}">
        <p14:creationId xmlns:p14="http://schemas.microsoft.com/office/powerpoint/2010/main" val="17605798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9660069-3B2A-40F4-AF45-4A8FD596D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C2A0D1-F2B0-1E48-93A7-C3589743E690}"/>
              </a:ext>
            </a:extLst>
          </p:cNvPr>
          <p:cNvSpPr>
            <a:spLocks noGrp="1"/>
          </p:cNvSpPr>
          <p:nvPr>
            <p:ph type="title"/>
          </p:nvPr>
        </p:nvSpPr>
        <p:spPr>
          <a:xfrm>
            <a:off x="448056" y="388799"/>
            <a:ext cx="2854800" cy="6026399"/>
          </a:xfrm>
        </p:spPr>
        <p:txBody>
          <a:bodyPr>
            <a:normAutofit/>
          </a:bodyPr>
          <a:lstStyle/>
          <a:p>
            <a:r>
              <a:rPr lang="en-US" dirty="0"/>
              <a:t>Acute thrombolysis with IV </a:t>
            </a:r>
            <a:r>
              <a:rPr lang="en-US" dirty="0" err="1"/>
              <a:t>tPA</a:t>
            </a:r>
            <a:endParaRPr lang="en-US" dirty="0"/>
          </a:p>
        </p:txBody>
      </p:sp>
      <p:cxnSp>
        <p:nvCxnSpPr>
          <p:cNvPr id="17" name="Straight Connector 16">
            <a:extLst>
              <a:ext uri="{FF2B5EF4-FFF2-40B4-BE49-F238E27FC236}">
                <a16:creationId xmlns:a16="http://schemas.microsoft.com/office/drawing/2014/main" id="{7F935FD8-9F2E-4F15-8ED9-1C692DA6F35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44000" y="450000"/>
            <a:ext cx="0" cy="5965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4BA97D2-CFCF-344A-97C4-4D3E29F1C325}"/>
              </a:ext>
            </a:extLst>
          </p:cNvPr>
          <p:cNvSpPr>
            <a:spLocks noGrp="1"/>
          </p:cNvSpPr>
          <p:nvPr>
            <p:ph idx="1"/>
          </p:nvPr>
        </p:nvSpPr>
        <p:spPr>
          <a:xfrm>
            <a:off x="4222800" y="323998"/>
            <a:ext cx="7056000" cy="6091199"/>
          </a:xfrm>
        </p:spPr>
        <p:txBody>
          <a:bodyPr>
            <a:normAutofit/>
          </a:bodyPr>
          <a:lstStyle/>
          <a:p>
            <a:pPr>
              <a:lnSpc>
                <a:spcPct val="110000"/>
              </a:lnSpc>
            </a:pPr>
            <a:r>
              <a:rPr lang="en-US" dirty="0"/>
              <a:t>Window to administer IV </a:t>
            </a:r>
            <a:r>
              <a:rPr lang="en-US" dirty="0" err="1"/>
              <a:t>tPA</a:t>
            </a:r>
            <a:r>
              <a:rPr lang="en-US" dirty="0"/>
              <a:t>: </a:t>
            </a:r>
            <a:r>
              <a:rPr lang="en-US" b="1" u="sng" dirty="0">
                <a:solidFill>
                  <a:schemeClr val="accent5">
                    <a:alpha val="55000"/>
                  </a:schemeClr>
                </a:solidFill>
              </a:rPr>
              <a:t>within 4.5 hours from LKWT</a:t>
            </a:r>
          </a:p>
          <a:p>
            <a:pPr>
              <a:lnSpc>
                <a:spcPct val="110000"/>
              </a:lnSpc>
            </a:pPr>
            <a:r>
              <a:rPr lang="en-US" dirty="0"/>
              <a:t>Benefit of </a:t>
            </a:r>
            <a:r>
              <a:rPr lang="en-US" dirty="0" err="1"/>
              <a:t>tPA</a:t>
            </a:r>
            <a:r>
              <a:rPr lang="en-US" dirty="0"/>
              <a:t> when given within 3 hours of LKWT:</a:t>
            </a:r>
          </a:p>
          <a:p>
            <a:pPr lvl="1">
              <a:lnSpc>
                <a:spcPct val="110000"/>
              </a:lnSpc>
            </a:pPr>
            <a:r>
              <a:rPr lang="en-US" dirty="0"/>
              <a:t>13% return to baseline</a:t>
            </a:r>
          </a:p>
          <a:p>
            <a:pPr lvl="1">
              <a:lnSpc>
                <a:spcPct val="110000"/>
              </a:lnSpc>
            </a:pPr>
            <a:r>
              <a:rPr lang="en-US" dirty="0"/>
              <a:t>19% will have some functional improvement</a:t>
            </a:r>
          </a:p>
          <a:p>
            <a:pPr>
              <a:lnSpc>
                <a:spcPct val="110000"/>
              </a:lnSpc>
            </a:pPr>
            <a:r>
              <a:rPr lang="en-US" dirty="0"/>
              <a:t>Risks of </a:t>
            </a:r>
            <a:r>
              <a:rPr lang="en-US" dirty="0" err="1"/>
              <a:t>tPA</a:t>
            </a:r>
            <a:r>
              <a:rPr lang="en-US" dirty="0"/>
              <a:t> when given within 3 hour window:</a:t>
            </a:r>
          </a:p>
          <a:p>
            <a:pPr lvl="1">
              <a:lnSpc>
                <a:spcPct val="110000"/>
              </a:lnSpc>
            </a:pPr>
            <a:r>
              <a:rPr lang="en-US" dirty="0"/>
              <a:t>6% chance of hemorrhage</a:t>
            </a:r>
          </a:p>
          <a:p>
            <a:pPr>
              <a:lnSpc>
                <a:spcPct val="110000"/>
              </a:lnSpc>
            </a:pPr>
            <a:r>
              <a:rPr lang="en-US" dirty="0"/>
              <a:t>Data supports use of </a:t>
            </a:r>
            <a:r>
              <a:rPr lang="en-US" dirty="0" err="1"/>
              <a:t>tPA</a:t>
            </a:r>
            <a:r>
              <a:rPr lang="en-US" dirty="0"/>
              <a:t> in extended window of</a:t>
            </a:r>
            <a:r>
              <a:rPr lang="en-US" dirty="0">
                <a:solidFill>
                  <a:schemeClr val="accent5">
                    <a:alpha val="55000"/>
                  </a:schemeClr>
                </a:solidFill>
              </a:rPr>
              <a:t> </a:t>
            </a:r>
            <a:r>
              <a:rPr lang="en-US" b="1" dirty="0">
                <a:solidFill>
                  <a:schemeClr val="accent5">
                    <a:alpha val="55000"/>
                  </a:schemeClr>
                </a:solidFill>
              </a:rPr>
              <a:t>3-4.5 hours from LKWT in select patients</a:t>
            </a:r>
            <a:r>
              <a:rPr lang="en-US" dirty="0">
                <a:solidFill>
                  <a:schemeClr val="accent5">
                    <a:alpha val="55000"/>
                  </a:schemeClr>
                </a:solidFill>
              </a:rPr>
              <a:t>:</a:t>
            </a:r>
          </a:p>
          <a:p>
            <a:pPr lvl="1">
              <a:lnSpc>
                <a:spcPct val="110000"/>
              </a:lnSpc>
            </a:pPr>
            <a:r>
              <a:rPr lang="en-US" dirty="0"/>
              <a:t>Age &gt;18 </a:t>
            </a:r>
            <a:r>
              <a:rPr lang="en-US" dirty="0" err="1"/>
              <a:t>yo</a:t>
            </a:r>
            <a:r>
              <a:rPr lang="en-US" dirty="0"/>
              <a:t> and &lt;80 </a:t>
            </a:r>
            <a:r>
              <a:rPr lang="en-US" dirty="0" err="1"/>
              <a:t>yo</a:t>
            </a:r>
            <a:endParaRPr lang="en-US" dirty="0"/>
          </a:p>
          <a:p>
            <a:pPr lvl="1">
              <a:lnSpc>
                <a:spcPct val="110000"/>
              </a:lnSpc>
            </a:pPr>
            <a:r>
              <a:rPr lang="en-US" dirty="0"/>
              <a:t>NIHSS &lt;25</a:t>
            </a:r>
          </a:p>
          <a:p>
            <a:pPr lvl="1">
              <a:lnSpc>
                <a:spcPct val="110000"/>
              </a:lnSpc>
            </a:pPr>
            <a:r>
              <a:rPr lang="en-US" dirty="0"/>
              <a:t>Ischemic injury on CT &lt;1/3 of MCA territory </a:t>
            </a:r>
          </a:p>
          <a:p>
            <a:pPr lvl="1">
              <a:lnSpc>
                <a:spcPct val="110000"/>
              </a:lnSpc>
            </a:pPr>
            <a:r>
              <a:rPr lang="en-US" dirty="0"/>
              <a:t>Excludes patients with history of stroke AND diabetes</a:t>
            </a:r>
          </a:p>
          <a:p>
            <a:pPr lvl="1">
              <a:lnSpc>
                <a:spcPct val="110000"/>
              </a:lnSpc>
            </a:pPr>
            <a:endParaRPr lang="en-US" dirty="0"/>
          </a:p>
          <a:p>
            <a:pPr lvl="1">
              <a:lnSpc>
                <a:spcPct val="110000"/>
              </a:lnSpc>
            </a:pPr>
            <a:endParaRPr lang="en-US" dirty="0"/>
          </a:p>
          <a:p>
            <a:pPr lvl="1">
              <a:lnSpc>
                <a:spcPct val="110000"/>
              </a:lnSpc>
            </a:pPr>
            <a:endParaRPr lang="en-US" dirty="0"/>
          </a:p>
        </p:txBody>
      </p:sp>
    </p:spTree>
    <p:extLst>
      <p:ext uri="{BB962C8B-B14F-4D97-AF65-F5344CB8AC3E}">
        <p14:creationId xmlns:p14="http://schemas.microsoft.com/office/powerpoint/2010/main" val="36552329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71D199B-5E15-43A6-BA31-F5CDFDB3A9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8C1810C-6F52-7245-8FE4-A53E7F513566}"/>
              </a:ext>
            </a:extLst>
          </p:cNvPr>
          <p:cNvSpPr>
            <a:spLocks noGrp="1"/>
          </p:cNvSpPr>
          <p:nvPr>
            <p:ph type="title"/>
          </p:nvPr>
        </p:nvSpPr>
        <p:spPr>
          <a:xfrm>
            <a:off x="448056" y="393192"/>
            <a:ext cx="11301984" cy="859536"/>
          </a:xfrm>
        </p:spPr>
        <p:txBody>
          <a:bodyPr anchor="b">
            <a:normAutofit/>
          </a:bodyPr>
          <a:lstStyle/>
          <a:p>
            <a:r>
              <a:rPr lang="en-US" dirty="0"/>
              <a:t>Contraindications to IV </a:t>
            </a:r>
            <a:r>
              <a:rPr lang="en-US" dirty="0" err="1"/>
              <a:t>tPA</a:t>
            </a:r>
            <a:endParaRPr lang="en-US" dirty="0"/>
          </a:p>
        </p:txBody>
      </p:sp>
      <p:cxnSp>
        <p:nvCxnSpPr>
          <p:cNvPr id="10" name="Straight Connector 9">
            <a:extLst>
              <a:ext uri="{FF2B5EF4-FFF2-40B4-BE49-F238E27FC236}">
                <a16:creationId xmlns:a16="http://schemas.microsoft.com/office/drawing/2014/main" id="{6C52BBAB-664F-48C3-A5C1-4CE9D3555D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9400" y="16092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A425568-AF48-E449-8C67-9F6C79DC4683}"/>
              </a:ext>
            </a:extLst>
          </p:cNvPr>
          <p:cNvSpPr>
            <a:spLocks noGrp="1"/>
          </p:cNvSpPr>
          <p:nvPr>
            <p:ph idx="1"/>
          </p:nvPr>
        </p:nvSpPr>
        <p:spPr>
          <a:xfrm>
            <a:off x="448055" y="1771826"/>
            <a:ext cx="11403975" cy="4816449"/>
          </a:xfrm>
        </p:spPr>
        <p:txBody>
          <a:bodyPr>
            <a:noAutofit/>
          </a:bodyPr>
          <a:lstStyle/>
          <a:p>
            <a:pPr>
              <a:lnSpc>
                <a:spcPct val="110000"/>
              </a:lnSpc>
            </a:pPr>
            <a:r>
              <a:rPr lang="en-US" sz="1700" dirty="0"/>
              <a:t>Absolute contraindications</a:t>
            </a:r>
          </a:p>
          <a:p>
            <a:pPr lvl="1">
              <a:lnSpc>
                <a:spcPct val="110000"/>
              </a:lnSpc>
            </a:pPr>
            <a:r>
              <a:rPr lang="en-US" sz="1700" dirty="0"/>
              <a:t>CT shows hemorrhage or large hypodensity in the area with suspected </a:t>
            </a:r>
          </a:p>
          <a:p>
            <a:pPr lvl="1">
              <a:lnSpc>
                <a:spcPct val="110000"/>
              </a:lnSpc>
            </a:pPr>
            <a:r>
              <a:rPr lang="en-US" sz="1700" dirty="0"/>
              <a:t>Treatment with anticoagulation </a:t>
            </a:r>
          </a:p>
          <a:p>
            <a:pPr lvl="1">
              <a:lnSpc>
                <a:spcPct val="110000"/>
              </a:lnSpc>
            </a:pPr>
            <a:r>
              <a:rPr lang="en-US" sz="1700" dirty="0"/>
              <a:t>INR &gt;1.7 or platelet count &lt;100,000</a:t>
            </a:r>
          </a:p>
          <a:p>
            <a:pPr lvl="1">
              <a:lnSpc>
                <a:spcPct val="110000"/>
              </a:lnSpc>
            </a:pPr>
            <a:r>
              <a:rPr lang="en-US" sz="1700" dirty="0"/>
              <a:t>Blood glucose &lt;50 mg/dL</a:t>
            </a:r>
          </a:p>
          <a:p>
            <a:pPr lvl="1">
              <a:lnSpc>
                <a:spcPct val="110000"/>
              </a:lnSpc>
            </a:pPr>
            <a:r>
              <a:rPr lang="en-US" sz="1700" dirty="0"/>
              <a:t>Significant head trauma, intracranial or intraspinal surgery withing previous 3 months</a:t>
            </a:r>
          </a:p>
          <a:p>
            <a:pPr lvl="1">
              <a:lnSpc>
                <a:spcPct val="110000"/>
              </a:lnSpc>
            </a:pPr>
            <a:r>
              <a:rPr lang="en-US" sz="1700" dirty="0"/>
              <a:t>Recent LP</a:t>
            </a:r>
          </a:p>
          <a:p>
            <a:pPr lvl="1">
              <a:lnSpc>
                <a:spcPct val="110000"/>
              </a:lnSpc>
            </a:pPr>
            <a:r>
              <a:rPr lang="en-US" sz="1700" dirty="0"/>
              <a:t>Blood pressure sustained over 185/110 mmHg</a:t>
            </a:r>
          </a:p>
          <a:p>
            <a:pPr>
              <a:lnSpc>
                <a:spcPct val="110000"/>
              </a:lnSpc>
            </a:pPr>
            <a:r>
              <a:rPr lang="en-US" sz="1700" dirty="0"/>
              <a:t>Relative contraindications</a:t>
            </a:r>
          </a:p>
          <a:p>
            <a:pPr lvl="1">
              <a:lnSpc>
                <a:spcPct val="110000"/>
              </a:lnSpc>
            </a:pPr>
            <a:r>
              <a:rPr lang="en-US" sz="1700" dirty="0"/>
              <a:t>Pregnancy</a:t>
            </a:r>
          </a:p>
          <a:p>
            <a:pPr lvl="1">
              <a:lnSpc>
                <a:spcPct val="110000"/>
              </a:lnSpc>
            </a:pPr>
            <a:r>
              <a:rPr lang="en-US" sz="1700" dirty="0"/>
              <a:t>Stroke or myocardial infarction in previous 3 months</a:t>
            </a:r>
          </a:p>
          <a:p>
            <a:pPr lvl="1">
              <a:lnSpc>
                <a:spcPct val="110000"/>
              </a:lnSpc>
            </a:pPr>
            <a:r>
              <a:rPr lang="en-US" sz="1700" dirty="0"/>
              <a:t>Major trauma in previous 14 days</a:t>
            </a:r>
          </a:p>
          <a:p>
            <a:pPr lvl="1">
              <a:lnSpc>
                <a:spcPct val="110000"/>
              </a:lnSpc>
            </a:pPr>
            <a:r>
              <a:rPr lang="en-US" sz="1700" dirty="0"/>
              <a:t>History of ICH, unruptured and unsecured intracranial aneurysm, AVM, or intracranial neoplasm</a:t>
            </a:r>
          </a:p>
          <a:p>
            <a:pPr lvl="1">
              <a:lnSpc>
                <a:spcPct val="110000"/>
              </a:lnSpc>
            </a:pPr>
            <a:r>
              <a:rPr lang="en-US" sz="1700" dirty="0"/>
              <a:t>Arterial puncture in previous 7 days</a:t>
            </a:r>
          </a:p>
        </p:txBody>
      </p:sp>
    </p:spTree>
    <p:extLst>
      <p:ext uri="{BB962C8B-B14F-4D97-AF65-F5344CB8AC3E}">
        <p14:creationId xmlns:p14="http://schemas.microsoft.com/office/powerpoint/2010/main" val="8694197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71D199B-5E15-43A6-BA31-F5CDFDB3A9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1B87FBE-3E2C-474B-8ECF-4BBE07430076}"/>
              </a:ext>
            </a:extLst>
          </p:cNvPr>
          <p:cNvSpPr>
            <a:spLocks noGrp="1"/>
          </p:cNvSpPr>
          <p:nvPr>
            <p:ph type="title"/>
          </p:nvPr>
        </p:nvSpPr>
        <p:spPr>
          <a:xfrm>
            <a:off x="448056" y="393192"/>
            <a:ext cx="11301984" cy="859536"/>
          </a:xfrm>
        </p:spPr>
        <p:txBody>
          <a:bodyPr anchor="b">
            <a:normAutofit/>
          </a:bodyPr>
          <a:lstStyle/>
          <a:p>
            <a:r>
              <a:rPr lang="en-US" dirty="0"/>
              <a:t>Post IV </a:t>
            </a:r>
            <a:r>
              <a:rPr lang="en-US" dirty="0" err="1"/>
              <a:t>tPA</a:t>
            </a:r>
            <a:r>
              <a:rPr lang="en-US" dirty="0"/>
              <a:t> management</a:t>
            </a:r>
          </a:p>
        </p:txBody>
      </p:sp>
      <p:cxnSp>
        <p:nvCxnSpPr>
          <p:cNvPr id="17" name="Straight Connector 16">
            <a:extLst>
              <a:ext uri="{FF2B5EF4-FFF2-40B4-BE49-F238E27FC236}">
                <a16:creationId xmlns:a16="http://schemas.microsoft.com/office/drawing/2014/main" id="{6C52BBAB-664F-48C3-A5C1-4CE9D3555D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9400" y="16092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E2227D1-C95E-BD4F-87D3-21F238FFB3BF}"/>
              </a:ext>
            </a:extLst>
          </p:cNvPr>
          <p:cNvSpPr>
            <a:spLocks noGrp="1"/>
          </p:cNvSpPr>
          <p:nvPr>
            <p:ph idx="1"/>
          </p:nvPr>
        </p:nvSpPr>
        <p:spPr>
          <a:xfrm>
            <a:off x="448056" y="1947671"/>
            <a:ext cx="11301984" cy="4605499"/>
          </a:xfrm>
        </p:spPr>
        <p:txBody>
          <a:bodyPr>
            <a:normAutofit/>
          </a:bodyPr>
          <a:lstStyle/>
          <a:p>
            <a:pPr>
              <a:lnSpc>
                <a:spcPct val="110000"/>
              </a:lnSpc>
            </a:pPr>
            <a:r>
              <a:rPr lang="en-US" sz="2500" dirty="0"/>
              <a:t>Admission to ICU for close neurological monitoring</a:t>
            </a:r>
          </a:p>
          <a:p>
            <a:pPr lvl="1">
              <a:lnSpc>
                <a:spcPct val="110000"/>
              </a:lnSpc>
            </a:pPr>
            <a:r>
              <a:rPr lang="en-US" sz="2500" dirty="0"/>
              <a:t>Neurological and BP checks every 15 minutes during infusion, every 30 min for 6 hours after, and every hour for 24 hours</a:t>
            </a:r>
          </a:p>
          <a:p>
            <a:pPr>
              <a:lnSpc>
                <a:spcPct val="110000"/>
              </a:lnSpc>
            </a:pPr>
            <a:r>
              <a:rPr lang="en-US" sz="2500" dirty="0"/>
              <a:t>No antiplatelet agents, anticoagulation, or DVT prophylaxis for 24 hours after </a:t>
            </a:r>
            <a:r>
              <a:rPr lang="en-US" sz="2500" dirty="0" err="1"/>
              <a:t>tPA</a:t>
            </a:r>
            <a:endParaRPr lang="en-US" sz="2500" dirty="0"/>
          </a:p>
          <a:p>
            <a:pPr>
              <a:lnSpc>
                <a:spcPct val="110000"/>
              </a:lnSpc>
            </a:pPr>
            <a:r>
              <a:rPr lang="en-US" sz="2500" dirty="0"/>
              <a:t>Blood pressure goal </a:t>
            </a:r>
            <a:r>
              <a:rPr lang="en-US" sz="2500" b="1" dirty="0">
                <a:solidFill>
                  <a:schemeClr val="accent5">
                    <a:alpha val="55000"/>
                  </a:schemeClr>
                </a:solidFill>
              </a:rPr>
              <a:t>SBP &lt;180, DBP &lt;105</a:t>
            </a:r>
          </a:p>
          <a:p>
            <a:pPr>
              <a:lnSpc>
                <a:spcPct val="110000"/>
              </a:lnSpc>
            </a:pPr>
            <a:r>
              <a:rPr lang="en-US" sz="2500" dirty="0"/>
              <a:t>Complications: </a:t>
            </a:r>
          </a:p>
          <a:p>
            <a:pPr lvl="1">
              <a:lnSpc>
                <a:spcPct val="110000"/>
              </a:lnSpc>
            </a:pPr>
            <a:r>
              <a:rPr lang="en-US" sz="2500" dirty="0"/>
              <a:t>Any acute neurological change, severe headache or vomiting should prompt repeat CT brain to assess for </a:t>
            </a:r>
            <a:r>
              <a:rPr lang="en-US" sz="2500" b="1" u="sng" dirty="0"/>
              <a:t>hemorrhagic transformation</a:t>
            </a:r>
          </a:p>
          <a:p>
            <a:pPr>
              <a:lnSpc>
                <a:spcPct val="110000"/>
              </a:lnSpc>
            </a:pPr>
            <a:endParaRPr lang="en-US" sz="2500" b="1" dirty="0">
              <a:solidFill>
                <a:schemeClr val="accent5">
                  <a:alpha val="55000"/>
                </a:schemeClr>
              </a:solidFill>
            </a:endParaRPr>
          </a:p>
        </p:txBody>
      </p:sp>
    </p:spTree>
    <p:extLst>
      <p:ext uri="{BB962C8B-B14F-4D97-AF65-F5344CB8AC3E}">
        <p14:creationId xmlns:p14="http://schemas.microsoft.com/office/powerpoint/2010/main" val="29883082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9660069-3B2A-40F4-AF45-4A8FD596D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8ED5AD-56B5-3847-95C5-BECF37D718E2}"/>
              </a:ext>
            </a:extLst>
          </p:cNvPr>
          <p:cNvSpPr>
            <a:spLocks noGrp="1"/>
          </p:cNvSpPr>
          <p:nvPr>
            <p:ph type="title"/>
          </p:nvPr>
        </p:nvSpPr>
        <p:spPr>
          <a:xfrm>
            <a:off x="448056" y="388799"/>
            <a:ext cx="2854800" cy="6026399"/>
          </a:xfrm>
        </p:spPr>
        <p:txBody>
          <a:bodyPr>
            <a:normAutofit/>
          </a:bodyPr>
          <a:lstStyle/>
          <a:p>
            <a:r>
              <a:rPr lang="en-US" dirty="0"/>
              <a:t>Mechanical Thrombectomy for Large Vessel Occlusion</a:t>
            </a:r>
          </a:p>
        </p:txBody>
      </p:sp>
      <p:cxnSp>
        <p:nvCxnSpPr>
          <p:cNvPr id="10" name="Straight Connector 9">
            <a:extLst>
              <a:ext uri="{FF2B5EF4-FFF2-40B4-BE49-F238E27FC236}">
                <a16:creationId xmlns:a16="http://schemas.microsoft.com/office/drawing/2014/main" id="{7F935FD8-9F2E-4F15-8ED9-1C692DA6F35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44000" y="450000"/>
            <a:ext cx="0" cy="5965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pic>
        <p:nvPicPr>
          <p:cNvPr id="7" name="Picture 6" descr="A picture containing text, outdoor, shore&#10;&#10;Description automatically generated">
            <a:extLst>
              <a:ext uri="{FF2B5EF4-FFF2-40B4-BE49-F238E27FC236}">
                <a16:creationId xmlns:a16="http://schemas.microsoft.com/office/drawing/2014/main" id="{A17FB14F-9084-2941-93E7-1F91544CB8D5}"/>
              </a:ext>
            </a:extLst>
          </p:cNvPr>
          <p:cNvPicPr>
            <a:picLocks noChangeAspect="1"/>
          </p:cNvPicPr>
          <p:nvPr/>
        </p:nvPicPr>
        <p:blipFill>
          <a:blip r:embed="rId3"/>
          <a:stretch>
            <a:fillRect/>
          </a:stretch>
        </p:blipFill>
        <p:spPr>
          <a:xfrm>
            <a:off x="4146931" y="537515"/>
            <a:ext cx="7713781" cy="5782970"/>
          </a:xfrm>
          <a:prstGeom prst="rect">
            <a:avLst/>
          </a:prstGeom>
        </p:spPr>
      </p:pic>
    </p:spTree>
    <p:extLst>
      <p:ext uri="{BB962C8B-B14F-4D97-AF65-F5344CB8AC3E}">
        <p14:creationId xmlns:p14="http://schemas.microsoft.com/office/powerpoint/2010/main" val="39456463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9660069-3B2A-40F4-AF45-4A8FD596D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8ED5AD-56B5-3847-95C5-BECF37D718E2}"/>
              </a:ext>
            </a:extLst>
          </p:cNvPr>
          <p:cNvSpPr>
            <a:spLocks noGrp="1"/>
          </p:cNvSpPr>
          <p:nvPr>
            <p:ph type="title"/>
          </p:nvPr>
        </p:nvSpPr>
        <p:spPr>
          <a:xfrm>
            <a:off x="448056" y="388799"/>
            <a:ext cx="2854800" cy="6026399"/>
          </a:xfrm>
        </p:spPr>
        <p:txBody>
          <a:bodyPr>
            <a:normAutofit/>
          </a:bodyPr>
          <a:lstStyle/>
          <a:p>
            <a:r>
              <a:rPr lang="en-US" dirty="0"/>
              <a:t>Mechanical Thrombectomy for Large Vessel Occlusion</a:t>
            </a:r>
          </a:p>
        </p:txBody>
      </p:sp>
      <p:cxnSp>
        <p:nvCxnSpPr>
          <p:cNvPr id="10" name="Straight Connector 9">
            <a:extLst>
              <a:ext uri="{FF2B5EF4-FFF2-40B4-BE49-F238E27FC236}">
                <a16:creationId xmlns:a16="http://schemas.microsoft.com/office/drawing/2014/main" id="{7F935FD8-9F2E-4F15-8ED9-1C692DA6F35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44000" y="450000"/>
            <a:ext cx="0" cy="5965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452DB8E-7802-7B4F-A732-4DD2631A8F8D}"/>
              </a:ext>
            </a:extLst>
          </p:cNvPr>
          <p:cNvSpPr>
            <a:spLocks noGrp="1"/>
          </p:cNvSpPr>
          <p:nvPr>
            <p:ph idx="1"/>
          </p:nvPr>
        </p:nvSpPr>
        <p:spPr>
          <a:xfrm>
            <a:off x="4222800" y="323998"/>
            <a:ext cx="7056000" cy="6264371"/>
          </a:xfrm>
        </p:spPr>
        <p:txBody>
          <a:bodyPr>
            <a:normAutofit lnSpcReduction="10000"/>
          </a:bodyPr>
          <a:lstStyle/>
          <a:p>
            <a:pPr>
              <a:lnSpc>
                <a:spcPct val="110000"/>
              </a:lnSpc>
            </a:pPr>
            <a:r>
              <a:rPr lang="en-US" dirty="0"/>
              <a:t>Patients should be considered for mechanical thrombectomy </a:t>
            </a:r>
            <a:r>
              <a:rPr lang="en-US" b="1" dirty="0">
                <a:solidFill>
                  <a:schemeClr val="accent5">
                    <a:alpha val="55000"/>
                  </a:schemeClr>
                </a:solidFill>
              </a:rPr>
              <a:t>within 6 hours of LKWT </a:t>
            </a:r>
            <a:r>
              <a:rPr lang="en-US" dirty="0"/>
              <a:t>if there is a </a:t>
            </a:r>
            <a:r>
              <a:rPr lang="en-US" b="1" dirty="0">
                <a:solidFill>
                  <a:schemeClr val="accent5">
                    <a:alpha val="55000"/>
                  </a:schemeClr>
                </a:solidFill>
              </a:rPr>
              <a:t>large vessel occlusion in the anterior circulation </a:t>
            </a:r>
            <a:r>
              <a:rPr lang="en-US" dirty="0"/>
              <a:t>that is accessible by catheterization (carotid terminus, M1 or proximal M2 segment of MCA)</a:t>
            </a:r>
          </a:p>
          <a:p>
            <a:pPr lvl="1">
              <a:lnSpc>
                <a:spcPct val="110000"/>
              </a:lnSpc>
            </a:pPr>
            <a:r>
              <a:rPr lang="en-US" dirty="0"/>
              <a:t>Perfusion imaging (CT or MRI) provides information on infarct and potentially salvageable tissue, characterized by mismatch ratio and volume of infarct </a:t>
            </a:r>
          </a:p>
          <a:p>
            <a:pPr lvl="1">
              <a:lnSpc>
                <a:spcPct val="110000"/>
              </a:lnSpc>
            </a:pPr>
            <a:r>
              <a:rPr lang="en-US" dirty="0"/>
              <a:t>Patients who have completed their infarcts (no salvageable tissue on imaging) are unlikely to benefit from thrombectomy</a:t>
            </a:r>
          </a:p>
          <a:p>
            <a:pPr>
              <a:lnSpc>
                <a:spcPct val="110000"/>
              </a:lnSpc>
            </a:pPr>
            <a:r>
              <a:rPr lang="en-US" dirty="0"/>
              <a:t>Several studies have shown benefit of thrombectomy in addition to </a:t>
            </a:r>
            <a:r>
              <a:rPr lang="en-US" dirty="0" err="1"/>
              <a:t>tPA</a:t>
            </a:r>
            <a:r>
              <a:rPr lang="en-US" dirty="0"/>
              <a:t> over IV </a:t>
            </a:r>
            <a:r>
              <a:rPr lang="en-US" dirty="0" err="1"/>
              <a:t>tPA</a:t>
            </a:r>
            <a:r>
              <a:rPr lang="en-US" dirty="0"/>
              <a:t> alone – i.e. </a:t>
            </a:r>
            <a:r>
              <a:rPr lang="en-US" b="1" dirty="0">
                <a:solidFill>
                  <a:schemeClr val="accent5">
                    <a:alpha val="55000"/>
                  </a:schemeClr>
                </a:solidFill>
              </a:rPr>
              <a:t>you can get thrombectomy even if you already got </a:t>
            </a:r>
            <a:r>
              <a:rPr lang="en-US" b="1" dirty="0" err="1">
                <a:solidFill>
                  <a:schemeClr val="accent5">
                    <a:alpha val="55000"/>
                  </a:schemeClr>
                </a:solidFill>
              </a:rPr>
              <a:t>tPA</a:t>
            </a:r>
            <a:r>
              <a:rPr lang="en-US" b="1" dirty="0">
                <a:solidFill>
                  <a:schemeClr val="accent5">
                    <a:alpha val="55000"/>
                  </a:schemeClr>
                </a:solidFill>
              </a:rPr>
              <a:t> if you meet criteria</a:t>
            </a:r>
          </a:p>
          <a:p>
            <a:pPr>
              <a:lnSpc>
                <a:spcPct val="110000"/>
              </a:lnSpc>
            </a:pPr>
            <a:r>
              <a:rPr lang="en-US" b="1" dirty="0">
                <a:solidFill>
                  <a:schemeClr val="accent5">
                    <a:alpha val="55000"/>
                  </a:schemeClr>
                </a:solidFill>
              </a:rPr>
              <a:t>NNT of 2.6!!!!</a:t>
            </a:r>
          </a:p>
          <a:p>
            <a:pPr>
              <a:lnSpc>
                <a:spcPct val="110000"/>
              </a:lnSpc>
            </a:pPr>
            <a:endParaRPr lang="en-US" b="1" dirty="0">
              <a:solidFill>
                <a:schemeClr val="accent5">
                  <a:alpha val="55000"/>
                </a:schemeClr>
              </a:solidFill>
            </a:endParaRPr>
          </a:p>
        </p:txBody>
      </p:sp>
    </p:spTree>
    <p:extLst>
      <p:ext uri="{BB962C8B-B14F-4D97-AF65-F5344CB8AC3E}">
        <p14:creationId xmlns:p14="http://schemas.microsoft.com/office/powerpoint/2010/main" val="19546532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9660069-3B2A-40F4-AF45-4A8FD596D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8ED5AD-56B5-3847-95C5-BECF37D718E2}"/>
              </a:ext>
            </a:extLst>
          </p:cNvPr>
          <p:cNvSpPr>
            <a:spLocks noGrp="1"/>
          </p:cNvSpPr>
          <p:nvPr>
            <p:ph type="title"/>
          </p:nvPr>
        </p:nvSpPr>
        <p:spPr>
          <a:xfrm>
            <a:off x="448056" y="388799"/>
            <a:ext cx="2854800" cy="6026399"/>
          </a:xfrm>
        </p:spPr>
        <p:txBody>
          <a:bodyPr>
            <a:normAutofit/>
          </a:bodyPr>
          <a:lstStyle/>
          <a:p>
            <a:r>
              <a:rPr lang="en-US" dirty="0"/>
              <a:t>Extended Window for Thrombectomy</a:t>
            </a:r>
          </a:p>
        </p:txBody>
      </p:sp>
      <p:cxnSp>
        <p:nvCxnSpPr>
          <p:cNvPr id="10" name="Straight Connector 9">
            <a:extLst>
              <a:ext uri="{FF2B5EF4-FFF2-40B4-BE49-F238E27FC236}">
                <a16:creationId xmlns:a16="http://schemas.microsoft.com/office/drawing/2014/main" id="{7F935FD8-9F2E-4F15-8ED9-1C692DA6F35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44000" y="450000"/>
            <a:ext cx="0" cy="5965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452DB8E-7802-7B4F-A732-4DD2631A8F8D}"/>
              </a:ext>
            </a:extLst>
          </p:cNvPr>
          <p:cNvSpPr>
            <a:spLocks noGrp="1"/>
          </p:cNvSpPr>
          <p:nvPr>
            <p:ph idx="1"/>
          </p:nvPr>
        </p:nvSpPr>
        <p:spPr>
          <a:xfrm>
            <a:off x="4222800" y="323998"/>
            <a:ext cx="7056000" cy="6264371"/>
          </a:xfrm>
        </p:spPr>
        <p:txBody>
          <a:bodyPr>
            <a:normAutofit lnSpcReduction="10000"/>
          </a:bodyPr>
          <a:lstStyle/>
          <a:p>
            <a:r>
              <a:rPr lang="en-US" sz="2400" dirty="0"/>
              <a:t>DAWN trial and DEFUSE3 trials used perfusion imaging to identify patients &gt;6 hours, and less than 24 hours (DAWN) or 16 hours (DEFUSE3) that might benefit from thrombectomy at even greater time periods</a:t>
            </a:r>
          </a:p>
          <a:p>
            <a:r>
              <a:rPr lang="en-US" sz="2400" dirty="0"/>
              <a:t>These studies showed benefits, with NNT between 2 – 4.</a:t>
            </a:r>
          </a:p>
          <a:p>
            <a:r>
              <a:rPr lang="en-US" sz="2400" dirty="0"/>
              <a:t>While not completely standard of care at this point, most large comprehensive stroke centers will perform thrombectomy up to 24 hours in the right situation</a:t>
            </a:r>
          </a:p>
          <a:p>
            <a:r>
              <a:rPr lang="en-US" sz="2400" dirty="0"/>
              <a:t>Important for ‘wake up strokes’ and when clear time of onset is unclear but LKW unlikely to be close to actual time of onset</a:t>
            </a:r>
          </a:p>
        </p:txBody>
      </p:sp>
    </p:spTree>
    <p:extLst>
      <p:ext uri="{BB962C8B-B14F-4D97-AF65-F5344CB8AC3E}">
        <p14:creationId xmlns:p14="http://schemas.microsoft.com/office/powerpoint/2010/main" val="2649939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9660069-3B2A-40F4-AF45-4A8FD596D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A6BCA2-3927-7846-955D-639A4584D7E8}"/>
              </a:ext>
            </a:extLst>
          </p:cNvPr>
          <p:cNvSpPr>
            <a:spLocks noGrp="1"/>
          </p:cNvSpPr>
          <p:nvPr>
            <p:ph type="title"/>
          </p:nvPr>
        </p:nvSpPr>
        <p:spPr>
          <a:xfrm>
            <a:off x="448056" y="388799"/>
            <a:ext cx="2854800" cy="6026399"/>
          </a:xfrm>
        </p:spPr>
        <p:txBody>
          <a:bodyPr>
            <a:normAutofit/>
          </a:bodyPr>
          <a:lstStyle/>
          <a:p>
            <a:r>
              <a:rPr lang="en-US" dirty="0"/>
              <a:t>Subacute stroke </a:t>
            </a:r>
          </a:p>
        </p:txBody>
      </p:sp>
      <p:cxnSp>
        <p:nvCxnSpPr>
          <p:cNvPr id="10" name="Straight Connector 9">
            <a:extLst>
              <a:ext uri="{FF2B5EF4-FFF2-40B4-BE49-F238E27FC236}">
                <a16:creationId xmlns:a16="http://schemas.microsoft.com/office/drawing/2014/main" id="{7F935FD8-9F2E-4F15-8ED9-1C692DA6F35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44000" y="450000"/>
            <a:ext cx="0" cy="5965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3BF3F18-5365-754D-BB49-12608EC1A220}"/>
              </a:ext>
            </a:extLst>
          </p:cNvPr>
          <p:cNvSpPr>
            <a:spLocks noGrp="1"/>
          </p:cNvSpPr>
          <p:nvPr>
            <p:ph idx="1"/>
          </p:nvPr>
        </p:nvSpPr>
        <p:spPr>
          <a:xfrm>
            <a:off x="4222800" y="323998"/>
            <a:ext cx="7056000" cy="6091199"/>
          </a:xfrm>
        </p:spPr>
        <p:txBody>
          <a:bodyPr>
            <a:normAutofit lnSpcReduction="10000"/>
          </a:bodyPr>
          <a:lstStyle/>
          <a:p>
            <a:r>
              <a:rPr lang="en-US" b="1" dirty="0">
                <a:solidFill>
                  <a:schemeClr val="accent5">
                    <a:alpha val="55000"/>
                  </a:schemeClr>
                </a:solidFill>
              </a:rPr>
              <a:t>These patients aren’t candidates for </a:t>
            </a:r>
            <a:r>
              <a:rPr lang="en-US" b="1" dirty="0" err="1">
                <a:solidFill>
                  <a:schemeClr val="accent5">
                    <a:alpha val="55000"/>
                  </a:schemeClr>
                </a:solidFill>
              </a:rPr>
              <a:t>tPA</a:t>
            </a:r>
            <a:r>
              <a:rPr lang="en-US" b="1" dirty="0">
                <a:solidFill>
                  <a:schemeClr val="accent5">
                    <a:alpha val="55000"/>
                  </a:schemeClr>
                </a:solidFill>
              </a:rPr>
              <a:t> or thrombectomy</a:t>
            </a:r>
          </a:p>
          <a:p>
            <a:r>
              <a:rPr lang="en-US" u="sng" dirty="0"/>
              <a:t>Permissive hypertension</a:t>
            </a:r>
            <a:r>
              <a:rPr lang="en-US" dirty="0"/>
              <a:t>: practice varies between normotensive, 20% reduction from admission BP or allowing </a:t>
            </a:r>
            <a:r>
              <a:rPr lang="en-US" b="1" dirty="0">
                <a:solidFill>
                  <a:schemeClr val="accent6">
                    <a:alpha val="55000"/>
                  </a:schemeClr>
                </a:solidFill>
              </a:rPr>
              <a:t>SBP &lt;220mmHg</a:t>
            </a:r>
          </a:p>
          <a:p>
            <a:r>
              <a:rPr lang="en-US" u="sng" dirty="0"/>
              <a:t>Antiplatelet agents </a:t>
            </a:r>
            <a:r>
              <a:rPr lang="en-US" dirty="0"/>
              <a:t>such as aspirin full dose (325mg) or clopidogrel (if aspirin intolerant) should be given within 24 hours if no contraindications</a:t>
            </a:r>
          </a:p>
          <a:p>
            <a:r>
              <a:rPr lang="en-US" dirty="0"/>
              <a:t>Investigate </a:t>
            </a:r>
            <a:r>
              <a:rPr lang="en-US" u="sng" dirty="0"/>
              <a:t>stroke etiology</a:t>
            </a:r>
          </a:p>
          <a:p>
            <a:pPr lvl="1"/>
            <a:r>
              <a:rPr lang="en-US" dirty="0"/>
              <a:t>Echocardiogram</a:t>
            </a:r>
          </a:p>
          <a:p>
            <a:pPr lvl="1"/>
            <a:r>
              <a:rPr lang="en-US" dirty="0"/>
              <a:t>Carotid imaging</a:t>
            </a:r>
          </a:p>
          <a:p>
            <a:pPr lvl="1"/>
            <a:r>
              <a:rPr lang="en-US" dirty="0"/>
              <a:t>Telemetry monitoring</a:t>
            </a:r>
          </a:p>
          <a:p>
            <a:r>
              <a:rPr lang="en-US" dirty="0"/>
              <a:t>Focus on early </a:t>
            </a:r>
            <a:r>
              <a:rPr lang="en-US" u="sng" dirty="0"/>
              <a:t>PT/OT/ST</a:t>
            </a:r>
          </a:p>
          <a:p>
            <a:r>
              <a:rPr lang="en-US" b="1" dirty="0">
                <a:solidFill>
                  <a:schemeClr val="accent6">
                    <a:alpha val="55000"/>
                  </a:schemeClr>
                </a:solidFill>
              </a:rPr>
              <a:t>Secondary stroke prevention</a:t>
            </a:r>
          </a:p>
          <a:p>
            <a:endParaRPr lang="en-US" dirty="0"/>
          </a:p>
        </p:txBody>
      </p:sp>
    </p:spTree>
    <p:extLst>
      <p:ext uri="{BB962C8B-B14F-4D97-AF65-F5344CB8AC3E}">
        <p14:creationId xmlns:p14="http://schemas.microsoft.com/office/powerpoint/2010/main" val="20635476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9660069-3B2A-40F4-AF45-4A8FD596D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04EFC4-3FCF-D84C-9A33-79E90FA7F813}"/>
              </a:ext>
            </a:extLst>
          </p:cNvPr>
          <p:cNvSpPr>
            <a:spLocks noGrp="1"/>
          </p:cNvSpPr>
          <p:nvPr>
            <p:ph type="title"/>
          </p:nvPr>
        </p:nvSpPr>
        <p:spPr>
          <a:xfrm>
            <a:off x="448056" y="388799"/>
            <a:ext cx="2854800" cy="6026399"/>
          </a:xfrm>
        </p:spPr>
        <p:txBody>
          <a:bodyPr>
            <a:normAutofit/>
          </a:bodyPr>
          <a:lstStyle/>
          <a:p>
            <a:r>
              <a:rPr lang="en-US" dirty="0"/>
              <a:t>Secondary Stroke Prevention</a:t>
            </a:r>
            <a:br>
              <a:rPr lang="en-US" dirty="0"/>
            </a:br>
            <a:br>
              <a:rPr lang="en-US" dirty="0"/>
            </a:br>
            <a:r>
              <a:rPr lang="en-US" i="0" dirty="0">
                <a:latin typeface="+mn-lt"/>
              </a:rPr>
              <a:t>(</a:t>
            </a:r>
            <a:r>
              <a:rPr lang="en-US" sz="2000" i="0" dirty="0">
                <a:latin typeface="+mn-lt"/>
              </a:rPr>
              <a:t>for all stroke patients whether they got </a:t>
            </a:r>
            <a:r>
              <a:rPr lang="en-US" sz="2000" i="0" dirty="0" err="1">
                <a:latin typeface="+mn-lt"/>
              </a:rPr>
              <a:t>tPA</a:t>
            </a:r>
            <a:r>
              <a:rPr lang="en-US" sz="2000" i="0" dirty="0">
                <a:latin typeface="+mn-lt"/>
              </a:rPr>
              <a:t>/thrombectomy or not)</a:t>
            </a:r>
          </a:p>
        </p:txBody>
      </p:sp>
      <p:cxnSp>
        <p:nvCxnSpPr>
          <p:cNvPr id="10" name="Straight Connector 9">
            <a:extLst>
              <a:ext uri="{FF2B5EF4-FFF2-40B4-BE49-F238E27FC236}">
                <a16:creationId xmlns:a16="http://schemas.microsoft.com/office/drawing/2014/main" id="{7F935FD8-9F2E-4F15-8ED9-1C692DA6F35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44000" y="450000"/>
            <a:ext cx="0" cy="5965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39D1440-E806-E64F-B4C4-259C23A79954}"/>
              </a:ext>
            </a:extLst>
          </p:cNvPr>
          <p:cNvSpPr>
            <a:spLocks noGrp="1"/>
          </p:cNvSpPr>
          <p:nvPr>
            <p:ph idx="1"/>
          </p:nvPr>
        </p:nvSpPr>
        <p:spPr>
          <a:xfrm>
            <a:off x="4222800" y="323998"/>
            <a:ext cx="7056000" cy="6091199"/>
          </a:xfrm>
        </p:spPr>
        <p:txBody>
          <a:bodyPr>
            <a:normAutofit fontScale="92500" lnSpcReduction="10000"/>
          </a:bodyPr>
          <a:lstStyle/>
          <a:p>
            <a:r>
              <a:rPr lang="en-US" dirty="0"/>
              <a:t>All patients should be assessed for </a:t>
            </a:r>
            <a:r>
              <a:rPr lang="en-US" u="sng" dirty="0"/>
              <a:t>co-morbidities</a:t>
            </a:r>
            <a:r>
              <a:rPr lang="en-US" dirty="0"/>
              <a:t> that place them at high risk for another stroke</a:t>
            </a:r>
          </a:p>
          <a:p>
            <a:pPr lvl="1"/>
            <a:r>
              <a:rPr lang="en-US" dirty="0"/>
              <a:t>Antiplatelet therapy: aspirin </a:t>
            </a:r>
          </a:p>
          <a:p>
            <a:pPr lvl="1"/>
            <a:r>
              <a:rPr lang="en-US" dirty="0"/>
              <a:t>Anticoagulation: for patients with atrial fibrillation, hypercoagulable states, intra-cardiac thrombus/device, mechanical valves</a:t>
            </a:r>
          </a:p>
          <a:p>
            <a:pPr lvl="2"/>
            <a:r>
              <a:rPr lang="en-US" dirty="0"/>
              <a:t>Echocardiogram </a:t>
            </a:r>
          </a:p>
          <a:p>
            <a:pPr lvl="2"/>
            <a:r>
              <a:rPr lang="en-US" b="1" dirty="0">
                <a:solidFill>
                  <a:schemeClr val="accent6">
                    <a:alpha val="55000"/>
                  </a:schemeClr>
                </a:solidFill>
              </a:rPr>
              <a:t>30-day event monitor if no </a:t>
            </a:r>
            <a:r>
              <a:rPr lang="en-US" b="1" dirty="0" err="1">
                <a:solidFill>
                  <a:schemeClr val="accent6">
                    <a:alpha val="55000"/>
                  </a:schemeClr>
                </a:solidFill>
              </a:rPr>
              <a:t>afib</a:t>
            </a:r>
            <a:r>
              <a:rPr lang="en-US" b="1" dirty="0">
                <a:solidFill>
                  <a:schemeClr val="accent6">
                    <a:alpha val="55000"/>
                  </a:schemeClr>
                </a:solidFill>
              </a:rPr>
              <a:t> in hospital</a:t>
            </a:r>
          </a:p>
          <a:p>
            <a:pPr lvl="1"/>
            <a:r>
              <a:rPr lang="en-US" dirty="0"/>
              <a:t>Blood pressure control</a:t>
            </a:r>
          </a:p>
          <a:p>
            <a:pPr lvl="1"/>
            <a:r>
              <a:rPr lang="en-US" dirty="0"/>
              <a:t>Hyperlipidemia: all stroke patients should get high dose statin therapy (atorvastatin 40mg or higher, or equivalent)</a:t>
            </a:r>
          </a:p>
          <a:p>
            <a:pPr lvl="1"/>
            <a:r>
              <a:rPr lang="en-US" dirty="0"/>
              <a:t>Glucose control: screen for diabetes</a:t>
            </a:r>
          </a:p>
          <a:p>
            <a:pPr lvl="1"/>
            <a:r>
              <a:rPr lang="en-US" dirty="0"/>
              <a:t>Smoking cessation</a:t>
            </a:r>
          </a:p>
          <a:p>
            <a:pPr lvl="1"/>
            <a:r>
              <a:rPr lang="en-US" dirty="0"/>
              <a:t>Carotid revascularization should occur within 2 weeks of index event if indicated and no contraindications</a:t>
            </a:r>
          </a:p>
          <a:p>
            <a:pPr lvl="2"/>
            <a:r>
              <a:rPr lang="en-US" dirty="0"/>
              <a:t>Carotid imaging</a:t>
            </a:r>
          </a:p>
        </p:txBody>
      </p:sp>
    </p:spTree>
    <p:extLst>
      <p:ext uri="{BB962C8B-B14F-4D97-AF65-F5344CB8AC3E}">
        <p14:creationId xmlns:p14="http://schemas.microsoft.com/office/powerpoint/2010/main" val="37631460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9660069-3B2A-40F4-AF45-4A8FD596D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B21F09-391C-C04C-8502-99805BBE9C7F}"/>
              </a:ext>
            </a:extLst>
          </p:cNvPr>
          <p:cNvSpPr>
            <a:spLocks noGrp="1"/>
          </p:cNvSpPr>
          <p:nvPr>
            <p:ph type="title"/>
          </p:nvPr>
        </p:nvSpPr>
        <p:spPr>
          <a:xfrm>
            <a:off x="448056" y="388799"/>
            <a:ext cx="2854800" cy="6026399"/>
          </a:xfrm>
        </p:spPr>
        <p:txBody>
          <a:bodyPr>
            <a:normAutofit/>
          </a:bodyPr>
          <a:lstStyle/>
          <a:p>
            <a:r>
              <a:rPr lang="en-US" dirty="0"/>
              <a:t>Malignant Hemispheric Stroke</a:t>
            </a:r>
          </a:p>
        </p:txBody>
      </p:sp>
      <p:cxnSp>
        <p:nvCxnSpPr>
          <p:cNvPr id="10" name="Straight Connector 9">
            <a:extLst>
              <a:ext uri="{FF2B5EF4-FFF2-40B4-BE49-F238E27FC236}">
                <a16:creationId xmlns:a16="http://schemas.microsoft.com/office/drawing/2014/main" id="{7F935FD8-9F2E-4F15-8ED9-1C692DA6F35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44000" y="450000"/>
            <a:ext cx="0" cy="5965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942BEA3-EB32-F04A-99EE-4E7B607DD9A7}"/>
              </a:ext>
            </a:extLst>
          </p:cNvPr>
          <p:cNvSpPr>
            <a:spLocks noGrp="1"/>
          </p:cNvSpPr>
          <p:nvPr>
            <p:ph idx="1"/>
          </p:nvPr>
        </p:nvSpPr>
        <p:spPr>
          <a:xfrm>
            <a:off x="4222800" y="323998"/>
            <a:ext cx="7056000" cy="6091199"/>
          </a:xfrm>
        </p:spPr>
        <p:txBody>
          <a:bodyPr>
            <a:normAutofit/>
          </a:bodyPr>
          <a:lstStyle/>
          <a:p>
            <a:r>
              <a:rPr lang="en-US" b="1" dirty="0">
                <a:solidFill>
                  <a:schemeClr val="accent5">
                    <a:alpha val="55000"/>
                  </a:schemeClr>
                </a:solidFill>
              </a:rPr>
              <a:t>MCA or combined ACA/MCA stroke in either hemisphere which involves at least 2/3 of the territory</a:t>
            </a:r>
            <a:r>
              <a:rPr lang="en-US" dirty="0"/>
              <a:t>…this is a BIG stroke</a:t>
            </a:r>
          </a:p>
          <a:p>
            <a:r>
              <a:rPr lang="en-US" dirty="0"/>
              <a:t>High probability for malignant cerebral edema and brain herniation</a:t>
            </a:r>
          </a:p>
          <a:p>
            <a:pPr lvl="1"/>
            <a:r>
              <a:rPr lang="en-US" dirty="0"/>
              <a:t>High mortality</a:t>
            </a:r>
          </a:p>
          <a:p>
            <a:pPr lvl="1"/>
            <a:r>
              <a:rPr lang="en-US" dirty="0"/>
              <a:t>Consider intubation, high risk for loss of airway control</a:t>
            </a:r>
          </a:p>
          <a:p>
            <a:pPr lvl="1"/>
            <a:r>
              <a:rPr lang="en-US" dirty="0"/>
              <a:t>High risk for hemorrhagic transformation</a:t>
            </a:r>
          </a:p>
          <a:p>
            <a:pPr lvl="1"/>
            <a:r>
              <a:rPr lang="en-US" dirty="0"/>
              <a:t>Decompressive hemi-craniectomy within 48 hours in patients &lt;60 </a:t>
            </a:r>
            <a:r>
              <a:rPr lang="en-US" dirty="0" err="1"/>
              <a:t>yo</a:t>
            </a:r>
            <a:r>
              <a:rPr lang="en-US" dirty="0"/>
              <a:t> to decrease mortality and improve functional outcomes, though there is great variability in this practice.</a:t>
            </a:r>
          </a:p>
          <a:p>
            <a:pPr lvl="1"/>
            <a:endParaRPr lang="en-US" dirty="0"/>
          </a:p>
        </p:txBody>
      </p:sp>
    </p:spTree>
    <p:extLst>
      <p:ext uri="{BB962C8B-B14F-4D97-AF65-F5344CB8AC3E}">
        <p14:creationId xmlns:p14="http://schemas.microsoft.com/office/powerpoint/2010/main" val="13380782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B2F1F-072D-3A42-9566-0D3587674EAB}"/>
              </a:ext>
            </a:extLst>
          </p:cNvPr>
          <p:cNvSpPr>
            <a:spLocks noGrp="1"/>
          </p:cNvSpPr>
          <p:nvPr>
            <p:ph type="title"/>
          </p:nvPr>
        </p:nvSpPr>
        <p:spPr/>
        <p:txBody>
          <a:bodyPr/>
          <a:lstStyle/>
          <a:p>
            <a:r>
              <a:rPr lang="en-US" dirty="0"/>
              <a:t>Case Example</a:t>
            </a:r>
          </a:p>
        </p:txBody>
      </p:sp>
      <p:sp>
        <p:nvSpPr>
          <p:cNvPr id="3" name="Content Placeholder 2">
            <a:extLst>
              <a:ext uri="{FF2B5EF4-FFF2-40B4-BE49-F238E27FC236}">
                <a16:creationId xmlns:a16="http://schemas.microsoft.com/office/drawing/2014/main" id="{9052FAF4-BFD1-184A-8F9F-A43FA49027B1}"/>
              </a:ext>
            </a:extLst>
          </p:cNvPr>
          <p:cNvSpPr>
            <a:spLocks noGrp="1"/>
          </p:cNvSpPr>
          <p:nvPr>
            <p:ph idx="1"/>
          </p:nvPr>
        </p:nvSpPr>
        <p:spPr/>
        <p:txBody>
          <a:bodyPr/>
          <a:lstStyle/>
          <a:p>
            <a:r>
              <a:rPr lang="en-US" dirty="0"/>
              <a:t>7:15pm - You are notified that EMS is bringing in a suspected stroke:</a:t>
            </a:r>
          </a:p>
          <a:p>
            <a:pPr lvl="1"/>
            <a:r>
              <a:rPr lang="en-US" dirty="0"/>
              <a:t>55 year old man</a:t>
            </a:r>
          </a:p>
          <a:p>
            <a:pPr lvl="1"/>
            <a:r>
              <a:rPr lang="en-US" dirty="0"/>
              <a:t>Hx of atrial fibrillation, hypertension, type 2 diabetes</a:t>
            </a:r>
          </a:p>
          <a:p>
            <a:pPr lvl="1"/>
            <a:r>
              <a:rPr lang="en-US" dirty="0"/>
              <a:t>Patient was with family sitting down to dinner at 7:00pm when he was witnessed to begin struggling to speak, right facial droop, unable to hold his utensils.</a:t>
            </a:r>
          </a:p>
          <a:p>
            <a:pPr lvl="1"/>
            <a:r>
              <a:rPr lang="en-US" dirty="0"/>
              <a:t>No previous neurologic deficits, was in his normal state of health immediately prior to onset of symptoms.</a:t>
            </a:r>
          </a:p>
          <a:p>
            <a:pPr lvl="1"/>
            <a:r>
              <a:rPr lang="en-US" dirty="0"/>
              <a:t>ETA 15min…</a:t>
            </a:r>
          </a:p>
        </p:txBody>
      </p:sp>
    </p:spTree>
    <p:extLst>
      <p:ext uri="{BB962C8B-B14F-4D97-AF65-F5344CB8AC3E}">
        <p14:creationId xmlns:p14="http://schemas.microsoft.com/office/powerpoint/2010/main" val="11014738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C2F44-C550-8C46-AABF-DFB76F201EDD}"/>
              </a:ext>
            </a:extLst>
          </p:cNvPr>
          <p:cNvSpPr>
            <a:spLocks noGrp="1"/>
          </p:cNvSpPr>
          <p:nvPr>
            <p:ph type="title"/>
          </p:nvPr>
        </p:nvSpPr>
        <p:spPr/>
        <p:txBody>
          <a:bodyPr/>
          <a:lstStyle/>
          <a:p>
            <a:r>
              <a:rPr lang="en-US" dirty="0"/>
              <a:t>Case Example</a:t>
            </a:r>
          </a:p>
        </p:txBody>
      </p:sp>
      <p:sp>
        <p:nvSpPr>
          <p:cNvPr id="3" name="Content Placeholder 2">
            <a:extLst>
              <a:ext uri="{FF2B5EF4-FFF2-40B4-BE49-F238E27FC236}">
                <a16:creationId xmlns:a16="http://schemas.microsoft.com/office/drawing/2014/main" id="{849E2E7A-CB83-B54C-8974-E387D8006286}"/>
              </a:ext>
            </a:extLst>
          </p:cNvPr>
          <p:cNvSpPr>
            <a:spLocks noGrp="1"/>
          </p:cNvSpPr>
          <p:nvPr>
            <p:ph idx="1"/>
          </p:nvPr>
        </p:nvSpPr>
        <p:spPr/>
        <p:txBody>
          <a:bodyPr/>
          <a:lstStyle/>
          <a:p>
            <a:r>
              <a:rPr lang="en-US" dirty="0"/>
              <a:t>Stroke team activate!</a:t>
            </a:r>
          </a:p>
          <a:p>
            <a:r>
              <a:rPr lang="en-US" dirty="0"/>
              <a:t>Usually, initiated by the emergency room</a:t>
            </a:r>
          </a:p>
          <a:p>
            <a:r>
              <a:rPr lang="en-US" dirty="0"/>
              <a:t>Notification goes out to neurology team, interventional radiology/neurology/neurosurgery</a:t>
            </a:r>
          </a:p>
          <a:p>
            <a:r>
              <a:rPr lang="en-US" dirty="0"/>
              <a:t>Pharmacy, CT, and MRI are notified as well</a:t>
            </a:r>
          </a:p>
          <a:p>
            <a:r>
              <a:rPr lang="en-US" dirty="0"/>
              <a:t>Usually, a trauma room is readied for the patient to facilitate rapid assessment</a:t>
            </a:r>
          </a:p>
          <a:p>
            <a:endParaRPr lang="en-US" dirty="0"/>
          </a:p>
        </p:txBody>
      </p:sp>
    </p:spTree>
    <p:extLst>
      <p:ext uri="{BB962C8B-B14F-4D97-AF65-F5344CB8AC3E}">
        <p14:creationId xmlns:p14="http://schemas.microsoft.com/office/powerpoint/2010/main" val="16786245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FA907-4B9F-1647-91BC-6F2CD2E9318C}"/>
              </a:ext>
            </a:extLst>
          </p:cNvPr>
          <p:cNvSpPr>
            <a:spLocks noGrp="1"/>
          </p:cNvSpPr>
          <p:nvPr>
            <p:ph type="title"/>
          </p:nvPr>
        </p:nvSpPr>
        <p:spPr/>
        <p:txBody>
          <a:bodyPr/>
          <a:lstStyle/>
          <a:p>
            <a:r>
              <a:rPr lang="en-US" dirty="0"/>
              <a:t>Case Example</a:t>
            </a:r>
          </a:p>
        </p:txBody>
      </p:sp>
      <p:sp>
        <p:nvSpPr>
          <p:cNvPr id="3" name="Content Placeholder 2">
            <a:extLst>
              <a:ext uri="{FF2B5EF4-FFF2-40B4-BE49-F238E27FC236}">
                <a16:creationId xmlns:a16="http://schemas.microsoft.com/office/drawing/2014/main" id="{061E95E3-8ED2-EF41-AD8A-15CFA4D23651}"/>
              </a:ext>
            </a:extLst>
          </p:cNvPr>
          <p:cNvSpPr>
            <a:spLocks noGrp="1"/>
          </p:cNvSpPr>
          <p:nvPr>
            <p:ph idx="1"/>
          </p:nvPr>
        </p:nvSpPr>
        <p:spPr>
          <a:xfrm>
            <a:off x="448056" y="1735200"/>
            <a:ext cx="11293200" cy="4471871"/>
          </a:xfrm>
        </p:spPr>
        <p:txBody>
          <a:bodyPr>
            <a:normAutofit/>
          </a:bodyPr>
          <a:lstStyle/>
          <a:p>
            <a:r>
              <a:rPr lang="en-US" dirty="0"/>
              <a:t>On arrival you quickly collect some more history from the patient’s family:</a:t>
            </a:r>
          </a:p>
          <a:p>
            <a:pPr lvl="1"/>
            <a:r>
              <a:rPr lang="en-US" dirty="0"/>
              <a:t>Patient was on coumadin for the </a:t>
            </a:r>
            <a:r>
              <a:rPr lang="en-US" dirty="0" err="1"/>
              <a:t>afib</a:t>
            </a:r>
            <a:r>
              <a:rPr lang="en-US" dirty="0"/>
              <a:t>, but stopped the medication last week for a dental procedure</a:t>
            </a:r>
          </a:p>
          <a:p>
            <a:pPr lvl="1"/>
            <a:r>
              <a:rPr lang="en-US" dirty="0"/>
              <a:t>His hypertension and diabetes have been well managed, and he has been compliant with medications</a:t>
            </a:r>
          </a:p>
          <a:p>
            <a:pPr lvl="1"/>
            <a:r>
              <a:rPr lang="en-US" dirty="0"/>
              <a:t>No recent infections, no medication changes, he works full time as a CPA, non-smoker, social drinker.</a:t>
            </a:r>
          </a:p>
          <a:p>
            <a:pPr lvl="1"/>
            <a:r>
              <a:rPr lang="en-US" dirty="0"/>
              <a:t>Meds: lisinopril, metformin, (coumadin)</a:t>
            </a:r>
          </a:p>
          <a:p>
            <a:pPr lvl="1"/>
            <a:r>
              <a:rPr lang="en-US" dirty="0"/>
              <a:t>No recent procedures or surgeries</a:t>
            </a:r>
          </a:p>
          <a:p>
            <a:pPr lvl="1"/>
            <a:r>
              <a:rPr lang="en-US" dirty="0"/>
              <a:t>No history of clotting disorders</a:t>
            </a:r>
          </a:p>
        </p:txBody>
      </p:sp>
    </p:spTree>
    <p:extLst>
      <p:ext uri="{BB962C8B-B14F-4D97-AF65-F5344CB8AC3E}">
        <p14:creationId xmlns:p14="http://schemas.microsoft.com/office/powerpoint/2010/main" val="19079493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DD322-28A8-C842-8C38-9F5861EA3C58}"/>
              </a:ext>
            </a:extLst>
          </p:cNvPr>
          <p:cNvSpPr>
            <a:spLocks noGrp="1"/>
          </p:cNvSpPr>
          <p:nvPr>
            <p:ph type="title"/>
          </p:nvPr>
        </p:nvSpPr>
        <p:spPr/>
        <p:txBody>
          <a:bodyPr/>
          <a:lstStyle/>
          <a:p>
            <a:r>
              <a:rPr lang="en-US" dirty="0"/>
              <a:t>Case Example</a:t>
            </a:r>
          </a:p>
        </p:txBody>
      </p:sp>
      <p:sp>
        <p:nvSpPr>
          <p:cNvPr id="3" name="Content Placeholder 2">
            <a:extLst>
              <a:ext uri="{FF2B5EF4-FFF2-40B4-BE49-F238E27FC236}">
                <a16:creationId xmlns:a16="http://schemas.microsoft.com/office/drawing/2014/main" id="{CD58F2E1-1B0D-3F42-B5A3-D4057604D8CE}"/>
              </a:ext>
            </a:extLst>
          </p:cNvPr>
          <p:cNvSpPr>
            <a:spLocks noGrp="1"/>
          </p:cNvSpPr>
          <p:nvPr>
            <p:ph idx="1"/>
          </p:nvPr>
        </p:nvSpPr>
        <p:spPr>
          <a:xfrm>
            <a:off x="448056" y="1735200"/>
            <a:ext cx="3077808" cy="3783013"/>
          </a:xfrm>
        </p:spPr>
        <p:txBody>
          <a:bodyPr/>
          <a:lstStyle/>
          <a:p>
            <a:r>
              <a:rPr lang="en-US" dirty="0"/>
              <a:t>Vitals</a:t>
            </a:r>
          </a:p>
          <a:p>
            <a:pPr lvl="1"/>
            <a:r>
              <a:rPr lang="en-US" dirty="0"/>
              <a:t>HR: 85</a:t>
            </a:r>
          </a:p>
          <a:p>
            <a:pPr lvl="1"/>
            <a:r>
              <a:rPr lang="en-US" dirty="0"/>
              <a:t>BP: 175/89</a:t>
            </a:r>
          </a:p>
          <a:p>
            <a:pPr lvl="1"/>
            <a:r>
              <a:rPr lang="en-US" dirty="0"/>
              <a:t>Temp: 98.6</a:t>
            </a:r>
          </a:p>
          <a:p>
            <a:pPr lvl="1"/>
            <a:r>
              <a:rPr lang="en-US" dirty="0"/>
              <a:t>RR: 14</a:t>
            </a:r>
          </a:p>
        </p:txBody>
      </p:sp>
      <p:sp>
        <p:nvSpPr>
          <p:cNvPr id="4" name="TextBox 3">
            <a:extLst>
              <a:ext uri="{FF2B5EF4-FFF2-40B4-BE49-F238E27FC236}">
                <a16:creationId xmlns:a16="http://schemas.microsoft.com/office/drawing/2014/main" id="{7909E7CA-6BB5-6A4B-B947-155F139903DF}"/>
              </a:ext>
            </a:extLst>
          </p:cNvPr>
          <p:cNvSpPr txBox="1"/>
          <p:nvPr/>
        </p:nvSpPr>
        <p:spPr>
          <a:xfrm>
            <a:off x="3775490" y="1225689"/>
            <a:ext cx="7968454" cy="5632311"/>
          </a:xfrm>
          <a:prstGeom prst="rect">
            <a:avLst/>
          </a:prstGeom>
          <a:noFill/>
        </p:spPr>
        <p:txBody>
          <a:bodyPr wrap="square" rtlCol="0">
            <a:spAutoFit/>
          </a:bodyPr>
          <a:lstStyle/>
          <a:p>
            <a:r>
              <a:rPr lang="en-US" dirty="0"/>
              <a:t>Exam:</a:t>
            </a:r>
          </a:p>
          <a:p>
            <a:r>
              <a:rPr lang="en-US" dirty="0"/>
              <a:t>General - anxious, no acute distress otherwise</a:t>
            </a:r>
          </a:p>
          <a:p>
            <a:r>
              <a:rPr lang="en-US" dirty="0"/>
              <a:t>CV – irregular rate, normal S1 S2, good distal pulses,</a:t>
            </a:r>
          </a:p>
          <a:p>
            <a:endParaRPr lang="en-US" dirty="0"/>
          </a:p>
          <a:p>
            <a:r>
              <a:rPr lang="en-US" dirty="0"/>
              <a:t>Mental Status:</a:t>
            </a:r>
          </a:p>
          <a:p>
            <a:pPr marL="285750" indent="-285750">
              <a:buFont typeface="Arial" panose="020B0604020202020204" pitchFamily="34" charset="0"/>
              <a:buChar char="•"/>
            </a:pPr>
            <a:r>
              <a:rPr lang="en-US" dirty="0"/>
              <a:t>Alert, language deficits limit orientation eval</a:t>
            </a:r>
          </a:p>
          <a:p>
            <a:pPr marL="285750" indent="-285750">
              <a:buFont typeface="Arial" panose="020B0604020202020204" pitchFamily="34" charset="0"/>
              <a:buChar char="•"/>
            </a:pPr>
            <a:r>
              <a:rPr lang="en-US" dirty="0"/>
              <a:t>Speech is densely dysarthric, halting, hesitant. Naming, repetition, and comprehension are all impaired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Leftward gaze preference</a:t>
            </a:r>
          </a:p>
          <a:p>
            <a:pPr marL="285750" indent="-285750">
              <a:buFont typeface="Arial" panose="020B0604020202020204" pitchFamily="34" charset="0"/>
              <a:buChar char="•"/>
            </a:pPr>
            <a:r>
              <a:rPr lang="en-US" dirty="0"/>
              <a:t>Right homonymous hemianopia</a:t>
            </a:r>
          </a:p>
          <a:p>
            <a:pPr marL="285750" indent="-285750">
              <a:buFont typeface="Arial" panose="020B0604020202020204" pitchFamily="34" charset="0"/>
              <a:buChar char="•"/>
            </a:pPr>
            <a:r>
              <a:rPr lang="en-US" dirty="0"/>
              <a:t>Right forehead-sparing facial droop</a:t>
            </a:r>
          </a:p>
          <a:p>
            <a:pPr marL="285750" indent="-285750">
              <a:buFont typeface="Arial" panose="020B0604020202020204" pitchFamily="34" charset="0"/>
              <a:buChar char="•"/>
            </a:pPr>
            <a:r>
              <a:rPr lang="en-US" dirty="0"/>
              <a:t>Right pronator drift</a:t>
            </a:r>
          </a:p>
          <a:p>
            <a:pPr marL="285750" indent="-285750">
              <a:buFont typeface="Arial" panose="020B0604020202020204" pitchFamily="34" charset="0"/>
              <a:buChar char="•"/>
            </a:pPr>
            <a:r>
              <a:rPr lang="en-US" dirty="0"/>
              <a:t>Right arm &gt; leg weakness</a:t>
            </a:r>
          </a:p>
          <a:p>
            <a:pPr marL="285750" indent="-285750">
              <a:buFont typeface="Arial" panose="020B0604020202020204" pitchFamily="34" charset="0"/>
              <a:buChar char="•"/>
            </a:pPr>
            <a:r>
              <a:rPr lang="en-US" dirty="0"/>
              <a:t>Right </a:t>
            </a:r>
            <a:r>
              <a:rPr lang="en-US" dirty="0" err="1"/>
              <a:t>hemianaesthesia</a:t>
            </a:r>
            <a:endParaRPr lang="en-US" dirty="0"/>
          </a:p>
          <a:p>
            <a:pPr marL="285750" indent="-285750">
              <a:buFont typeface="Arial" panose="020B0604020202020204" pitchFamily="34" charset="0"/>
              <a:buChar char="•"/>
            </a:pPr>
            <a:r>
              <a:rPr lang="en-US" dirty="0"/>
              <a:t>Right sided reflexes are slightly brisker than the left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NIHSS - 15</a:t>
            </a:r>
          </a:p>
          <a:p>
            <a:endParaRPr lang="en-US" dirty="0"/>
          </a:p>
          <a:p>
            <a:endParaRPr lang="en-US" dirty="0"/>
          </a:p>
        </p:txBody>
      </p:sp>
    </p:spTree>
    <p:extLst>
      <p:ext uri="{BB962C8B-B14F-4D97-AF65-F5344CB8AC3E}">
        <p14:creationId xmlns:p14="http://schemas.microsoft.com/office/powerpoint/2010/main" val="22262882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FA907-4B9F-1647-91BC-6F2CD2E9318C}"/>
              </a:ext>
            </a:extLst>
          </p:cNvPr>
          <p:cNvSpPr>
            <a:spLocks noGrp="1"/>
          </p:cNvSpPr>
          <p:nvPr>
            <p:ph type="title"/>
          </p:nvPr>
        </p:nvSpPr>
        <p:spPr/>
        <p:txBody>
          <a:bodyPr/>
          <a:lstStyle/>
          <a:p>
            <a:r>
              <a:rPr lang="en-US" dirty="0"/>
              <a:t>Case Example</a:t>
            </a:r>
          </a:p>
        </p:txBody>
      </p:sp>
      <p:sp>
        <p:nvSpPr>
          <p:cNvPr id="3" name="Content Placeholder 2">
            <a:extLst>
              <a:ext uri="{FF2B5EF4-FFF2-40B4-BE49-F238E27FC236}">
                <a16:creationId xmlns:a16="http://schemas.microsoft.com/office/drawing/2014/main" id="{061E95E3-8ED2-EF41-AD8A-15CFA4D23651}"/>
              </a:ext>
            </a:extLst>
          </p:cNvPr>
          <p:cNvSpPr>
            <a:spLocks noGrp="1"/>
          </p:cNvSpPr>
          <p:nvPr>
            <p:ph idx="1"/>
          </p:nvPr>
        </p:nvSpPr>
        <p:spPr>
          <a:xfrm>
            <a:off x="448056" y="1735200"/>
            <a:ext cx="6154450" cy="4471871"/>
          </a:xfrm>
        </p:spPr>
        <p:txBody>
          <a:bodyPr>
            <a:normAutofit/>
          </a:bodyPr>
          <a:lstStyle/>
          <a:p>
            <a:r>
              <a:rPr lang="en-US" dirty="0"/>
              <a:t>CT Head shows no acute abnormalities</a:t>
            </a:r>
          </a:p>
          <a:p>
            <a:r>
              <a:rPr lang="en-US" dirty="0"/>
              <a:t>Clear time of onset, no contraindications</a:t>
            </a:r>
          </a:p>
          <a:p>
            <a:r>
              <a:rPr lang="en-US" dirty="0"/>
              <a:t>Push </a:t>
            </a:r>
            <a:r>
              <a:rPr lang="en-US" dirty="0" err="1"/>
              <a:t>tPA</a:t>
            </a:r>
            <a:r>
              <a:rPr lang="en-US" dirty="0"/>
              <a:t>!</a:t>
            </a:r>
          </a:p>
          <a:p>
            <a:r>
              <a:rPr lang="en-US" dirty="0"/>
              <a:t>Hope for green</a:t>
            </a:r>
          </a:p>
          <a:p>
            <a:endParaRPr lang="en-US" dirty="0"/>
          </a:p>
          <a:p>
            <a:r>
              <a:rPr lang="en-US" dirty="0"/>
              <a:t>CT Angio can then be done to eval for LVO and decide on eligibility for clot retrieval</a:t>
            </a:r>
          </a:p>
          <a:p>
            <a:endParaRPr lang="en-US" dirty="0"/>
          </a:p>
        </p:txBody>
      </p:sp>
      <p:pic>
        <p:nvPicPr>
          <p:cNvPr id="4" name="Picture 3" descr="Shape, arrow&#10;&#10;Description automatically generated">
            <a:extLst>
              <a:ext uri="{FF2B5EF4-FFF2-40B4-BE49-F238E27FC236}">
                <a16:creationId xmlns:a16="http://schemas.microsoft.com/office/drawing/2014/main" id="{4C1175D9-0DB5-2546-8227-969A551D6BB1}"/>
              </a:ext>
            </a:extLst>
          </p:cNvPr>
          <p:cNvPicPr>
            <a:picLocks noChangeAspect="1"/>
          </p:cNvPicPr>
          <p:nvPr/>
        </p:nvPicPr>
        <p:blipFill>
          <a:blip r:embed="rId3"/>
          <a:stretch>
            <a:fillRect/>
          </a:stretch>
        </p:blipFill>
        <p:spPr>
          <a:xfrm>
            <a:off x="6955563" y="450000"/>
            <a:ext cx="4144770" cy="5508000"/>
          </a:xfrm>
          <a:prstGeom prst="rect">
            <a:avLst/>
          </a:prstGeom>
        </p:spPr>
      </p:pic>
    </p:spTree>
    <p:extLst>
      <p:ext uri="{BB962C8B-B14F-4D97-AF65-F5344CB8AC3E}">
        <p14:creationId xmlns:p14="http://schemas.microsoft.com/office/powerpoint/2010/main" val="29008224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22E41-B5AA-8547-84CE-9D06FBA79525}"/>
              </a:ext>
            </a:extLst>
          </p:cNvPr>
          <p:cNvSpPr>
            <a:spLocks noGrp="1"/>
          </p:cNvSpPr>
          <p:nvPr>
            <p:ph type="title"/>
          </p:nvPr>
        </p:nvSpPr>
        <p:spPr/>
        <p:txBody>
          <a:bodyPr/>
          <a:lstStyle/>
          <a:p>
            <a:r>
              <a:rPr lang="en-US" dirty="0"/>
              <a:t>Hemorrhagic Stroke</a:t>
            </a:r>
          </a:p>
        </p:txBody>
      </p:sp>
      <p:sp>
        <p:nvSpPr>
          <p:cNvPr id="3" name="Text Placeholder 2">
            <a:extLst>
              <a:ext uri="{FF2B5EF4-FFF2-40B4-BE49-F238E27FC236}">
                <a16:creationId xmlns:a16="http://schemas.microsoft.com/office/drawing/2014/main" id="{993E1247-F6FE-304C-88EB-563B5DF47362}"/>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800643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6" name="Rectangle 21">
            <a:extLst>
              <a:ext uri="{FF2B5EF4-FFF2-40B4-BE49-F238E27FC236}">
                <a16:creationId xmlns:a16="http://schemas.microsoft.com/office/drawing/2014/main" id="{2D6BCA94-FEDC-4F9B-820A-BA138802E2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EAD087-CC52-004F-9BD5-3B8867EBBECC}"/>
              </a:ext>
            </a:extLst>
          </p:cNvPr>
          <p:cNvSpPr>
            <a:spLocks noGrp="1"/>
          </p:cNvSpPr>
          <p:nvPr>
            <p:ph type="title"/>
          </p:nvPr>
        </p:nvSpPr>
        <p:spPr>
          <a:xfrm>
            <a:off x="448056" y="388800"/>
            <a:ext cx="11300532" cy="986400"/>
          </a:xfrm>
        </p:spPr>
        <p:txBody>
          <a:bodyPr anchor="b">
            <a:normAutofit/>
          </a:bodyPr>
          <a:lstStyle/>
          <a:p>
            <a:r>
              <a:rPr lang="en-US" sz="6400" dirty="0"/>
              <a:t>Intracerebral Hemorrhage (ICH)</a:t>
            </a:r>
          </a:p>
        </p:txBody>
      </p:sp>
      <p:cxnSp>
        <p:nvCxnSpPr>
          <p:cNvPr id="27" name="Straight Connector 23">
            <a:extLst>
              <a:ext uri="{FF2B5EF4-FFF2-40B4-BE49-F238E27FC236}">
                <a16:creationId xmlns:a16="http://schemas.microsoft.com/office/drawing/2014/main" id="{B32E796E-8D19-4926-B7B8-653B019390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0000" y="1609200"/>
            <a:ext cx="113004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5" name="Picture 4" descr="A close-up of the front and the back of a coin&#10;&#10;Description automatically generated">
            <a:extLst>
              <a:ext uri="{FF2B5EF4-FFF2-40B4-BE49-F238E27FC236}">
                <a16:creationId xmlns:a16="http://schemas.microsoft.com/office/drawing/2014/main" id="{1C62F5B9-B6B4-4A44-811A-04355327F52A}"/>
              </a:ext>
            </a:extLst>
          </p:cNvPr>
          <p:cNvPicPr>
            <a:picLocks noChangeAspect="1"/>
          </p:cNvPicPr>
          <p:nvPr/>
        </p:nvPicPr>
        <p:blipFill>
          <a:blip r:embed="rId2"/>
          <a:stretch>
            <a:fillRect/>
          </a:stretch>
        </p:blipFill>
        <p:spPr>
          <a:xfrm>
            <a:off x="638037" y="2059200"/>
            <a:ext cx="5054025" cy="3891600"/>
          </a:xfrm>
          <a:prstGeom prst="rect">
            <a:avLst/>
          </a:prstGeom>
        </p:spPr>
      </p:pic>
      <p:sp>
        <p:nvSpPr>
          <p:cNvPr id="3" name="Content Placeholder 2">
            <a:extLst>
              <a:ext uri="{FF2B5EF4-FFF2-40B4-BE49-F238E27FC236}">
                <a16:creationId xmlns:a16="http://schemas.microsoft.com/office/drawing/2014/main" id="{32E657E9-53F6-BF4F-A36C-2E441D09F96F}"/>
              </a:ext>
            </a:extLst>
          </p:cNvPr>
          <p:cNvSpPr>
            <a:spLocks noGrp="1"/>
          </p:cNvSpPr>
          <p:nvPr>
            <p:ph idx="1"/>
          </p:nvPr>
        </p:nvSpPr>
        <p:spPr>
          <a:xfrm>
            <a:off x="5990492" y="1908831"/>
            <a:ext cx="5756308" cy="4006800"/>
          </a:xfrm>
        </p:spPr>
        <p:txBody>
          <a:bodyPr>
            <a:noAutofit/>
          </a:bodyPr>
          <a:lstStyle/>
          <a:p>
            <a:pPr>
              <a:lnSpc>
                <a:spcPct val="110000"/>
              </a:lnSpc>
            </a:pPr>
            <a:r>
              <a:rPr lang="en-US" sz="2000" dirty="0"/>
              <a:t>Usually presents with </a:t>
            </a:r>
            <a:r>
              <a:rPr lang="en-US" sz="2000" b="1" dirty="0"/>
              <a:t>acute neurological deficits </a:t>
            </a:r>
            <a:r>
              <a:rPr lang="en-US" sz="2000" dirty="0"/>
              <a:t>and  progressive clinical decline due to hematoma expansion, cerebral edema, and medical complications</a:t>
            </a:r>
          </a:p>
          <a:p>
            <a:pPr>
              <a:lnSpc>
                <a:spcPct val="110000"/>
              </a:lnSpc>
            </a:pPr>
            <a:r>
              <a:rPr lang="en-US" sz="2000" dirty="0"/>
              <a:t>Close monitoring, prompt intervention focused on BP control, reversal of coagulopathy, and supportive care to minimize secondary injury are essential </a:t>
            </a:r>
          </a:p>
          <a:p>
            <a:pPr>
              <a:lnSpc>
                <a:spcPct val="110000"/>
              </a:lnSpc>
            </a:pPr>
            <a:r>
              <a:rPr lang="en-US" sz="2000" dirty="0"/>
              <a:t>Differential diagnosis: ischemic stroke, TIA, SAH, subdural hematoma, meningitis, encephalitis, brain neoplasm, hypertensive emergency, migraine, acute hypoglycemia, hyper/hyponatremia</a:t>
            </a:r>
          </a:p>
        </p:txBody>
      </p:sp>
    </p:spTree>
    <p:extLst>
      <p:ext uri="{BB962C8B-B14F-4D97-AF65-F5344CB8AC3E}">
        <p14:creationId xmlns:p14="http://schemas.microsoft.com/office/powerpoint/2010/main" val="24297929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4925016-C67B-4188-B5DB-5C9F831A39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2EC2D38-DE49-BE4C-9996-D667312512AE}"/>
              </a:ext>
            </a:extLst>
          </p:cNvPr>
          <p:cNvSpPr>
            <a:spLocks noGrp="1"/>
          </p:cNvSpPr>
          <p:nvPr>
            <p:ph type="title"/>
          </p:nvPr>
        </p:nvSpPr>
        <p:spPr>
          <a:xfrm>
            <a:off x="448056" y="393192"/>
            <a:ext cx="11301984" cy="859536"/>
          </a:xfrm>
        </p:spPr>
        <p:txBody>
          <a:bodyPr anchor="b">
            <a:normAutofit/>
          </a:bodyPr>
          <a:lstStyle/>
          <a:p>
            <a:r>
              <a:rPr lang="en-US" dirty="0"/>
              <a:t>ICH pathophysiology</a:t>
            </a:r>
          </a:p>
        </p:txBody>
      </p:sp>
      <p:cxnSp>
        <p:nvCxnSpPr>
          <p:cNvPr id="10" name="Straight Connector 9">
            <a:extLst>
              <a:ext uri="{FF2B5EF4-FFF2-40B4-BE49-F238E27FC236}">
                <a16:creationId xmlns:a16="http://schemas.microsoft.com/office/drawing/2014/main" id="{6C52BBAB-664F-48C3-A5C1-4CE9D3555D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9400" y="16092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C7EF4EA-76F2-D941-A73F-A7F5DCCE4CBB}"/>
              </a:ext>
            </a:extLst>
          </p:cNvPr>
          <p:cNvSpPr>
            <a:spLocks noGrp="1"/>
          </p:cNvSpPr>
          <p:nvPr>
            <p:ph idx="1"/>
          </p:nvPr>
        </p:nvSpPr>
        <p:spPr>
          <a:xfrm>
            <a:off x="456840" y="1947671"/>
            <a:ext cx="8499591" cy="4517135"/>
          </a:xfrm>
        </p:spPr>
        <p:txBody>
          <a:bodyPr>
            <a:normAutofit lnSpcReduction="10000"/>
          </a:bodyPr>
          <a:lstStyle/>
          <a:p>
            <a:r>
              <a:rPr lang="en-US" dirty="0"/>
              <a:t>2 most common etiologies </a:t>
            </a:r>
          </a:p>
          <a:p>
            <a:pPr lvl="1"/>
            <a:r>
              <a:rPr lang="en-US" b="1" u="sng" dirty="0"/>
              <a:t>Chronic arterial hypertension</a:t>
            </a:r>
          </a:p>
          <a:p>
            <a:pPr lvl="2"/>
            <a:r>
              <a:rPr lang="en-US" dirty="0"/>
              <a:t>Leads to </a:t>
            </a:r>
            <a:r>
              <a:rPr lang="en-US" dirty="0" err="1"/>
              <a:t>lipohyalinosis</a:t>
            </a:r>
            <a:r>
              <a:rPr lang="en-US" dirty="0"/>
              <a:t> of lenticulostriate arteries, small thalamic arteries, and pontine perforators</a:t>
            </a:r>
          </a:p>
          <a:p>
            <a:pPr lvl="2"/>
            <a:r>
              <a:rPr lang="en-US" dirty="0"/>
              <a:t>ICH occurs in </a:t>
            </a:r>
            <a:r>
              <a:rPr lang="en-US" b="1" dirty="0">
                <a:solidFill>
                  <a:schemeClr val="accent5">
                    <a:alpha val="55000"/>
                  </a:schemeClr>
                </a:solidFill>
              </a:rPr>
              <a:t>deep grey matter (basal ganglia, thalamus), pons, and cerebellum</a:t>
            </a:r>
          </a:p>
          <a:p>
            <a:pPr lvl="1"/>
            <a:r>
              <a:rPr lang="en-US" b="1" u="sng" dirty="0"/>
              <a:t>Cerebral amyloid angiopathy </a:t>
            </a:r>
          </a:p>
          <a:p>
            <a:pPr lvl="2"/>
            <a:r>
              <a:rPr lang="en-US" dirty="0"/>
              <a:t>Causes deposition of beta-amyloid in walls of small to medium sized leptomeningeal and cortical vessels</a:t>
            </a:r>
          </a:p>
          <a:p>
            <a:pPr lvl="2"/>
            <a:r>
              <a:rPr lang="en-US" dirty="0"/>
              <a:t>Elderly (&gt;65 </a:t>
            </a:r>
            <a:r>
              <a:rPr lang="en-US" dirty="0" err="1"/>
              <a:t>yo</a:t>
            </a:r>
            <a:r>
              <a:rPr lang="en-US" dirty="0"/>
              <a:t>)</a:t>
            </a:r>
          </a:p>
          <a:p>
            <a:pPr lvl="2"/>
            <a:r>
              <a:rPr lang="en-US" dirty="0"/>
              <a:t>Leads to </a:t>
            </a:r>
            <a:r>
              <a:rPr lang="en-US" b="1" dirty="0">
                <a:solidFill>
                  <a:schemeClr val="accent5">
                    <a:alpha val="55000"/>
                  </a:schemeClr>
                </a:solidFill>
              </a:rPr>
              <a:t>cortical-subcortical (lobar) hemorrhages </a:t>
            </a:r>
          </a:p>
        </p:txBody>
      </p:sp>
    </p:spTree>
    <p:extLst>
      <p:ext uri="{BB962C8B-B14F-4D97-AF65-F5344CB8AC3E}">
        <p14:creationId xmlns:p14="http://schemas.microsoft.com/office/powerpoint/2010/main" val="30756077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4925016-C67B-4188-B5DB-5C9F831A39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86F3469-F393-074E-8557-05EC746064E4}"/>
              </a:ext>
            </a:extLst>
          </p:cNvPr>
          <p:cNvSpPr>
            <a:spLocks noGrp="1"/>
          </p:cNvSpPr>
          <p:nvPr>
            <p:ph type="title"/>
          </p:nvPr>
        </p:nvSpPr>
        <p:spPr>
          <a:xfrm>
            <a:off x="448056" y="393192"/>
            <a:ext cx="11301984" cy="859536"/>
          </a:xfrm>
        </p:spPr>
        <p:txBody>
          <a:bodyPr anchor="b">
            <a:normAutofit/>
          </a:bodyPr>
          <a:lstStyle/>
          <a:p>
            <a:r>
              <a:rPr lang="en-US" dirty="0"/>
              <a:t>Clinical presentation </a:t>
            </a:r>
          </a:p>
        </p:txBody>
      </p:sp>
      <p:cxnSp>
        <p:nvCxnSpPr>
          <p:cNvPr id="10" name="Straight Connector 9">
            <a:extLst>
              <a:ext uri="{FF2B5EF4-FFF2-40B4-BE49-F238E27FC236}">
                <a16:creationId xmlns:a16="http://schemas.microsoft.com/office/drawing/2014/main" id="{6C52BBAB-664F-48C3-A5C1-4CE9D3555D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9400" y="16092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8D88BE0-F4E1-0C43-985F-A0AC4E54D92B}"/>
              </a:ext>
            </a:extLst>
          </p:cNvPr>
          <p:cNvSpPr>
            <a:spLocks noGrp="1"/>
          </p:cNvSpPr>
          <p:nvPr>
            <p:ph idx="1"/>
          </p:nvPr>
        </p:nvSpPr>
        <p:spPr>
          <a:xfrm>
            <a:off x="448056" y="1947671"/>
            <a:ext cx="11301984" cy="4517121"/>
          </a:xfrm>
        </p:spPr>
        <p:txBody>
          <a:bodyPr>
            <a:normAutofit/>
          </a:bodyPr>
          <a:lstStyle/>
          <a:p>
            <a:r>
              <a:rPr lang="en-US" b="1" dirty="0">
                <a:solidFill>
                  <a:schemeClr val="accent6">
                    <a:alpha val="55000"/>
                  </a:schemeClr>
                </a:solidFill>
              </a:rPr>
              <a:t>Focal neurological deficit depending on location</a:t>
            </a:r>
          </a:p>
          <a:p>
            <a:r>
              <a:rPr lang="en-US" dirty="0"/>
              <a:t>Depressed level of consciousness </a:t>
            </a:r>
          </a:p>
          <a:p>
            <a:r>
              <a:rPr lang="en-US" dirty="0"/>
              <a:t>Headache</a:t>
            </a:r>
          </a:p>
          <a:p>
            <a:r>
              <a:rPr lang="en-US" dirty="0"/>
              <a:t>Nausea/vomiting (elevated ICP, cerebellar location, hydrocephalus)</a:t>
            </a:r>
          </a:p>
          <a:p>
            <a:r>
              <a:rPr lang="en-US" dirty="0"/>
              <a:t>Severe </a:t>
            </a:r>
            <a:r>
              <a:rPr lang="en-US" b="1" dirty="0">
                <a:solidFill>
                  <a:schemeClr val="accent5">
                    <a:alpha val="55000"/>
                  </a:schemeClr>
                </a:solidFill>
              </a:rPr>
              <a:t>hypertension</a:t>
            </a:r>
            <a:r>
              <a:rPr lang="en-US" dirty="0"/>
              <a:t> common</a:t>
            </a:r>
          </a:p>
          <a:p>
            <a:r>
              <a:rPr lang="en-US" b="1" dirty="0">
                <a:solidFill>
                  <a:schemeClr val="accent5">
                    <a:alpha val="55000"/>
                  </a:schemeClr>
                </a:solidFill>
              </a:rPr>
              <a:t>Seizures</a:t>
            </a:r>
            <a:r>
              <a:rPr lang="en-US" dirty="0">
                <a:solidFill>
                  <a:schemeClr val="accent5">
                    <a:alpha val="55000"/>
                  </a:schemeClr>
                </a:solidFill>
              </a:rPr>
              <a:t> </a:t>
            </a:r>
            <a:r>
              <a:rPr lang="en-US" dirty="0"/>
              <a:t>associated with cortical involvement </a:t>
            </a:r>
          </a:p>
          <a:p>
            <a:r>
              <a:rPr lang="en-US" b="1" dirty="0">
                <a:solidFill>
                  <a:schemeClr val="accent5">
                    <a:alpha val="55000"/>
                  </a:schemeClr>
                </a:solidFill>
              </a:rPr>
              <a:t>Progressive clinical deterioration </a:t>
            </a:r>
            <a:r>
              <a:rPr lang="en-US" dirty="0"/>
              <a:t>in the acute phase due to ongoing hematoma expansion (in 1/3 of patients within first 3 hours) – things get bad FAST</a:t>
            </a:r>
          </a:p>
          <a:p>
            <a:endParaRPr lang="en-US" dirty="0"/>
          </a:p>
        </p:txBody>
      </p:sp>
    </p:spTree>
    <p:extLst>
      <p:ext uri="{BB962C8B-B14F-4D97-AF65-F5344CB8AC3E}">
        <p14:creationId xmlns:p14="http://schemas.microsoft.com/office/powerpoint/2010/main" val="14585008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4925016-C67B-4188-B5DB-5C9F831A39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CDB1CAB-1EA4-1941-B666-70D3BAB6EC82}"/>
              </a:ext>
            </a:extLst>
          </p:cNvPr>
          <p:cNvSpPr>
            <a:spLocks noGrp="1"/>
          </p:cNvSpPr>
          <p:nvPr>
            <p:ph type="title"/>
          </p:nvPr>
        </p:nvSpPr>
        <p:spPr>
          <a:xfrm>
            <a:off x="448056" y="393192"/>
            <a:ext cx="11301984" cy="859536"/>
          </a:xfrm>
        </p:spPr>
        <p:txBody>
          <a:bodyPr anchor="b">
            <a:normAutofit/>
          </a:bodyPr>
          <a:lstStyle/>
          <a:p>
            <a:r>
              <a:rPr lang="en-US" dirty="0"/>
              <a:t>Risk factors/triggers</a:t>
            </a:r>
          </a:p>
        </p:txBody>
      </p:sp>
      <p:cxnSp>
        <p:nvCxnSpPr>
          <p:cNvPr id="17" name="Straight Connector 16">
            <a:extLst>
              <a:ext uri="{FF2B5EF4-FFF2-40B4-BE49-F238E27FC236}">
                <a16:creationId xmlns:a16="http://schemas.microsoft.com/office/drawing/2014/main" id="{6C52BBAB-664F-48C3-A5C1-4CE9D3555D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9400" y="16092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62B57E5-9DAE-7A42-9D9D-0F0ED5929D76}"/>
              </a:ext>
            </a:extLst>
          </p:cNvPr>
          <p:cNvSpPr>
            <a:spLocks noGrp="1"/>
          </p:cNvSpPr>
          <p:nvPr>
            <p:ph idx="1"/>
          </p:nvPr>
        </p:nvSpPr>
        <p:spPr>
          <a:xfrm>
            <a:off x="448056" y="1947671"/>
            <a:ext cx="11301984" cy="4617223"/>
          </a:xfrm>
        </p:spPr>
        <p:txBody>
          <a:bodyPr>
            <a:normAutofit fontScale="85000" lnSpcReduction="20000"/>
          </a:bodyPr>
          <a:lstStyle/>
          <a:p>
            <a:pPr>
              <a:buFont typeface="Wingdings" pitchFamily="2" charset="2"/>
              <a:buChar char="Ø"/>
            </a:pPr>
            <a:r>
              <a:rPr lang="en-US" dirty="0"/>
              <a:t>Most common trigger: noncompliance with antihypertensive medication and chronic hypertension </a:t>
            </a:r>
          </a:p>
          <a:p>
            <a:pPr>
              <a:buFont typeface="Wingdings" pitchFamily="2" charset="2"/>
              <a:buChar char="Ø"/>
            </a:pPr>
            <a:r>
              <a:rPr lang="en-US" dirty="0"/>
              <a:t>Physical activities that raise BP</a:t>
            </a:r>
          </a:p>
          <a:p>
            <a:pPr>
              <a:buFont typeface="Wingdings" pitchFamily="2" charset="2"/>
              <a:buChar char="Ø"/>
            </a:pPr>
            <a:r>
              <a:rPr lang="en-US" dirty="0"/>
              <a:t>Supratherapeutic INR</a:t>
            </a:r>
          </a:p>
          <a:p>
            <a:pPr>
              <a:buFont typeface="Wingdings" pitchFamily="2" charset="2"/>
              <a:buChar char="Ø"/>
            </a:pPr>
            <a:r>
              <a:rPr lang="en-US" dirty="0"/>
              <a:t>Sympathomimetic drug use (cocaine, amphetamines)</a:t>
            </a:r>
          </a:p>
          <a:p>
            <a:pPr>
              <a:buFont typeface="Wingdings" pitchFamily="2" charset="2"/>
              <a:buChar char="Ø"/>
            </a:pPr>
            <a:r>
              <a:rPr lang="en-US" dirty="0"/>
              <a:t>Trauma</a:t>
            </a:r>
          </a:p>
          <a:p>
            <a:pPr>
              <a:buFont typeface="Wingdings" pitchFamily="2" charset="2"/>
              <a:buChar char="Ø"/>
            </a:pPr>
            <a:r>
              <a:rPr lang="en-US" dirty="0"/>
              <a:t>Prior stroke</a:t>
            </a:r>
          </a:p>
          <a:p>
            <a:pPr>
              <a:buFont typeface="Wingdings" pitchFamily="2" charset="2"/>
              <a:buChar char="Ø"/>
            </a:pPr>
            <a:r>
              <a:rPr lang="en-US" dirty="0"/>
              <a:t>Male gender</a:t>
            </a:r>
          </a:p>
          <a:p>
            <a:pPr>
              <a:buFont typeface="Wingdings" pitchFamily="2" charset="2"/>
              <a:buChar char="Ø"/>
            </a:pPr>
            <a:r>
              <a:rPr lang="en-US" dirty="0"/>
              <a:t>Age &gt;55</a:t>
            </a:r>
          </a:p>
          <a:p>
            <a:pPr>
              <a:buFont typeface="Wingdings" pitchFamily="2" charset="2"/>
              <a:buChar char="Ø"/>
            </a:pPr>
            <a:r>
              <a:rPr lang="en-US" dirty="0"/>
              <a:t>Heavy alcohol consumption</a:t>
            </a:r>
          </a:p>
          <a:p>
            <a:pPr>
              <a:buFont typeface="Wingdings" pitchFamily="2" charset="2"/>
              <a:buChar char="Ø"/>
            </a:pPr>
            <a:r>
              <a:rPr lang="en-US" dirty="0"/>
              <a:t>Liver dysfunction</a:t>
            </a:r>
          </a:p>
          <a:p>
            <a:pPr>
              <a:buFont typeface="Wingdings" pitchFamily="2" charset="2"/>
              <a:buChar char="Ø"/>
            </a:pPr>
            <a:r>
              <a:rPr lang="en-US" dirty="0"/>
              <a:t>Peripartum period </a:t>
            </a:r>
          </a:p>
        </p:txBody>
      </p:sp>
    </p:spTree>
    <p:extLst>
      <p:ext uri="{BB962C8B-B14F-4D97-AF65-F5344CB8AC3E}">
        <p14:creationId xmlns:p14="http://schemas.microsoft.com/office/powerpoint/2010/main" val="34261724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DE99AC95-9FC1-42BD-A490-2EDBABE7C2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861283-7168-EB4D-97E3-028897D924C3}"/>
              </a:ext>
            </a:extLst>
          </p:cNvPr>
          <p:cNvSpPr>
            <a:spLocks noGrp="1"/>
          </p:cNvSpPr>
          <p:nvPr>
            <p:ph type="title"/>
          </p:nvPr>
        </p:nvSpPr>
        <p:spPr>
          <a:xfrm>
            <a:off x="448056" y="388800"/>
            <a:ext cx="7380000" cy="860400"/>
          </a:xfrm>
        </p:spPr>
        <p:txBody>
          <a:bodyPr anchor="b">
            <a:normAutofit/>
          </a:bodyPr>
          <a:lstStyle/>
          <a:p>
            <a:r>
              <a:rPr lang="en-US" dirty="0"/>
              <a:t>Work up </a:t>
            </a:r>
          </a:p>
        </p:txBody>
      </p:sp>
      <p:cxnSp>
        <p:nvCxnSpPr>
          <p:cNvPr id="24" name="Straight Connector 23">
            <a:extLst>
              <a:ext uri="{FF2B5EF4-FFF2-40B4-BE49-F238E27FC236}">
                <a16:creationId xmlns:a16="http://schemas.microsoft.com/office/drawing/2014/main" id="{B32E796E-8D19-4926-B7B8-653B019390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0000" y="1609200"/>
            <a:ext cx="73836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D93A1F9-8981-8147-AB7D-75308D6575DD}"/>
              </a:ext>
            </a:extLst>
          </p:cNvPr>
          <p:cNvSpPr>
            <a:spLocks noGrp="1"/>
          </p:cNvSpPr>
          <p:nvPr>
            <p:ph idx="1"/>
          </p:nvPr>
        </p:nvSpPr>
        <p:spPr>
          <a:xfrm>
            <a:off x="314457" y="2189822"/>
            <a:ext cx="11429486" cy="3981599"/>
          </a:xfrm>
        </p:spPr>
        <p:txBody>
          <a:bodyPr>
            <a:normAutofit/>
          </a:bodyPr>
          <a:lstStyle/>
          <a:p>
            <a:pPr>
              <a:lnSpc>
                <a:spcPct val="110000"/>
              </a:lnSpc>
            </a:pPr>
            <a:r>
              <a:rPr lang="en-US" sz="2000" b="1" dirty="0">
                <a:solidFill>
                  <a:schemeClr val="accent5">
                    <a:alpha val="55000"/>
                  </a:schemeClr>
                </a:solidFill>
              </a:rPr>
              <a:t>Neurological emergency </a:t>
            </a:r>
            <a:r>
              <a:rPr lang="en-US" sz="2000" dirty="0"/>
              <a:t>– any level of suspicion should lead to                                                      expedited assessment </a:t>
            </a:r>
          </a:p>
          <a:p>
            <a:pPr>
              <a:lnSpc>
                <a:spcPct val="110000"/>
              </a:lnSpc>
            </a:pPr>
            <a:r>
              <a:rPr lang="en-US" sz="2000" dirty="0"/>
              <a:t>Obtain </a:t>
            </a:r>
            <a:r>
              <a:rPr lang="en-US" sz="2000" u="sng" dirty="0"/>
              <a:t>brief medical history </a:t>
            </a:r>
            <a:r>
              <a:rPr lang="en-US" sz="2000" dirty="0"/>
              <a:t>from patient or bystander on time of onset, vascular risk factors, history of </a:t>
            </a:r>
            <a:r>
              <a:rPr lang="en-US" sz="2000" dirty="0" err="1"/>
              <a:t>htn</a:t>
            </a:r>
            <a:r>
              <a:rPr lang="en-US" sz="2000" dirty="0"/>
              <a:t>, medications, illicit drug use, recent head trauma, history of prior stroke, and baseline cognitive status</a:t>
            </a:r>
          </a:p>
          <a:p>
            <a:pPr>
              <a:lnSpc>
                <a:spcPct val="110000"/>
              </a:lnSpc>
            </a:pPr>
            <a:r>
              <a:rPr lang="en-US" sz="2000" u="sng" dirty="0"/>
              <a:t>Labs: </a:t>
            </a:r>
            <a:r>
              <a:rPr lang="en-US" sz="2000" dirty="0"/>
              <a:t>urine drug screen, chemistry, </a:t>
            </a:r>
            <a:r>
              <a:rPr lang="en-US" sz="2000" dirty="0" err="1"/>
              <a:t>cbc</a:t>
            </a:r>
            <a:r>
              <a:rPr lang="en-US" sz="2000" dirty="0"/>
              <a:t>, </a:t>
            </a:r>
            <a:r>
              <a:rPr lang="en-US" sz="2000" dirty="0" err="1"/>
              <a:t>pt</a:t>
            </a:r>
            <a:r>
              <a:rPr lang="en-US" sz="2000" dirty="0"/>
              <a:t>/</a:t>
            </a:r>
            <a:r>
              <a:rPr lang="en-US" sz="2000" dirty="0" err="1"/>
              <a:t>ptt</a:t>
            </a:r>
            <a:r>
              <a:rPr lang="en-US" sz="2000" dirty="0"/>
              <a:t>, anti-</a:t>
            </a:r>
            <a:r>
              <a:rPr lang="en-US" sz="2000" dirty="0" err="1"/>
              <a:t>Xa</a:t>
            </a:r>
            <a:r>
              <a:rPr lang="en-US" sz="2000" dirty="0"/>
              <a:t> level</a:t>
            </a:r>
          </a:p>
          <a:p>
            <a:pPr>
              <a:lnSpc>
                <a:spcPct val="110000"/>
              </a:lnSpc>
            </a:pPr>
            <a:r>
              <a:rPr lang="en-US" sz="2000" u="sng" dirty="0"/>
              <a:t>Imaging: </a:t>
            </a:r>
            <a:r>
              <a:rPr lang="en-US" sz="2000" b="1" dirty="0">
                <a:solidFill>
                  <a:schemeClr val="accent5">
                    <a:alpha val="55000"/>
                  </a:schemeClr>
                </a:solidFill>
              </a:rPr>
              <a:t>non contrast head CT </a:t>
            </a:r>
            <a:r>
              <a:rPr lang="en-US" sz="2000" dirty="0"/>
              <a:t>(sensitivity/specificity near 100% in 1</a:t>
            </a:r>
            <a:r>
              <a:rPr lang="en-US" sz="2000" baseline="30000" dirty="0"/>
              <a:t>st</a:t>
            </a:r>
            <a:r>
              <a:rPr lang="en-US" sz="2000" dirty="0"/>
              <a:t> week)</a:t>
            </a:r>
          </a:p>
          <a:p>
            <a:pPr lvl="1">
              <a:lnSpc>
                <a:spcPct val="110000"/>
              </a:lnSpc>
            </a:pPr>
            <a:r>
              <a:rPr lang="en-US" sz="2000" dirty="0"/>
              <a:t>Adding contrast (CTA) may permit visualization of </a:t>
            </a:r>
            <a:r>
              <a:rPr lang="en-US" sz="2000" b="1" dirty="0"/>
              <a:t>‘spot sign’ </a:t>
            </a:r>
            <a:r>
              <a:rPr lang="en-US" sz="2000" dirty="0"/>
              <a:t>representing active extravasation into hematoma – associated with expansion and increased mortality, and may identify underlying vascular anomalies</a:t>
            </a:r>
          </a:p>
        </p:txBody>
      </p:sp>
      <p:pic>
        <p:nvPicPr>
          <p:cNvPr id="5" name="Picture 4" descr="A group of black and white skulls&#10;&#10;Description automatically generated with low confidence">
            <a:extLst>
              <a:ext uri="{FF2B5EF4-FFF2-40B4-BE49-F238E27FC236}">
                <a16:creationId xmlns:a16="http://schemas.microsoft.com/office/drawing/2014/main" id="{462452AF-29A3-1647-8948-4192008F2C6E}"/>
              </a:ext>
            </a:extLst>
          </p:cNvPr>
          <p:cNvPicPr>
            <a:picLocks noChangeAspect="1"/>
          </p:cNvPicPr>
          <p:nvPr/>
        </p:nvPicPr>
        <p:blipFill>
          <a:blip r:embed="rId2"/>
          <a:stretch>
            <a:fillRect/>
          </a:stretch>
        </p:blipFill>
        <p:spPr>
          <a:xfrm>
            <a:off x="7828057" y="190930"/>
            <a:ext cx="4049486" cy="2571422"/>
          </a:xfrm>
          <a:prstGeom prst="rect">
            <a:avLst/>
          </a:prstGeom>
        </p:spPr>
      </p:pic>
    </p:spTree>
    <p:extLst>
      <p:ext uri="{BB962C8B-B14F-4D97-AF65-F5344CB8AC3E}">
        <p14:creationId xmlns:p14="http://schemas.microsoft.com/office/powerpoint/2010/main" val="41984700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4925016-C67B-4188-B5DB-5C9F831A39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4A8709C-0D27-DA4E-AE93-D1C5AE9C5B83}"/>
              </a:ext>
            </a:extLst>
          </p:cNvPr>
          <p:cNvSpPr>
            <a:spLocks noGrp="1"/>
          </p:cNvSpPr>
          <p:nvPr>
            <p:ph type="title"/>
          </p:nvPr>
        </p:nvSpPr>
        <p:spPr>
          <a:xfrm>
            <a:off x="448056" y="393192"/>
            <a:ext cx="11301984" cy="859536"/>
          </a:xfrm>
        </p:spPr>
        <p:txBody>
          <a:bodyPr anchor="b">
            <a:normAutofit/>
          </a:bodyPr>
          <a:lstStyle/>
          <a:p>
            <a:r>
              <a:rPr lang="en-US" dirty="0"/>
              <a:t>Treatment/management principles</a:t>
            </a:r>
          </a:p>
        </p:txBody>
      </p:sp>
      <p:cxnSp>
        <p:nvCxnSpPr>
          <p:cNvPr id="10" name="Straight Connector 9">
            <a:extLst>
              <a:ext uri="{FF2B5EF4-FFF2-40B4-BE49-F238E27FC236}">
                <a16:creationId xmlns:a16="http://schemas.microsoft.com/office/drawing/2014/main" id="{6C52BBAB-664F-48C3-A5C1-4CE9D3555D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9400" y="16092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384E794-0D20-8E48-9B56-2A5DE94356E0}"/>
              </a:ext>
            </a:extLst>
          </p:cNvPr>
          <p:cNvSpPr>
            <a:spLocks noGrp="1"/>
          </p:cNvSpPr>
          <p:nvPr>
            <p:ph idx="1"/>
          </p:nvPr>
        </p:nvSpPr>
        <p:spPr>
          <a:xfrm>
            <a:off x="448056" y="1947671"/>
            <a:ext cx="11301984" cy="4406227"/>
          </a:xfrm>
        </p:spPr>
        <p:txBody>
          <a:bodyPr>
            <a:normAutofit/>
          </a:bodyPr>
          <a:lstStyle/>
          <a:p>
            <a:pPr>
              <a:lnSpc>
                <a:spcPct val="110000"/>
              </a:lnSpc>
            </a:pPr>
            <a:r>
              <a:rPr lang="en-US" dirty="0"/>
              <a:t>ICU admission: risk of early deterioration and cardiorespiratory compromise</a:t>
            </a:r>
          </a:p>
          <a:p>
            <a:pPr>
              <a:lnSpc>
                <a:spcPct val="110000"/>
              </a:lnSpc>
            </a:pPr>
            <a:r>
              <a:rPr lang="en-US" u="sng" dirty="0"/>
              <a:t>Blood pressure management</a:t>
            </a:r>
          </a:p>
          <a:p>
            <a:pPr lvl="1">
              <a:lnSpc>
                <a:spcPct val="110000"/>
              </a:lnSpc>
            </a:pPr>
            <a:r>
              <a:rPr lang="en-US" dirty="0"/>
              <a:t>Current AHA guidelines recommend targeting SBP &lt;140mmHg</a:t>
            </a:r>
          </a:p>
          <a:p>
            <a:pPr lvl="1">
              <a:lnSpc>
                <a:spcPct val="110000"/>
              </a:lnSpc>
            </a:pPr>
            <a:r>
              <a:rPr lang="en-US" dirty="0"/>
              <a:t>May require continuous infusion of IV antihypertensives (nicardipine, </a:t>
            </a:r>
            <a:r>
              <a:rPr lang="en-US" dirty="0" err="1"/>
              <a:t>clevidipine</a:t>
            </a:r>
            <a:r>
              <a:rPr lang="en-US" dirty="0"/>
              <a:t>)</a:t>
            </a:r>
          </a:p>
          <a:p>
            <a:pPr>
              <a:lnSpc>
                <a:spcPct val="110000"/>
              </a:lnSpc>
            </a:pPr>
            <a:r>
              <a:rPr lang="en-US" u="sng" dirty="0"/>
              <a:t>Coagulopathy management </a:t>
            </a:r>
          </a:p>
          <a:p>
            <a:pPr lvl="1">
              <a:lnSpc>
                <a:spcPct val="110000"/>
              </a:lnSpc>
            </a:pPr>
            <a:r>
              <a:rPr lang="en-US" dirty="0"/>
              <a:t>Discontinue antiplatelet or anticoagulant medications</a:t>
            </a:r>
          </a:p>
          <a:p>
            <a:pPr lvl="1">
              <a:lnSpc>
                <a:spcPct val="110000"/>
              </a:lnSpc>
            </a:pPr>
            <a:r>
              <a:rPr lang="en-US" b="1" dirty="0"/>
              <a:t>Warfarin reversal: </a:t>
            </a:r>
            <a:r>
              <a:rPr lang="en-US" dirty="0"/>
              <a:t>vitamin K + prothrombin complex concentrate (</a:t>
            </a:r>
            <a:r>
              <a:rPr lang="en-US" dirty="0" err="1"/>
              <a:t>kcentra</a:t>
            </a:r>
            <a:r>
              <a:rPr lang="en-US" dirty="0"/>
              <a:t>) preferred over fresh frozen plasma (FFP)</a:t>
            </a:r>
          </a:p>
          <a:p>
            <a:pPr lvl="1">
              <a:lnSpc>
                <a:spcPct val="110000"/>
              </a:lnSpc>
            </a:pPr>
            <a:r>
              <a:rPr lang="en-US" b="1" dirty="0" err="1"/>
              <a:t>Idarucizumab</a:t>
            </a:r>
            <a:r>
              <a:rPr lang="en-US" b="1" dirty="0"/>
              <a:t> for dabigatran reversal </a:t>
            </a:r>
          </a:p>
          <a:p>
            <a:pPr lvl="1">
              <a:lnSpc>
                <a:spcPct val="110000"/>
              </a:lnSpc>
            </a:pPr>
            <a:r>
              <a:rPr lang="en-US" b="1" dirty="0"/>
              <a:t>Routine platelet transfusion should be avoided in spontaneous ICH</a:t>
            </a:r>
          </a:p>
        </p:txBody>
      </p:sp>
    </p:spTree>
    <p:extLst>
      <p:ext uri="{BB962C8B-B14F-4D97-AF65-F5344CB8AC3E}">
        <p14:creationId xmlns:p14="http://schemas.microsoft.com/office/powerpoint/2010/main" val="205035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4925016-C67B-4188-B5DB-5C9F831A39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D26C395-197F-544B-A2D4-B4D72C473BC3}"/>
              </a:ext>
            </a:extLst>
          </p:cNvPr>
          <p:cNvSpPr>
            <a:spLocks noGrp="1"/>
          </p:cNvSpPr>
          <p:nvPr>
            <p:ph type="title"/>
          </p:nvPr>
        </p:nvSpPr>
        <p:spPr>
          <a:xfrm>
            <a:off x="448056" y="393192"/>
            <a:ext cx="11301984" cy="859536"/>
          </a:xfrm>
        </p:spPr>
        <p:txBody>
          <a:bodyPr anchor="b">
            <a:normAutofit/>
          </a:bodyPr>
          <a:lstStyle/>
          <a:p>
            <a:r>
              <a:rPr lang="en-US" dirty="0"/>
              <a:t>Treatment/management principles </a:t>
            </a:r>
          </a:p>
        </p:txBody>
      </p:sp>
      <p:cxnSp>
        <p:nvCxnSpPr>
          <p:cNvPr id="10" name="Straight Connector 9">
            <a:extLst>
              <a:ext uri="{FF2B5EF4-FFF2-40B4-BE49-F238E27FC236}">
                <a16:creationId xmlns:a16="http://schemas.microsoft.com/office/drawing/2014/main" id="{6C52BBAB-664F-48C3-A5C1-4CE9D3555D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9400" y="16092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E8B3DB9-CB16-5F4C-8C3C-1F2B88D010A0}"/>
              </a:ext>
            </a:extLst>
          </p:cNvPr>
          <p:cNvSpPr>
            <a:spLocks noGrp="1"/>
          </p:cNvSpPr>
          <p:nvPr>
            <p:ph idx="1"/>
          </p:nvPr>
        </p:nvSpPr>
        <p:spPr>
          <a:xfrm>
            <a:off x="448056" y="1947671"/>
            <a:ext cx="11301984" cy="4417953"/>
          </a:xfrm>
        </p:spPr>
        <p:txBody>
          <a:bodyPr>
            <a:normAutofit/>
          </a:bodyPr>
          <a:lstStyle/>
          <a:p>
            <a:pPr>
              <a:lnSpc>
                <a:spcPct val="110000"/>
              </a:lnSpc>
            </a:pPr>
            <a:r>
              <a:rPr lang="en-US" u="sng" dirty="0"/>
              <a:t>Treatment of elevated ICP and hydrocephalus</a:t>
            </a:r>
          </a:p>
          <a:p>
            <a:pPr lvl="1">
              <a:lnSpc>
                <a:spcPct val="110000"/>
              </a:lnSpc>
            </a:pPr>
            <a:r>
              <a:rPr lang="en-US" dirty="0"/>
              <a:t>Hydrocephalus complicates up to 50% of cases</a:t>
            </a:r>
          </a:p>
          <a:p>
            <a:pPr lvl="1">
              <a:lnSpc>
                <a:spcPct val="110000"/>
              </a:lnSpc>
            </a:pPr>
            <a:r>
              <a:rPr lang="en-US" dirty="0"/>
              <a:t>More common in younger patients, with lower GCS, and deep hemorrhages</a:t>
            </a:r>
          </a:p>
          <a:p>
            <a:pPr lvl="1">
              <a:lnSpc>
                <a:spcPct val="110000"/>
              </a:lnSpc>
            </a:pPr>
            <a:r>
              <a:rPr lang="en-US" dirty="0"/>
              <a:t>Consider placement of an ICP monitor if GCS &lt;8, evidence of herniation, extensive interventricular hemorrhage or hydrocephalus</a:t>
            </a:r>
          </a:p>
          <a:p>
            <a:pPr>
              <a:lnSpc>
                <a:spcPct val="110000"/>
              </a:lnSpc>
            </a:pPr>
            <a:r>
              <a:rPr lang="en-US" u="sng" dirty="0"/>
              <a:t>Seizures</a:t>
            </a:r>
          </a:p>
          <a:p>
            <a:pPr lvl="1">
              <a:lnSpc>
                <a:spcPct val="110000"/>
              </a:lnSpc>
            </a:pPr>
            <a:r>
              <a:rPr lang="en-US" dirty="0"/>
              <a:t>No prophylaxis for spontaneous or non traumatic ICH</a:t>
            </a:r>
          </a:p>
          <a:p>
            <a:pPr lvl="1">
              <a:lnSpc>
                <a:spcPct val="110000"/>
              </a:lnSpc>
            </a:pPr>
            <a:r>
              <a:rPr lang="en-US" dirty="0"/>
              <a:t>Treat seizures if they occur</a:t>
            </a:r>
          </a:p>
          <a:p>
            <a:pPr lvl="1">
              <a:lnSpc>
                <a:spcPct val="110000"/>
              </a:lnSpc>
            </a:pPr>
            <a:r>
              <a:rPr lang="en-US" dirty="0"/>
              <a:t>Low threshold for </a:t>
            </a:r>
            <a:r>
              <a:rPr lang="en-US" dirty="0" err="1"/>
              <a:t>cEEG</a:t>
            </a:r>
            <a:r>
              <a:rPr lang="en-US" dirty="0"/>
              <a:t> monitoring in cases of depressed mental status out of proportion to ICH – rule out non convulsive status </a:t>
            </a:r>
            <a:r>
              <a:rPr lang="en-US" dirty="0" err="1"/>
              <a:t>epilecticus</a:t>
            </a:r>
            <a:endParaRPr lang="en-US" dirty="0"/>
          </a:p>
          <a:p>
            <a:pPr lvl="1">
              <a:lnSpc>
                <a:spcPct val="110000"/>
              </a:lnSpc>
            </a:pPr>
            <a:endParaRPr lang="en-US" sz="1700" dirty="0"/>
          </a:p>
          <a:p>
            <a:pPr>
              <a:lnSpc>
                <a:spcPct val="110000"/>
              </a:lnSpc>
            </a:pPr>
            <a:endParaRPr lang="en-US" sz="1700" dirty="0"/>
          </a:p>
        </p:txBody>
      </p:sp>
    </p:spTree>
    <p:extLst>
      <p:ext uri="{BB962C8B-B14F-4D97-AF65-F5344CB8AC3E}">
        <p14:creationId xmlns:p14="http://schemas.microsoft.com/office/powerpoint/2010/main" val="13612388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71D199B-5E15-43A6-BA31-F5CDFDB3A9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19201CB-9560-CB40-BB56-24BD405A7885}"/>
              </a:ext>
            </a:extLst>
          </p:cNvPr>
          <p:cNvSpPr>
            <a:spLocks noGrp="1"/>
          </p:cNvSpPr>
          <p:nvPr>
            <p:ph type="title"/>
          </p:nvPr>
        </p:nvSpPr>
        <p:spPr>
          <a:xfrm>
            <a:off x="448056" y="393192"/>
            <a:ext cx="11301984" cy="859536"/>
          </a:xfrm>
        </p:spPr>
        <p:txBody>
          <a:bodyPr anchor="b">
            <a:normAutofit/>
          </a:bodyPr>
          <a:lstStyle/>
          <a:p>
            <a:r>
              <a:rPr lang="en-US" dirty="0"/>
              <a:t>Treatment/management principles</a:t>
            </a:r>
          </a:p>
        </p:txBody>
      </p:sp>
      <p:cxnSp>
        <p:nvCxnSpPr>
          <p:cNvPr id="10" name="Straight Connector 9">
            <a:extLst>
              <a:ext uri="{FF2B5EF4-FFF2-40B4-BE49-F238E27FC236}">
                <a16:creationId xmlns:a16="http://schemas.microsoft.com/office/drawing/2014/main" id="{6C52BBAB-664F-48C3-A5C1-4CE9D3555D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9400" y="16092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3A1DD46-6718-694E-9D1D-A0DBCA83E786}"/>
              </a:ext>
            </a:extLst>
          </p:cNvPr>
          <p:cNvSpPr>
            <a:spLocks noGrp="1"/>
          </p:cNvSpPr>
          <p:nvPr>
            <p:ph idx="1"/>
          </p:nvPr>
        </p:nvSpPr>
        <p:spPr>
          <a:xfrm>
            <a:off x="448056" y="1947672"/>
            <a:ext cx="7379208" cy="4005072"/>
          </a:xfrm>
        </p:spPr>
        <p:txBody>
          <a:bodyPr>
            <a:normAutofit/>
          </a:bodyPr>
          <a:lstStyle/>
          <a:p>
            <a:pPr>
              <a:lnSpc>
                <a:spcPct val="110000"/>
              </a:lnSpc>
            </a:pPr>
            <a:r>
              <a:rPr lang="en-US" sz="2000" u="sng" dirty="0"/>
              <a:t>Neurosurgical intervention</a:t>
            </a:r>
          </a:p>
          <a:p>
            <a:pPr lvl="1">
              <a:lnSpc>
                <a:spcPct val="110000"/>
              </a:lnSpc>
            </a:pPr>
            <a:r>
              <a:rPr lang="en-US" sz="2000" dirty="0"/>
              <a:t>Current evidence does not show benefit of prophylactic early surgery in the setting of supratentorial ICH</a:t>
            </a:r>
          </a:p>
          <a:p>
            <a:pPr lvl="1">
              <a:lnSpc>
                <a:spcPct val="110000"/>
              </a:lnSpc>
            </a:pPr>
            <a:r>
              <a:rPr lang="en-US" sz="2000" dirty="0"/>
              <a:t>Patients with </a:t>
            </a:r>
            <a:r>
              <a:rPr lang="en-US" sz="2000" b="1" dirty="0">
                <a:solidFill>
                  <a:schemeClr val="accent5">
                    <a:alpha val="55000"/>
                  </a:schemeClr>
                </a:solidFill>
              </a:rPr>
              <a:t>cerebellar hemorrhage &gt;3cm </a:t>
            </a:r>
            <a:r>
              <a:rPr lang="en-US" sz="2000" dirty="0"/>
              <a:t>in diameter or with </a:t>
            </a:r>
            <a:r>
              <a:rPr lang="en-US" sz="2000" b="1" dirty="0">
                <a:solidFill>
                  <a:schemeClr val="accent5">
                    <a:alpha val="55000"/>
                  </a:schemeClr>
                </a:solidFill>
              </a:rPr>
              <a:t>symptomatic mass effect </a:t>
            </a:r>
            <a:r>
              <a:rPr lang="en-US" sz="2000" dirty="0"/>
              <a:t>should have </a:t>
            </a:r>
            <a:r>
              <a:rPr lang="en-US" sz="2000" b="1" u="sng" dirty="0">
                <a:solidFill>
                  <a:schemeClr val="accent5">
                    <a:alpha val="55000"/>
                  </a:schemeClr>
                </a:solidFill>
              </a:rPr>
              <a:t>emergent surgical decompression to prevent herniation</a:t>
            </a:r>
            <a:r>
              <a:rPr lang="en-US" sz="2000" dirty="0">
                <a:solidFill>
                  <a:schemeClr val="accent5">
                    <a:alpha val="55000"/>
                  </a:schemeClr>
                </a:solidFill>
              </a:rPr>
              <a:t>! </a:t>
            </a:r>
          </a:p>
          <a:p>
            <a:pPr>
              <a:lnSpc>
                <a:spcPct val="110000"/>
              </a:lnSpc>
            </a:pPr>
            <a:r>
              <a:rPr lang="en-US" sz="2000" u="sng" dirty="0"/>
              <a:t>Fever Control</a:t>
            </a:r>
            <a:endParaRPr lang="en-US" sz="2000" dirty="0"/>
          </a:p>
          <a:p>
            <a:pPr lvl="1">
              <a:lnSpc>
                <a:spcPct val="110000"/>
              </a:lnSpc>
            </a:pPr>
            <a:r>
              <a:rPr lang="en-US" sz="2000" dirty="0"/>
              <a:t>Fever is common in ICH and associated with worse outcomes</a:t>
            </a:r>
          </a:p>
          <a:p>
            <a:pPr lvl="1">
              <a:lnSpc>
                <a:spcPct val="110000"/>
              </a:lnSpc>
            </a:pPr>
            <a:r>
              <a:rPr lang="en-US" sz="2000" b="1" dirty="0">
                <a:solidFill>
                  <a:schemeClr val="accent5">
                    <a:alpha val="55000"/>
                  </a:schemeClr>
                </a:solidFill>
              </a:rPr>
              <a:t>Treat fevers &gt;38.5C </a:t>
            </a:r>
            <a:r>
              <a:rPr lang="en-US" sz="2000" dirty="0"/>
              <a:t>– acetaminophen, chilled saline infusion, cooling blankets</a:t>
            </a:r>
          </a:p>
        </p:txBody>
      </p:sp>
      <p:sp>
        <p:nvSpPr>
          <p:cNvPr id="4" name="TextBox 3">
            <a:extLst>
              <a:ext uri="{FF2B5EF4-FFF2-40B4-BE49-F238E27FC236}">
                <a16:creationId xmlns:a16="http://schemas.microsoft.com/office/drawing/2014/main" id="{FA2695E1-840F-414E-9C42-4D7637182186}"/>
              </a:ext>
            </a:extLst>
          </p:cNvPr>
          <p:cNvSpPr txBox="1"/>
          <p:nvPr/>
        </p:nvSpPr>
        <p:spPr>
          <a:xfrm>
            <a:off x="8429297" y="2070538"/>
            <a:ext cx="3216165" cy="646331"/>
          </a:xfrm>
          <a:prstGeom prst="rect">
            <a:avLst/>
          </a:prstGeom>
          <a:noFill/>
        </p:spPr>
        <p:txBody>
          <a:bodyPr wrap="square" rtlCol="0">
            <a:spAutoFit/>
          </a:bodyPr>
          <a:lstStyle/>
          <a:p>
            <a:r>
              <a:rPr lang="en-US" dirty="0"/>
              <a:t>*in contrast to malignant </a:t>
            </a:r>
            <a:r>
              <a:rPr lang="en-US" dirty="0" err="1"/>
              <a:t>mca</a:t>
            </a:r>
            <a:r>
              <a:rPr lang="en-US" dirty="0"/>
              <a:t> infarct</a:t>
            </a: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ACF8BE67-1964-FC49-97BA-4F4A3078F7CB}"/>
                  </a:ext>
                </a:extLst>
              </p14:cNvPr>
              <p14:cNvContentPartPr/>
              <p14:nvPr/>
            </p14:nvContentPartPr>
            <p14:xfrm>
              <a:off x="6432327" y="2375681"/>
              <a:ext cx="1849320" cy="526680"/>
            </p14:xfrm>
          </p:contentPart>
        </mc:Choice>
        <mc:Fallback>
          <p:pic>
            <p:nvPicPr>
              <p:cNvPr id="5" name="Ink 4">
                <a:extLst>
                  <a:ext uri="{FF2B5EF4-FFF2-40B4-BE49-F238E27FC236}">
                    <a16:creationId xmlns:a16="http://schemas.microsoft.com/office/drawing/2014/main" id="{ACF8BE67-1964-FC49-97BA-4F4A3078F7CB}"/>
                  </a:ext>
                </a:extLst>
              </p:cNvPr>
              <p:cNvPicPr/>
              <p:nvPr/>
            </p:nvPicPr>
            <p:blipFill>
              <a:blip r:embed="rId3"/>
              <a:stretch>
                <a:fillRect/>
              </a:stretch>
            </p:blipFill>
            <p:spPr>
              <a:xfrm>
                <a:off x="6414687" y="2358041"/>
                <a:ext cx="1884960" cy="562320"/>
              </a:xfrm>
              <a:prstGeom prst="rect">
                <a:avLst/>
              </a:prstGeom>
            </p:spPr>
          </p:pic>
        </mc:Fallback>
      </mc:AlternateContent>
    </p:spTree>
    <p:extLst>
      <p:ext uri="{BB962C8B-B14F-4D97-AF65-F5344CB8AC3E}">
        <p14:creationId xmlns:p14="http://schemas.microsoft.com/office/powerpoint/2010/main" val="32509870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2D86DADD-940E-4CC1-AF60-0D36FB29B1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98CAC5-F856-6A43-9FB8-C8BD200F098B}"/>
              </a:ext>
            </a:extLst>
          </p:cNvPr>
          <p:cNvSpPr>
            <a:spLocks noGrp="1"/>
          </p:cNvSpPr>
          <p:nvPr>
            <p:ph type="title"/>
          </p:nvPr>
        </p:nvSpPr>
        <p:spPr>
          <a:xfrm>
            <a:off x="448056" y="388800"/>
            <a:ext cx="5432044" cy="860400"/>
          </a:xfrm>
        </p:spPr>
        <p:txBody>
          <a:bodyPr anchor="b">
            <a:normAutofit/>
          </a:bodyPr>
          <a:lstStyle/>
          <a:p>
            <a:r>
              <a:rPr lang="en-US" dirty="0"/>
              <a:t>Prognosis</a:t>
            </a:r>
          </a:p>
        </p:txBody>
      </p:sp>
      <p:cxnSp>
        <p:nvCxnSpPr>
          <p:cNvPr id="73" name="Straight Connector 72">
            <a:extLst>
              <a:ext uri="{FF2B5EF4-FFF2-40B4-BE49-F238E27FC236}">
                <a16:creationId xmlns:a16="http://schemas.microsoft.com/office/drawing/2014/main" id="{B32E796E-8D19-4926-B7B8-653B019390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0000" y="1609200"/>
            <a:ext cx="5434694"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8FA3D89-E2EF-6A4E-B57D-D73FF18CD7CC}"/>
              </a:ext>
            </a:extLst>
          </p:cNvPr>
          <p:cNvSpPr>
            <a:spLocks noGrp="1"/>
          </p:cNvSpPr>
          <p:nvPr>
            <p:ph idx="1"/>
          </p:nvPr>
        </p:nvSpPr>
        <p:spPr>
          <a:xfrm>
            <a:off x="448056" y="1943999"/>
            <a:ext cx="5432044" cy="4691259"/>
          </a:xfrm>
        </p:spPr>
        <p:txBody>
          <a:bodyPr>
            <a:normAutofit/>
          </a:bodyPr>
          <a:lstStyle/>
          <a:p>
            <a:pPr>
              <a:lnSpc>
                <a:spcPct val="110000"/>
              </a:lnSpc>
            </a:pPr>
            <a:r>
              <a:rPr lang="en-US" sz="1800" dirty="0"/>
              <a:t>Mortality from ICH remains high (40% at 30 days) – depends on patient, hematoma location, volume, active extravasation. </a:t>
            </a:r>
          </a:p>
          <a:p>
            <a:pPr>
              <a:lnSpc>
                <a:spcPct val="110000"/>
              </a:lnSpc>
            </a:pPr>
            <a:r>
              <a:rPr lang="en-US" sz="1800" dirty="0"/>
              <a:t>Only 12-39% of patients achieve functional independence post discharge – </a:t>
            </a:r>
            <a:r>
              <a:rPr lang="en-US" sz="1800" b="1" dirty="0"/>
              <a:t>high morbidity!</a:t>
            </a:r>
          </a:p>
          <a:p>
            <a:pPr>
              <a:lnSpc>
                <a:spcPct val="110000"/>
              </a:lnSpc>
            </a:pPr>
            <a:r>
              <a:rPr lang="en-US" sz="1800" b="1" dirty="0">
                <a:solidFill>
                  <a:schemeClr val="accent5">
                    <a:alpha val="55000"/>
                  </a:schemeClr>
                </a:solidFill>
              </a:rPr>
              <a:t>ICH score: ranges from 0-6</a:t>
            </a:r>
          </a:p>
          <a:p>
            <a:pPr lvl="1">
              <a:lnSpc>
                <a:spcPct val="110000"/>
              </a:lnSpc>
            </a:pPr>
            <a:r>
              <a:rPr lang="en-US" sz="1800" dirty="0"/>
              <a:t>Higher score = higher 30-day mortality </a:t>
            </a:r>
          </a:p>
          <a:p>
            <a:pPr lvl="1">
              <a:lnSpc>
                <a:spcPct val="110000"/>
              </a:lnSpc>
            </a:pPr>
            <a:r>
              <a:rPr lang="en-US" sz="1800" dirty="0"/>
              <a:t>Remember that initial aggressive care is indicated for all patients regardless of score – otherwise it’s a self-fulfilling prophecy!</a:t>
            </a:r>
          </a:p>
          <a:p>
            <a:pPr lvl="2">
              <a:lnSpc>
                <a:spcPct val="110000"/>
              </a:lnSpc>
            </a:pPr>
            <a:r>
              <a:rPr lang="en-US" sz="1800" dirty="0"/>
              <a:t>Current guidelines discourage withdrawal of life sustaining treatments in the first 24 hours </a:t>
            </a:r>
          </a:p>
        </p:txBody>
      </p:sp>
      <p:pic>
        <p:nvPicPr>
          <p:cNvPr id="2050" name="Picture 2" descr="Determination of the ICH score | Download Table">
            <a:extLst>
              <a:ext uri="{FF2B5EF4-FFF2-40B4-BE49-F238E27FC236}">
                <a16:creationId xmlns:a16="http://schemas.microsoft.com/office/drawing/2014/main" id="{2144E677-F68E-FB40-803A-03C6AA8C459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838394" y="450000"/>
            <a:ext cx="4379108" cy="550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67392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5124" name="Rectangle 70">
            <a:extLst>
              <a:ext uri="{FF2B5EF4-FFF2-40B4-BE49-F238E27FC236}">
                <a16:creationId xmlns:a16="http://schemas.microsoft.com/office/drawing/2014/main" id="{C9D2EB17-7133-49D4-9B24-19D463C31C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5D8F66-980E-FB46-8A0E-A143E619A285}"/>
              </a:ext>
            </a:extLst>
          </p:cNvPr>
          <p:cNvSpPr>
            <a:spLocks noGrp="1"/>
          </p:cNvSpPr>
          <p:nvPr>
            <p:ph type="title"/>
          </p:nvPr>
        </p:nvSpPr>
        <p:spPr>
          <a:xfrm>
            <a:off x="448056" y="388800"/>
            <a:ext cx="11300532" cy="986400"/>
          </a:xfrm>
        </p:spPr>
        <p:txBody>
          <a:bodyPr anchor="b">
            <a:normAutofit/>
          </a:bodyPr>
          <a:lstStyle/>
          <a:p>
            <a:r>
              <a:rPr lang="en-US" sz="6400"/>
              <a:t>Subarachnoid Hemorrhage</a:t>
            </a:r>
            <a:endParaRPr lang="en-US" sz="6400" dirty="0"/>
          </a:p>
        </p:txBody>
      </p:sp>
      <p:cxnSp>
        <p:nvCxnSpPr>
          <p:cNvPr id="5125" name="Straight Connector 72">
            <a:extLst>
              <a:ext uri="{FF2B5EF4-FFF2-40B4-BE49-F238E27FC236}">
                <a16:creationId xmlns:a16="http://schemas.microsoft.com/office/drawing/2014/main" id="{B32E796E-8D19-4926-B7B8-653B019390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0000" y="1609200"/>
            <a:ext cx="113004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5122" name="Picture 2">
            <a:extLst>
              <a:ext uri="{FF2B5EF4-FFF2-40B4-BE49-F238E27FC236}">
                <a16:creationId xmlns:a16="http://schemas.microsoft.com/office/drawing/2014/main" id="{99D9F51B-41B9-6842-B91B-70342354140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30581" y="2047334"/>
            <a:ext cx="3966280" cy="4110134"/>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500FDCA1-AB56-A44B-908F-D9F16A1977D7}"/>
              </a:ext>
            </a:extLst>
          </p:cNvPr>
          <p:cNvSpPr>
            <a:spLocks noGrp="1"/>
          </p:cNvSpPr>
          <p:nvPr>
            <p:ph idx="1"/>
          </p:nvPr>
        </p:nvSpPr>
        <p:spPr>
          <a:xfrm>
            <a:off x="4366800" y="1944000"/>
            <a:ext cx="7380000" cy="4006800"/>
          </a:xfrm>
        </p:spPr>
        <p:txBody>
          <a:bodyPr>
            <a:normAutofit/>
          </a:bodyPr>
          <a:lstStyle/>
          <a:p>
            <a:r>
              <a:rPr lang="en-US" sz="2000" dirty="0"/>
              <a:t>Neurological emergency associated with significant morbidity and mortality</a:t>
            </a:r>
          </a:p>
          <a:p>
            <a:r>
              <a:rPr lang="en-US" sz="2000" dirty="0"/>
              <a:t>Outcomes greatly impacted by early recognition and aggressive treatment</a:t>
            </a:r>
          </a:p>
          <a:p>
            <a:r>
              <a:rPr lang="en-US" sz="2000" dirty="0"/>
              <a:t>2 main etiologies</a:t>
            </a:r>
          </a:p>
          <a:p>
            <a:pPr lvl="1"/>
            <a:r>
              <a:rPr lang="en-US" sz="2000" dirty="0"/>
              <a:t>Traumatic </a:t>
            </a:r>
          </a:p>
          <a:p>
            <a:pPr lvl="1"/>
            <a:r>
              <a:rPr lang="en-US" sz="2000" dirty="0"/>
              <a:t>Non traumatic</a:t>
            </a:r>
          </a:p>
          <a:p>
            <a:pPr lvl="2"/>
            <a:r>
              <a:rPr lang="en-US" sz="2000" b="1" dirty="0">
                <a:solidFill>
                  <a:schemeClr val="accent5">
                    <a:alpha val="55000"/>
                  </a:schemeClr>
                </a:solidFill>
              </a:rPr>
              <a:t>Aneurysmal (80%) - </a:t>
            </a:r>
            <a:r>
              <a:rPr lang="en-US" sz="2000" b="1" dirty="0" err="1">
                <a:solidFill>
                  <a:schemeClr val="accent5">
                    <a:alpha val="55000"/>
                  </a:schemeClr>
                </a:solidFill>
              </a:rPr>
              <a:t>aSAH</a:t>
            </a:r>
            <a:endParaRPr lang="en-US" sz="2000" b="1" dirty="0">
              <a:solidFill>
                <a:schemeClr val="accent5">
                  <a:alpha val="55000"/>
                </a:schemeClr>
              </a:solidFill>
            </a:endParaRPr>
          </a:p>
          <a:p>
            <a:pPr lvl="2"/>
            <a:r>
              <a:rPr lang="en-US" sz="2000" dirty="0"/>
              <a:t>Non aneurysmal </a:t>
            </a:r>
          </a:p>
        </p:txBody>
      </p:sp>
    </p:spTree>
    <p:extLst>
      <p:ext uri="{BB962C8B-B14F-4D97-AF65-F5344CB8AC3E}">
        <p14:creationId xmlns:p14="http://schemas.microsoft.com/office/powerpoint/2010/main" val="9689447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71D199B-5E15-43A6-BA31-F5CDFDB3A9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C1C3101-6EEA-7944-97E1-2745AB9E6AFF}"/>
              </a:ext>
            </a:extLst>
          </p:cNvPr>
          <p:cNvSpPr>
            <a:spLocks noGrp="1"/>
          </p:cNvSpPr>
          <p:nvPr>
            <p:ph type="title"/>
          </p:nvPr>
        </p:nvSpPr>
        <p:spPr>
          <a:xfrm>
            <a:off x="448056" y="393192"/>
            <a:ext cx="11301984" cy="859536"/>
          </a:xfrm>
        </p:spPr>
        <p:txBody>
          <a:bodyPr anchor="b">
            <a:normAutofit/>
          </a:bodyPr>
          <a:lstStyle/>
          <a:p>
            <a:r>
              <a:rPr lang="en-US" dirty="0"/>
              <a:t>Epidemiology / Risk Factors</a:t>
            </a:r>
          </a:p>
        </p:txBody>
      </p:sp>
      <p:cxnSp>
        <p:nvCxnSpPr>
          <p:cNvPr id="10" name="Straight Connector 9">
            <a:extLst>
              <a:ext uri="{FF2B5EF4-FFF2-40B4-BE49-F238E27FC236}">
                <a16:creationId xmlns:a16="http://schemas.microsoft.com/office/drawing/2014/main" id="{6C52BBAB-664F-48C3-A5C1-4CE9D3555D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9400" y="16092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5E7A9A8-FF2D-7F4F-AAB8-D31D2FF66D78}"/>
              </a:ext>
            </a:extLst>
          </p:cNvPr>
          <p:cNvSpPr>
            <a:spLocks noGrp="1"/>
          </p:cNvSpPr>
          <p:nvPr>
            <p:ph idx="1"/>
          </p:nvPr>
        </p:nvSpPr>
        <p:spPr>
          <a:xfrm>
            <a:off x="448056" y="1947671"/>
            <a:ext cx="11064006" cy="4517115"/>
          </a:xfrm>
        </p:spPr>
        <p:txBody>
          <a:bodyPr>
            <a:normAutofit fontScale="92500"/>
          </a:bodyPr>
          <a:lstStyle/>
          <a:p>
            <a:r>
              <a:rPr lang="en-US" dirty="0"/>
              <a:t>3</a:t>
            </a:r>
            <a:r>
              <a:rPr lang="en-US" baseline="30000" dirty="0"/>
              <a:t>rd</a:t>
            </a:r>
            <a:r>
              <a:rPr lang="en-US" dirty="0"/>
              <a:t> most common cerebrovascular disorder after ischemic stroke and ICH</a:t>
            </a:r>
          </a:p>
          <a:p>
            <a:r>
              <a:rPr lang="en-US" dirty="0"/>
              <a:t>Based on autopsy studies – prevalence of unruptured intracranial aneurysms in adults is 1-5%</a:t>
            </a:r>
          </a:p>
          <a:p>
            <a:r>
              <a:rPr lang="en-US" dirty="0"/>
              <a:t>Worldwide incidence of </a:t>
            </a:r>
            <a:r>
              <a:rPr lang="en-US" dirty="0" err="1"/>
              <a:t>aSAH</a:t>
            </a:r>
            <a:r>
              <a:rPr lang="en-US" dirty="0"/>
              <a:t> 2-16/100,000 adults. In the US 9-14/100,000 adults</a:t>
            </a:r>
          </a:p>
          <a:p>
            <a:r>
              <a:rPr lang="en-US" dirty="0"/>
              <a:t>Higher incidence in women (2:1), African-Americans, Hispanics, and age &gt;55 </a:t>
            </a:r>
            <a:r>
              <a:rPr lang="en-US" dirty="0" err="1"/>
              <a:t>yo</a:t>
            </a:r>
            <a:endParaRPr lang="en-US" dirty="0"/>
          </a:p>
          <a:p>
            <a:r>
              <a:rPr lang="en-US" dirty="0"/>
              <a:t>Risk factors: </a:t>
            </a:r>
          </a:p>
          <a:p>
            <a:pPr lvl="1"/>
            <a:r>
              <a:rPr lang="en-US" dirty="0"/>
              <a:t>Hypertension, smoking, alcoholism.</a:t>
            </a:r>
          </a:p>
          <a:p>
            <a:pPr lvl="1"/>
            <a:r>
              <a:rPr lang="en-US" u="sng" dirty="0"/>
              <a:t>Family history </a:t>
            </a:r>
            <a:r>
              <a:rPr lang="en-US" dirty="0"/>
              <a:t>of SAH or another aneurysm.</a:t>
            </a:r>
          </a:p>
          <a:p>
            <a:pPr lvl="1"/>
            <a:r>
              <a:rPr lang="en-US" b="1" u="sng" dirty="0">
                <a:solidFill>
                  <a:srgbClr val="92D050">
                    <a:alpha val="55000"/>
                  </a:srgbClr>
                </a:solidFill>
              </a:rPr>
              <a:t>Autosomal Dominant Polycystic kidney disease</a:t>
            </a:r>
            <a:r>
              <a:rPr lang="en-US" u="sng" dirty="0"/>
              <a:t>, </a:t>
            </a:r>
            <a:r>
              <a:rPr lang="en-US" dirty="0"/>
              <a:t>Ehlers-Danlos syndrome, fibromuscular dysplasia, Marfan’s syndrome</a:t>
            </a:r>
          </a:p>
          <a:p>
            <a:pPr lvl="1"/>
            <a:r>
              <a:rPr lang="en-US" dirty="0"/>
              <a:t>Sympathomimetic use (e.g., cocaine, amphetamine).</a:t>
            </a:r>
          </a:p>
          <a:p>
            <a:endParaRPr lang="en-US" dirty="0"/>
          </a:p>
          <a:p>
            <a:endParaRPr lang="en-US" dirty="0"/>
          </a:p>
        </p:txBody>
      </p:sp>
    </p:spTree>
    <p:extLst>
      <p:ext uri="{BB962C8B-B14F-4D97-AF65-F5344CB8AC3E}">
        <p14:creationId xmlns:p14="http://schemas.microsoft.com/office/powerpoint/2010/main" val="29237194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71D199B-5E15-43A6-BA31-F5CDFDB3A9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AA90D9A-C284-1744-86D2-7B996FAC5D43}"/>
              </a:ext>
            </a:extLst>
          </p:cNvPr>
          <p:cNvSpPr>
            <a:spLocks noGrp="1"/>
          </p:cNvSpPr>
          <p:nvPr>
            <p:ph type="title"/>
          </p:nvPr>
        </p:nvSpPr>
        <p:spPr>
          <a:xfrm>
            <a:off x="448056" y="393192"/>
            <a:ext cx="11301984" cy="859536"/>
          </a:xfrm>
        </p:spPr>
        <p:txBody>
          <a:bodyPr anchor="b">
            <a:normAutofit/>
          </a:bodyPr>
          <a:lstStyle/>
          <a:p>
            <a:r>
              <a:rPr lang="en-US" dirty="0"/>
              <a:t>Pathophysiology</a:t>
            </a:r>
          </a:p>
        </p:txBody>
      </p:sp>
      <p:cxnSp>
        <p:nvCxnSpPr>
          <p:cNvPr id="10" name="Straight Connector 9">
            <a:extLst>
              <a:ext uri="{FF2B5EF4-FFF2-40B4-BE49-F238E27FC236}">
                <a16:creationId xmlns:a16="http://schemas.microsoft.com/office/drawing/2014/main" id="{6C52BBAB-664F-48C3-A5C1-4CE9D3555D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9400" y="16092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6728815-3BCA-5243-8D26-7887307D91E3}"/>
              </a:ext>
            </a:extLst>
          </p:cNvPr>
          <p:cNvSpPr>
            <a:spLocks noGrp="1"/>
          </p:cNvSpPr>
          <p:nvPr>
            <p:ph idx="1"/>
          </p:nvPr>
        </p:nvSpPr>
        <p:spPr>
          <a:xfrm>
            <a:off x="448056" y="1947671"/>
            <a:ext cx="11181236" cy="4617245"/>
          </a:xfrm>
        </p:spPr>
        <p:txBody>
          <a:bodyPr>
            <a:normAutofit fontScale="92500" lnSpcReduction="20000"/>
          </a:bodyPr>
          <a:lstStyle/>
          <a:p>
            <a:pPr>
              <a:lnSpc>
                <a:spcPct val="110000"/>
              </a:lnSpc>
            </a:pPr>
            <a:r>
              <a:rPr lang="en-US" sz="2400" dirty="0"/>
              <a:t>Occurs due to </a:t>
            </a:r>
            <a:r>
              <a:rPr lang="en-US" sz="2400" b="1" dirty="0">
                <a:solidFill>
                  <a:schemeClr val="accent5">
                    <a:alpha val="55000"/>
                  </a:schemeClr>
                </a:solidFill>
              </a:rPr>
              <a:t>extravasation of blood into subarachnoid space </a:t>
            </a:r>
            <a:r>
              <a:rPr lang="en-US" sz="2400" dirty="0"/>
              <a:t>under high hemodynamic pressure</a:t>
            </a:r>
          </a:p>
          <a:p>
            <a:pPr>
              <a:lnSpc>
                <a:spcPct val="110000"/>
              </a:lnSpc>
            </a:pPr>
            <a:r>
              <a:rPr lang="en-US" sz="2400" dirty="0"/>
              <a:t>80% of spontaneous, non traumatic SAH is due to </a:t>
            </a:r>
            <a:r>
              <a:rPr lang="en-US" sz="2400" b="1" dirty="0">
                <a:solidFill>
                  <a:schemeClr val="accent5">
                    <a:alpha val="55000"/>
                  </a:schemeClr>
                </a:solidFill>
              </a:rPr>
              <a:t>aneurysm rupture</a:t>
            </a:r>
          </a:p>
          <a:p>
            <a:pPr lvl="1">
              <a:lnSpc>
                <a:spcPct val="110000"/>
              </a:lnSpc>
            </a:pPr>
            <a:r>
              <a:rPr lang="en-US" sz="2400" dirty="0"/>
              <a:t>Aneurysms at vessel bifurcations due to defects in tunica media and </a:t>
            </a:r>
            <a:r>
              <a:rPr lang="en-US" sz="2400" dirty="0" err="1"/>
              <a:t>elastica</a:t>
            </a:r>
            <a:r>
              <a:rPr lang="en-US" sz="2400" dirty="0"/>
              <a:t> - pathologic dilations at major branching brain arteries</a:t>
            </a:r>
          </a:p>
          <a:p>
            <a:pPr lvl="1">
              <a:lnSpc>
                <a:spcPct val="110000"/>
              </a:lnSpc>
            </a:pPr>
            <a:r>
              <a:rPr lang="en-US" sz="2400" dirty="0"/>
              <a:t>Other theories include inflammatory process affecting cerebral vasculature or disruption of internal elastic membrane from hemodynamic forces</a:t>
            </a:r>
          </a:p>
          <a:p>
            <a:pPr>
              <a:lnSpc>
                <a:spcPct val="110000"/>
              </a:lnSpc>
            </a:pPr>
            <a:r>
              <a:rPr lang="en-US" sz="2400" dirty="0"/>
              <a:t>Non-aneurysmal causes: </a:t>
            </a:r>
          </a:p>
          <a:p>
            <a:pPr lvl="1">
              <a:lnSpc>
                <a:spcPct val="110000"/>
              </a:lnSpc>
            </a:pPr>
            <a:r>
              <a:rPr lang="en-US" sz="2400" dirty="0"/>
              <a:t>Rupture of dissections</a:t>
            </a:r>
          </a:p>
          <a:p>
            <a:pPr lvl="1">
              <a:lnSpc>
                <a:spcPct val="110000"/>
              </a:lnSpc>
            </a:pPr>
            <a:r>
              <a:rPr lang="en-US" sz="2400" dirty="0"/>
              <a:t>Arterial blisters</a:t>
            </a:r>
          </a:p>
          <a:p>
            <a:pPr lvl="1">
              <a:lnSpc>
                <a:spcPct val="110000"/>
              </a:lnSpc>
            </a:pPr>
            <a:r>
              <a:rPr lang="en-US" sz="2400" dirty="0"/>
              <a:t>Trauma</a:t>
            </a:r>
          </a:p>
          <a:p>
            <a:pPr lvl="1">
              <a:lnSpc>
                <a:spcPct val="110000"/>
              </a:lnSpc>
            </a:pPr>
            <a:r>
              <a:rPr lang="en-US" sz="2400" dirty="0"/>
              <a:t>Uncommon causes: vascular malformations, coagulopathy, vasculitis, </a:t>
            </a:r>
            <a:r>
              <a:rPr lang="en-US" sz="2400" dirty="0" err="1"/>
              <a:t>moyamoya</a:t>
            </a:r>
            <a:r>
              <a:rPr lang="en-US" sz="2400" dirty="0"/>
              <a:t>, amyloid angiopathy, sympathomimetic exposure</a:t>
            </a:r>
          </a:p>
          <a:p>
            <a:pPr lvl="1">
              <a:lnSpc>
                <a:spcPct val="110000"/>
              </a:lnSpc>
            </a:pPr>
            <a:endParaRPr lang="en-US" sz="1700" dirty="0"/>
          </a:p>
          <a:p>
            <a:pPr marL="1944" indent="0">
              <a:lnSpc>
                <a:spcPct val="110000"/>
              </a:lnSpc>
              <a:buNone/>
            </a:pPr>
            <a:endParaRPr lang="en-US" sz="1700" dirty="0"/>
          </a:p>
        </p:txBody>
      </p:sp>
    </p:spTree>
    <p:extLst>
      <p:ext uri="{BB962C8B-B14F-4D97-AF65-F5344CB8AC3E}">
        <p14:creationId xmlns:p14="http://schemas.microsoft.com/office/powerpoint/2010/main" val="5342022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71D199B-5E15-43A6-BA31-F5CDFDB3A9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FD0CD36-427E-744D-B735-DE2A2206C73E}"/>
              </a:ext>
            </a:extLst>
          </p:cNvPr>
          <p:cNvSpPr>
            <a:spLocks noGrp="1"/>
          </p:cNvSpPr>
          <p:nvPr>
            <p:ph type="title"/>
          </p:nvPr>
        </p:nvSpPr>
        <p:spPr>
          <a:xfrm>
            <a:off x="448056" y="393192"/>
            <a:ext cx="11301984" cy="859536"/>
          </a:xfrm>
        </p:spPr>
        <p:txBody>
          <a:bodyPr anchor="b">
            <a:normAutofit/>
          </a:bodyPr>
          <a:lstStyle/>
          <a:p>
            <a:r>
              <a:rPr lang="en-US" dirty="0"/>
              <a:t>Clinical presentation </a:t>
            </a:r>
          </a:p>
        </p:txBody>
      </p:sp>
      <p:cxnSp>
        <p:nvCxnSpPr>
          <p:cNvPr id="10" name="Straight Connector 9">
            <a:extLst>
              <a:ext uri="{FF2B5EF4-FFF2-40B4-BE49-F238E27FC236}">
                <a16:creationId xmlns:a16="http://schemas.microsoft.com/office/drawing/2014/main" id="{6C52BBAB-664F-48C3-A5C1-4CE9D3555D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9400" y="16092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8CF662D-DE82-CE4D-8277-71E3A8D3A171}"/>
              </a:ext>
            </a:extLst>
          </p:cNvPr>
          <p:cNvSpPr>
            <a:spLocks noGrp="1"/>
          </p:cNvSpPr>
          <p:nvPr>
            <p:ph idx="1"/>
          </p:nvPr>
        </p:nvSpPr>
        <p:spPr>
          <a:xfrm>
            <a:off x="448055" y="1947671"/>
            <a:ext cx="11427421" cy="4781373"/>
          </a:xfrm>
        </p:spPr>
        <p:txBody>
          <a:bodyPr>
            <a:normAutofit lnSpcReduction="10000"/>
          </a:bodyPr>
          <a:lstStyle/>
          <a:p>
            <a:pPr>
              <a:lnSpc>
                <a:spcPct val="110000"/>
              </a:lnSpc>
            </a:pPr>
            <a:r>
              <a:rPr lang="en-US" b="1" dirty="0">
                <a:solidFill>
                  <a:srgbClr val="FF0000">
                    <a:alpha val="55000"/>
                  </a:srgbClr>
                </a:solidFill>
              </a:rPr>
              <a:t>Thunderclap headache </a:t>
            </a:r>
            <a:r>
              <a:rPr lang="en-US" dirty="0"/>
              <a:t>– </a:t>
            </a:r>
            <a:r>
              <a:rPr lang="en-US" b="1" u="sng" dirty="0"/>
              <a:t>‘worst headache of my life’</a:t>
            </a:r>
          </a:p>
          <a:p>
            <a:pPr lvl="1">
              <a:lnSpc>
                <a:spcPct val="110000"/>
              </a:lnSpc>
            </a:pPr>
            <a:r>
              <a:rPr lang="en-US" dirty="0"/>
              <a:t>Some patients will also have ‘sentinel headache’ =                                                            warning headache preceding </a:t>
            </a:r>
            <a:r>
              <a:rPr lang="en-US" dirty="0" err="1"/>
              <a:t>aSAH</a:t>
            </a:r>
            <a:r>
              <a:rPr lang="en-US" dirty="0"/>
              <a:t> by days or weeks</a:t>
            </a:r>
          </a:p>
          <a:p>
            <a:pPr>
              <a:lnSpc>
                <a:spcPct val="110000"/>
              </a:lnSpc>
            </a:pPr>
            <a:r>
              <a:rPr lang="en-US" b="1" dirty="0"/>
              <a:t>Meningeal signs</a:t>
            </a:r>
            <a:r>
              <a:rPr lang="en-US" dirty="0"/>
              <a:t>: photophobia, nuchal rigidity, neck pain</a:t>
            </a:r>
          </a:p>
          <a:p>
            <a:pPr>
              <a:lnSpc>
                <a:spcPct val="110000"/>
              </a:lnSpc>
            </a:pPr>
            <a:r>
              <a:rPr lang="en-US" b="1" dirty="0"/>
              <a:t>Elevated Intracranial Pressure</a:t>
            </a:r>
            <a:r>
              <a:rPr lang="en-US" dirty="0"/>
              <a:t>: nausea, vomiting, stupor, coma</a:t>
            </a:r>
          </a:p>
          <a:p>
            <a:pPr>
              <a:lnSpc>
                <a:spcPct val="110000"/>
              </a:lnSpc>
            </a:pPr>
            <a:r>
              <a:rPr lang="en-US" b="1" dirty="0"/>
              <a:t>Seizures</a:t>
            </a:r>
            <a:r>
              <a:rPr lang="en-US" dirty="0"/>
              <a:t>: blood is a cortical irritant </a:t>
            </a:r>
          </a:p>
          <a:p>
            <a:pPr>
              <a:lnSpc>
                <a:spcPct val="110000"/>
              </a:lnSpc>
            </a:pPr>
            <a:r>
              <a:rPr lang="en-US" b="1" u="sng" dirty="0"/>
              <a:t>CN palsies/focal neurological deficits: </a:t>
            </a:r>
            <a:r>
              <a:rPr lang="en-US" dirty="0"/>
              <a:t>due to direct compression from aneurysm or blood</a:t>
            </a:r>
          </a:p>
          <a:p>
            <a:pPr lvl="1">
              <a:lnSpc>
                <a:spcPct val="110000"/>
              </a:lnSpc>
            </a:pPr>
            <a:r>
              <a:rPr lang="en-US" dirty="0"/>
              <a:t>Posterior communicating artery: CN III palsy with pupillary involvement</a:t>
            </a:r>
          </a:p>
          <a:p>
            <a:pPr lvl="1">
              <a:lnSpc>
                <a:spcPct val="110000"/>
              </a:lnSpc>
            </a:pPr>
            <a:r>
              <a:rPr lang="en-US" dirty="0"/>
              <a:t>MCA: contralateral face and arm paresis, aphasia, visual neglect</a:t>
            </a:r>
          </a:p>
          <a:p>
            <a:pPr lvl="1">
              <a:lnSpc>
                <a:spcPct val="110000"/>
              </a:lnSpc>
            </a:pPr>
            <a:r>
              <a:rPr lang="en-US" dirty="0"/>
              <a:t>ACA: bilateral leg paresis and Babinski sign</a:t>
            </a:r>
          </a:p>
          <a:p>
            <a:pPr lvl="1">
              <a:lnSpc>
                <a:spcPct val="110000"/>
              </a:lnSpc>
            </a:pPr>
            <a:r>
              <a:rPr lang="en-US" dirty="0"/>
              <a:t>Basilar tip: vertical gaze paresis, bitemporal hemianopsia, bilateral motor paresis, coma</a:t>
            </a:r>
          </a:p>
          <a:p>
            <a:pPr lvl="1">
              <a:lnSpc>
                <a:spcPct val="110000"/>
              </a:lnSpc>
            </a:pPr>
            <a:endParaRPr lang="en-US" sz="1500" dirty="0"/>
          </a:p>
          <a:p>
            <a:pPr>
              <a:lnSpc>
                <a:spcPct val="110000"/>
              </a:lnSpc>
            </a:pPr>
            <a:endParaRPr lang="en-US" sz="1500" dirty="0"/>
          </a:p>
        </p:txBody>
      </p:sp>
      <p:pic>
        <p:nvPicPr>
          <p:cNvPr id="5" name="Picture 4" descr="Diagram&#10;&#10;Description automatically generated">
            <a:extLst>
              <a:ext uri="{FF2B5EF4-FFF2-40B4-BE49-F238E27FC236}">
                <a16:creationId xmlns:a16="http://schemas.microsoft.com/office/drawing/2014/main" id="{F08933AB-0F6C-2141-889E-6DEF02300ABD}"/>
              </a:ext>
            </a:extLst>
          </p:cNvPr>
          <p:cNvPicPr>
            <a:picLocks noChangeAspect="1"/>
          </p:cNvPicPr>
          <p:nvPr/>
        </p:nvPicPr>
        <p:blipFill>
          <a:blip r:embed="rId2"/>
          <a:stretch>
            <a:fillRect/>
          </a:stretch>
        </p:blipFill>
        <p:spPr>
          <a:xfrm>
            <a:off x="8512907" y="520565"/>
            <a:ext cx="3022600" cy="3172234"/>
          </a:xfrm>
          <a:prstGeom prst="rect">
            <a:avLst/>
          </a:prstGeom>
        </p:spPr>
      </p:pic>
    </p:spTree>
    <p:extLst>
      <p:ext uri="{BB962C8B-B14F-4D97-AF65-F5344CB8AC3E}">
        <p14:creationId xmlns:p14="http://schemas.microsoft.com/office/powerpoint/2010/main" val="1262290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71D199B-5E15-43A6-BA31-F5CDFDB3A9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9335039-0916-4F44-AC5E-BF65414D0892}"/>
              </a:ext>
            </a:extLst>
          </p:cNvPr>
          <p:cNvSpPr>
            <a:spLocks noGrp="1"/>
          </p:cNvSpPr>
          <p:nvPr>
            <p:ph type="title"/>
          </p:nvPr>
        </p:nvSpPr>
        <p:spPr>
          <a:xfrm>
            <a:off x="448056" y="393192"/>
            <a:ext cx="11301984" cy="859536"/>
          </a:xfrm>
        </p:spPr>
        <p:txBody>
          <a:bodyPr anchor="b">
            <a:normAutofit/>
          </a:bodyPr>
          <a:lstStyle/>
          <a:p>
            <a:r>
              <a:rPr lang="en-US" dirty="0"/>
              <a:t>Diagnosis / Work up </a:t>
            </a:r>
          </a:p>
        </p:txBody>
      </p:sp>
      <p:cxnSp>
        <p:nvCxnSpPr>
          <p:cNvPr id="10" name="Straight Connector 9">
            <a:extLst>
              <a:ext uri="{FF2B5EF4-FFF2-40B4-BE49-F238E27FC236}">
                <a16:creationId xmlns:a16="http://schemas.microsoft.com/office/drawing/2014/main" id="{6C52BBAB-664F-48C3-A5C1-4CE9D3555D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9400" y="16092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2E2DA12-7AF3-0C4C-8DC9-B805ACC0A91F}"/>
              </a:ext>
            </a:extLst>
          </p:cNvPr>
          <p:cNvSpPr>
            <a:spLocks noGrp="1"/>
          </p:cNvSpPr>
          <p:nvPr>
            <p:ph idx="1"/>
          </p:nvPr>
        </p:nvSpPr>
        <p:spPr>
          <a:xfrm>
            <a:off x="448055" y="1947671"/>
            <a:ext cx="11450867" cy="4687589"/>
          </a:xfrm>
        </p:spPr>
        <p:txBody>
          <a:bodyPr>
            <a:normAutofit/>
          </a:bodyPr>
          <a:lstStyle/>
          <a:p>
            <a:pPr>
              <a:lnSpc>
                <a:spcPct val="110000"/>
              </a:lnSpc>
            </a:pPr>
            <a:r>
              <a:rPr lang="en-US" sz="2000" b="1" u="sng" dirty="0">
                <a:solidFill>
                  <a:srgbClr val="92D050">
                    <a:alpha val="55000"/>
                  </a:srgbClr>
                </a:solidFill>
              </a:rPr>
              <a:t>Non contrast head CT:  </a:t>
            </a:r>
            <a:r>
              <a:rPr lang="en-US" sz="2000" b="1" u="sng" dirty="0"/>
              <a:t>initial test of choice</a:t>
            </a:r>
          </a:p>
          <a:p>
            <a:pPr lvl="1">
              <a:lnSpc>
                <a:spcPct val="110000"/>
              </a:lnSpc>
            </a:pPr>
            <a:r>
              <a:rPr lang="en-US" sz="2000" dirty="0"/>
              <a:t>99% sensitive within 6 hours of symptom onset (93% at 24 hours, 50% at 1 week)</a:t>
            </a:r>
          </a:p>
          <a:p>
            <a:pPr>
              <a:lnSpc>
                <a:spcPct val="110000"/>
              </a:lnSpc>
            </a:pPr>
            <a:r>
              <a:rPr lang="en-US" sz="2000" u="sng" dirty="0"/>
              <a:t>CT angiography: </a:t>
            </a:r>
            <a:r>
              <a:rPr lang="en-US" sz="2000" dirty="0"/>
              <a:t>useful to evaluate aneurysm location and morphology</a:t>
            </a:r>
          </a:p>
          <a:p>
            <a:pPr lvl="1">
              <a:lnSpc>
                <a:spcPct val="110000"/>
              </a:lnSpc>
            </a:pPr>
            <a:r>
              <a:rPr lang="en-US" sz="2000" dirty="0"/>
              <a:t>CTA unreliable for small &lt;3mm aneurysms</a:t>
            </a:r>
          </a:p>
          <a:p>
            <a:pPr>
              <a:lnSpc>
                <a:spcPct val="110000"/>
              </a:lnSpc>
            </a:pPr>
            <a:r>
              <a:rPr lang="en-US" sz="2000" u="sng" dirty="0"/>
              <a:t>Digital subtraction angiography (DSA)</a:t>
            </a:r>
            <a:r>
              <a:rPr lang="en-US" sz="2000" dirty="0"/>
              <a:t>: GOLD STANDARD imaging for cerebral vasculature – however this is an interventional neurology procedure </a:t>
            </a:r>
          </a:p>
          <a:p>
            <a:pPr lvl="1">
              <a:lnSpc>
                <a:spcPct val="110000"/>
              </a:lnSpc>
            </a:pPr>
            <a:r>
              <a:rPr lang="en-US" sz="2000" dirty="0"/>
              <a:t>Used for surgical planning and intervention</a:t>
            </a:r>
          </a:p>
          <a:p>
            <a:pPr>
              <a:lnSpc>
                <a:spcPct val="110000"/>
              </a:lnSpc>
            </a:pPr>
            <a:r>
              <a:rPr lang="en-US" sz="2000" b="1" u="sng" dirty="0">
                <a:solidFill>
                  <a:srgbClr val="92D050">
                    <a:alpha val="55000"/>
                  </a:srgbClr>
                </a:solidFill>
              </a:rPr>
              <a:t>Lumbar puncture: </a:t>
            </a:r>
            <a:r>
              <a:rPr lang="en-US" sz="2000" dirty="0"/>
              <a:t>almost 100% sensitive when done &gt;12 hours after symptom onset</a:t>
            </a:r>
          </a:p>
          <a:p>
            <a:pPr lvl="1">
              <a:lnSpc>
                <a:spcPct val="110000"/>
              </a:lnSpc>
            </a:pPr>
            <a:r>
              <a:rPr lang="en-US" sz="2000" dirty="0"/>
              <a:t>For patients with negative non contrast CT head but high suspicion of SAH</a:t>
            </a:r>
          </a:p>
          <a:p>
            <a:pPr lvl="1">
              <a:lnSpc>
                <a:spcPct val="110000"/>
              </a:lnSpc>
            </a:pPr>
            <a:r>
              <a:rPr lang="en-US" sz="2000" b="1" dirty="0">
                <a:solidFill>
                  <a:srgbClr val="92D050">
                    <a:alpha val="55000"/>
                  </a:srgbClr>
                </a:solidFill>
              </a:rPr>
              <a:t>Observe for xanthochromia </a:t>
            </a:r>
            <a:r>
              <a:rPr lang="en-US" sz="2000" dirty="0"/>
              <a:t>– yellow appearance of spun down CSF</a:t>
            </a:r>
          </a:p>
          <a:p>
            <a:pPr>
              <a:lnSpc>
                <a:spcPct val="110000"/>
              </a:lnSpc>
            </a:pPr>
            <a:r>
              <a:rPr lang="en-US" sz="2000" u="sng" dirty="0"/>
              <a:t>MRI/MRA: </a:t>
            </a:r>
            <a:r>
              <a:rPr lang="en-US" sz="2000" dirty="0"/>
              <a:t>not used in acute period due to time requirements</a:t>
            </a:r>
          </a:p>
        </p:txBody>
      </p:sp>
    </p:spTree>
    <p:extLst>
      <p:ext uri="{BB962C8B-B14F-4D97-AF65-F5344CB8AC3E}">
        <p14:creationId xmlns:p14="http://schemas.microsoft.com/office/powerpoint/2010/main" val="9869910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2D86DADD-940E-4CC1-AF60-0D36FB29B1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951FF5-CE11-F148-8047-676939EAF3F8}"/>
              </a:ext>
            </a:extLst>
          </p:cNvPr>
          <p:cNvSpPr>
            <a:spLocks noGrp="1"/>
          </p:cNvSpPr>
          <p:nvPr>
            <p:ph type="title"/>
          </p:nvPr>
        </p:nvSpPr>
        <p:spPr>
          <a:xfrm>
            <a:off x="448056" y="388800"/>
            <a:ext cx="5432044" cy="860400"/>
          </a:xfrm>
        </p:spPr>
        <p:txBody>
          <a:bodyPr anchor="b">
            <a:normAutofit/>
          </a:bodyPr>
          <a:lstStyle/>
          <a:p>
            <a:r>
              <a:rPr lang="en-US" dirty="0"/>
              <a:t>Grading Scales</a:t>
            </a:r>
          </a:p>
        </p:txBody>
      </p:sp>
      <p:cxnSp>
        <p:nvCxnSpPr>
          <p:cNvPr id="73" name="Straight Connector 72">
            <a:extLst>
              <a:ext uri="{FF2B5EF4-FFF2-40B4-BE49-F238E27FC236}">
                <a16:creationId xmlns:a16="http://schemas.microsoft.com/office/drawing/2014/main" id="{B32E796E-8D19-4926-B7B8-653B019390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0000" y="1609200"/>
            <a:ext cx="5434694"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C4A6059-0393-674A-85FC-46144D16A950}"/>
              </a:ext>
            </a:extLst>
          </p:cNvPr>
          <p:cNvSpPr>
            <a:spLocks noGrp="1"/>
          </p:cNvSpPr>
          <p:nvPr>
            <p:ph idx="1"/>
          </p:nvPr>
        </p:nvSpPr>
        <p:spPr>
          <a:xfrm>
            <a:off x="448056" y="4710093"/>
            <a:ext cx="11075729" cy="1868124"/>
          </a:xfrm>
        </p:spPr>
        <p:txBody>
          <a:bodyPr>
            <a:normAutofit/>
          </a:bodyPr>
          <a:lstStyle/>
          <a:p>
            <a:r>
              <a:rPr lang="en-US" dirty="0"/>
              <a:t>Clinical and radiographic scales for likelihood of developing complications and outcome prognosis</a:t>
            </a:r>
          </a:p>
          <a:p>
            <a:pPr lvl="1"/>
            <a:r>
              <a:rPr lang="en-US" dirty="0"/>
              <a:t>Clinical: Hunt and Hess, World Federation of Neurological Surgeons</a:t>
            </a:r>
          </a:p>
          <a:p>
            <a:pPr lvl="1"/>
            <a:r>
              <a:rPr lang="en-US" dirty="0"/>
              <a:t>Radiographic: modified Fisher scale</a:t>
            </a:r>
          </a:p>
          <a:p>
            <a:pPr lvl="1"/>
            <a:endParaRPr lang="en-US" dirty="0"/>
          </a:p>
        </p:txBody>
      </p:sp>
      <p:pic>
        <p:nvPicPr>
          <p:cNvPr id="9" name="Picture 2">
            <a:extLst>
              <a:ext uri="{FF2B5EF4-FFF2-40B4-BE49-F238E27FC236}">
                <a16:creationId xmlns:a16="http://schemas.microsoft.com/office/drawing/2014/main" id="{E672C50F-1242-6B40-924A-7658B7BB8E6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954695" y="279783"/>
            <a:ext cx="7686319" cy="42659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37716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DE99AC95-9FC1-42BD-A490-2EDBABE7C2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EA020B-8894-2D48-94CB-A1706EAB2D59}"/>
              </a:ext>
            </a:extLst>
          </p:cNvPr>
          <p:cNvSpPr>
            <a:spLocks noGrp="1"/>
          </p:cNvSpPr>
          <p:nvPr>
            <p:ph type="title"/>
          </p:nvPr>
        </p:nvSpPr>
        <p:spPr>
          <a:xfrm>
            <a:off x="448056" y="388800"/>
            <a:ext cx="7380000" cy="860400"/>
          </a:xfrm>
        </p:spPr>
        <p:txBody>
          <a:bodyPr anchor="b">
            <a:normAutofit/>
          </a:bodyPr>
          <a:lstStyle/>
          <a:p>
            <a:r>
              <a:rPr lang="en-US" dirty="0"/>
              <a:t>Treatment / management principles </a:t>
            </a:r>
          </a:p>
        </p:txBody>
      </p:sp>
      <p:cxnSp>
        <p:nvCxnSpPr>
          <p:cNvPr id="17" name="Straight Connector 16">
            <a:extLst>
              <a:ext uri="{FF2B5EF4-FFF2-40B4-BE49-F238E27FC236}">
                <a16:creationId xmlns:a16="http://schemas.microsoft.com/office/drawing/2014/main" id="{B32E796E-8D19-4926-B7B8-653B019390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0000" y="1609200"/>
            <a:ext cx="73836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39790FA-0397-D643-BE52-0E69F526B854}"/>
              </a:ext>
            </a:extLst>
          </p:cNvPr>
          <p:cNvSpPr>
            <a:spLocks noGrp="1"/>
          </p:cNvSpPr>
          <p:nvPr>
            <p:ph idx="1"/>
          </p:nvPr>
        </p:nvSpPr>
        <p:spPr>
          <a:xfrm>
            <a:off x="448056" y="1944000"/>
            <a:ext cx="7380000" cy="4006800"/>
          </a:xfrm>
        </p:spPr>
        <p:txBody>
          <a:bodyPr>
            <a:normAutofit/>
          </a:bodyPr>
          <a:lstStyle/>
          <a:p>
            <a:r>
              <a:rPr lang="en-US" b="1" dirty="0">
                <a:solidFill>
                  <a:srgbClr val="92D050">
                    <a:alpha val="55000"/>
                  </a:srgbClr>
                </a:solidFill>
              </a:rPr>
              <a:t>Secure the aneurysm! </a:t>
            </a:r>
          </a:p>
          <a:p>
            <a:pPr lvl="1"/>
            <a:r>
              <a:rPr lang="en-US" u="sng" dirty="0"/>
              <a:t>Clipping: </a:t>
            </a:r>
            <a:r>
              <a:rPr lang="en-US" dirty="0"/>
              <a:t>Craniotomy with surgical ligation</a:t>
            </a:r>
          </a:p>
          <a:p>
            <a:pPr lvl="1"/>
            <a:r>
              <a:rPr lang="en-US" u="sng" dirty="0"/>
              <a:t>Coiling: </a:t>
            </a:r>
            <a:r>
              <a:rPr lang="en-US" dirty="0"/>
              <a:t>endovascular embolization with coils </a:t>
            </a:r>
          </a:p>
          <a:p>
            <a:r>
              <a:rPr lang="en-US" dirty="0"/>
              <a:t>BP management</a:t>
            </a:r>
          </a:p>
          <a:p>
            <a:pPr lvl="1"/>
            <a:r>
              <a:rPr lang="en-US" dirty="0"/>
              <a:t>Before the aneurysm is secured control hypertension and keep SBP &lt;140 mmHg</a:t>
            </a:r>
          </a:p>
          <a:p>
            <a:pPr lvl="1"/>
            <a:r>
              <a:rPr lang="en-US" dirty="0"/>
              <a:t>Avoid hypotension that may result in secondary brain injury from hypoperfusion</a:t>
            </a:r>
          </a:p>
          <a:p>
            <a:pPr lvl="1"/>
            <a:endParaRPr lang="en-US" dirty="0"/>
          </a:p>
        </p:txBody>
      </p:sp>
      <p:pic>
        <p:nvPicPr>
          <p:cNvPr id="5" name="Picture 4" descr="Diagram&#10;&#10;Description automatically generated">
            <a:extLst>
              <a:ext uri="{FF2B5EF4-FFF2-40B4-BE49-F238E27FC236}">
                <a16:creationId xmlns:a16="http://schemas.microsoft.com/office/drawing/2014/main" id="{5531476C-C428-C042-BBCC-2F4F9EE6ECEC}"/>
              </a:ext>
            </a:extLst>
          </p:cNvPr>
          <p:cNvPicPr>
            <a:picLocks noChangeAspect="1"/>
          </p:cNvPicPr>
          <p:nvPr/>
        </p:nvPicPr>
        <p:blipFill>
          <a:blip r:embed="rId2"/>
          <a:stretch>
            <a:fillRect/>
          </a:stretch>
        </p:blipFill>
        <p:spPr>
          <a:xfrm>
            <a:off x="8818368" y="450000"/>
            <a:ext cx="2368439" cy="5508000"/>
          </a:xfrm>
          <a:prstGeom prst="rect">
            <a:avLst/>
          </a:prstGeom>
        </p:spPr>
      </p:pic>
    </p:spTree>
    <p:extLst>
      <p:ext uri="{BB962C8B-B14F-4D97-AF65-F5344CB8AC3E}">
        <p14:creationId xmlns:p14="http://schemas.microsoft.com/office/powerpoint/2010/main" val="94715703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71D199B-5E15-43A6-BA31-F5CDFDB3A9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EC75E7A-43BA-0440-8DA4-D03744481EB8}"/>
              </a:ext>
            </a:extLst>
          </p:cNvPr>
          <p:cNvSpPr>
            <a:spLocks noGrp="1"/>
          </p:cNvSpPr>
          <p:nvPr>
            <p:ph type="title"/>
          </p:nvPr>
        </p:nvSpPr>
        <p:spPr>
          <a:xfrm>
            <a:off x="448056" y="393192"/>
            <a:ext cx="11301984" cy="859536"/>
          </a:xfrm>
        </p:spPr>
        <p:txBody>
          <a:bodyPr anchor="b">
            <a:normAutofit/>
          </a:bodyPr>
          <a:lstStyle/>
          <a:p>
            <a:r>
              <a:rPr lang="en-US" dirty="0"/>
              <a:t>Treatment/ management principles</a:t>
            </a:r>
          </a:p>
        </p:txBody>
      </p:sp>
      <p:cxnSp>
        <p:nvCxnSpPr>
          <p:cNvPr id="10" name="Straight Connector 9">
            <a:extLst>
              <a:ext uri="{FF2B5EF4-FFF2-40B4-BE49-F238E27FC236}">
                <a16:creationId xmlns:a16="http://schemas.microsoft.com/office/drawing/2014/main" id="{6C52BBAB-664F-48C3-A5C1-4CE9D3555D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9400" y="16092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C6122B9-4CF5-0F40-AF4B-9373D8D22287}"/>
              </a:ext>
            </a:extLst>
          </p:cNvPr>
          <p:cNvSpPr>
            <a:spLocks noGrp="1"/>
          </p:cNvSpPr>
          <p:nvPr>
            <p:ph idx="1"/>
          </p:nvPr>
        </p:nvSpPr>
        <p:spPr>
          <a:xfrm>
            <a:off x="448055" y="1947672"/>
            <a:ext cx="11301984" cy="4652420"/>
          </a:xfrm>
        </p:spPr>
        <p:txBody>
          <a:bodyPr>
            <a:normAutofit fontScale="92500" lnSpcReduction="20000"/>
          </a:bodyPr>
          <a:lstStyle/>
          <a:p>
            <a:pPr>
              <a:lnSpc>
                <a:spcPct val="110000"/>
              </a:lnSpc>
            </a:pPr>
            <a:r>
              <a:rPr lang="en-US" dirty="0"/>
              <a:t>Hydrocephalus (15-20% of patients with SAH)</a:t>
            </a:r>
          </a:p>
          <a:p>
            <a:pPr lvl="1">
              <a:lnSpc>
                <a:spcPct val="110000"/>
              </a:lnSpc>
            </a:pPr>
            <a:r>
              <a:rPr lang="en-US" dirty="0"/>
              <a:t>Patients will present with decreased level of consciousness, usually have interventricular hemorrhage</a:t>
            </a:r>
          </a:p>
          <a:p>
            <a:pPr lvl="1">
              <a:lnSpc>
                <a:spcPct val="110000"/>
              </a:lnSpc>
            </a:pPr>
            <a:r>
              <a:rPr lang="en-US" dirty="0"/>
              <a:t>Requires placement of an External Ventricular Drain (EVD)</a:t>
            </a:r>
          </a:p>
          <a:p>
            <a:pPr>
              <a:lnSpc>
                <a:spcPct val="110000"/>
              </a:lnSpc>
            </a:pPr>
            <a:r>
              <a:rPr lang="en-US" dirty="0"/>
              <a:t>Re-bleeding</a:t>
            </a:r>
          </a:p>
          <a:p>
            <a:pPr lvl="1">
              <a:lnSpc>
                <a:spcPct val="110000"/>
              </a:lnSpc>
            </a:pPr>
            <a:r>
              <a:rPr lang="en-US" dirty="0"/>
              <a:t>Occurs in 4% of patients in first 24 hours if aneurysm is unprotected </a:t>
            </a:r>
          </a:p>
          <a:p>
            <a:pPr lvl="1">
              <a:lnSpc>
                <a:spcPct val="110000"/>
              </a:lnSpc>
            </a:pPr>
            <a:r>
              <a:rPr lang="en-US" dirty="0"/>
              <a:t>Highest risk in 1</a:t>
            </a:r>
            <a:r>
              <a:rPr lang="en-US" baseline="30000" dirty="0"/>
              <a:t>st</a:t>
            </a:r>
            <a:r>
              <a:rPr lang="en-US" dirty="0"/>
              <a:t> day, but up to 2 weeks out</a:t>
            </a:r>
          </a:p>
          <a:p>
            <a:pPr lvl="1">
              <a:lnSpc>
                <a:spcPct val="110000"/>
              </a:lnSpc>
            </a:pPr>
            <a:r>
              <a:rPr lang="en-US" dirty="0"/>
              <a:t>Prevent by securing the aneurysm within first 24 hours </a:t>
            </a:r>
          </a:p>
          <a:p>
            <a:pPr>
              <a:lnSpc>
                <a:spcPct val="110000"/>
              </a:lnSpc>
            </a:pPr>
            <a:r>
              <a:rPr lang="en-US" b="1" dirty="0">
                <a:solidFill>
                  <a:srgbClr val="92D050">
                    <a:alpha val="55000"/>
                  </a:srgbClr>
                </a:solidFill>
              </a:rPr>
              <a:t>Vasospasm </a:t>
            </a:r>
            <a:r>
              <a:rPr lang="en-US" dirty="0"/>
              <a:t>– delayed cerebral ischemia (DCI)</a:t>
            </a:r>
          </a:p>
          <a:p>
            <a:pPr lvl="1">
              <a:lnSpc>
                <a:spcPct val="110000"/>
              </a:lnSpc>
            </a:pPr>
            <a:r>
              <a:rPr lang="en-US" dirty="0"/>
              <a:t>Can occur up to 21 days after SAH</a:t>
            </a:r>
          </a:p>
          <a:p>
            <a:pPr lvl="1">
              <a:lnSpc>
                <a:spcPct val="110000"/>
              </a:lnSpc>
            </a:pPr>
            <a:r>
              <a:rPr lang="en-US" dirty="0"/>
              <a:t>Patients will have sudden neurological deficits on exam</a:t>
            </a:r>
          </a:p>
          <a:p>
            <a:pPr lvl="1">
              <a:lnSpc>
                <a:spcPct val="110000"/>
              </a:lnSpc>
            </a:pPr>
            <a:r>
              <a:rPr lang="en-US" u="sng" dirty="0"/>
              <a:t>Nimodipine</a:t>
            </a:r>
            <a:r>
              <a:rPr lang="en-US" dirty="0"/>
              <a:t> (calcium channel blocker) is only approved drug therapy to reduce vasospasm</a:t>
            </a:r>
          </a:p>
          <a:p>
            <a:pPr lvl="1">
              <a:lnSpc>
                <a:spcPct val="110000"/>
              </a:lnSpc>
            </a:pPr>
            <a:r>
              <a:rPr lang="en-US" dirty="0"/>
              <a:t>May require intra-arterial drug therapy and/or angioplasty </a:t>
            </a:r>
          </a:p>
          <a:p>
            <a:pPr marL="1944" indent="0">
              <a:lnSpc>
                <a:spcPct val="110000"/>
              </a:lnSpc>
              <a:buNone/>
            </a:pPr>
            <a:endParaRPr lang="en-US" dirty="0"/>
          </a:p>
        </p:txBody>
      </p:sp>
    </p:spTree>
    <p:extLst>
      <p:ext uri="{BB962C8B-B14F-4D97-AF65-F5344CB8AC3E}">
        <p14:creationId xmlns:p14="http://schemas.microsoft.com/office/powerpoint/2010/main" val="24561134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71D199B-5E15-43A6-BA31-F5CDFDB3A9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BFAA805-E3B9-2F43-9130-3058B0AAFC06}"/>
              </a:ext>
            </a:extLst>
          </p:cNvPr>
          <p:cNvSpPr>
            <a:spLocks noGrp="1"/>
          </p:cNvSpPr>
          <p:nvPr>
            <p:ph type="title"/>
          </p:nvPr>
        </p:nvSpPr>
        <p:spPr>
          <a:xfrm>
            <a:off x="448056" y="393192"/>
            <a:ext cx="11301984" cy="859536"/>
          </a:xfrm>
        </p:spPr>
        <p:txBody>
          <a:bodyPr anchor="b">
            <a:normAutofit/>
          </a:bodyPr>
          <a:lstStyle/>
          <a:p>
            <a:r>
              <a:rPr lang="en-US" dirty="0"/>
              <a:t>Treatment / management principles</a:t>
            </a:r>
          </a:p>
        </p:txBody>
      </p:sp>
      <p:cxnSp>
        <p:nvCxnSpPr>
          <p:cNvPr id="10" name="Straight Connector 9">
            <a:extLst>
              <a:ext uri="{FF2B5EF4-FFF2-40B4-BE49-F238E27FC236}">
                <a16:creationId xmlns:a16="http://schemas.microsoft.com/office/drawing/2014/main" id="{6C52BBAB-664F-48C3-A5C1-4CE9D3555D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9400" y="16092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BF2C7BC-BA53-404A-B144-C010DB7A6959}"/>
              </a:ext>
            </a:extLst>
          </p:cNvPr>
          <p:cNvSpPr>
            <a:spLocks noGrp="1"/>
          </p:cNvSpPr>
          <p:nvPr>
            <p:ph idx="1"/>
          </p:nvPr>
        </p:nvSpPr>
        <p:spPr>
          <a:xfrm>
            <a:off x="448055" y="1947671"/>
            <a:ext cx="11075729" cy="4517115"/>
          </a:xfrm>
        </p:spPr>
        <p:txBody>
          <a:bodyPr>
            <a:normAutofit fontScale="92500"/>
          </a:bodyPr>
          <a:lstStyle/>
          <a:p>
            <a:r>
              <a:rPr lang="en-US" dirty="0"/>
              <a:t>Sodium and volume management</a:t>
            </a:r>
          </a:p>
          <a:p>
            <a:pPr lvl="1"/>
            <a:r>
              <a:rPr lang="en-US" dirty="0"/>
              <a:t>Hyponatremia and hypovolemia are common after SAH and increase risk of complications</a:t>
            </a:r>
          </a:p>
          <a:p>
            <a:pPr lvl="1"/>
            <a:r>
              <a:rPr lang="en-US" dirty="0"/>
              <a:t>Goal is EUNATREMIA and EUVOLEMIA</a:t>
            </a:r>
          </a:p>
          <a:p>
            <a:r>
              <a:rPr lang="en-US" dirty="0"/>
              <a:t>Seizures</a:t>
            </a:r>
          </a:p>
          <a:p>
            <a:pPr lvl="1"/>
            <a:r>
              <a:rPr lang="en-US" dirty="0"/>
              <a:t>5-20% of patients after SAH</a:t>
            </a:r>
          </a:p>
          <a:p>
            <a:pPr lvl="1"/>
            <a:r>
              <a:rPr lang="en-US" dirty="0"/>
              <a:t>May be the presenting symptom in 8% of patients</a:t>
            </a:r>
          </a:p>
          <a:p>
            <a:pPr lvl="1"/>
            <a:r>
              <a:rPr lang="en-US" dirty="0" err="1"/>
              <a:t>Prophylatic</a:t>
            </a:r>
            <a:r>
              <a:rPr lang="en-US" dirty="0"/>
              <a:t> anti-epileptic drugs (AEDs) are controversial</a:t>
            </a:r>
          </a:p>
          <a:p>
            <a:pPr lvl="1"/>
            <a:r>
              <a:rPr lang="en-US" dirty="0"/>
              <a:t>Treat seizures if they occur and then continue AEDs for the duration of hospitalization</a:t>
            </a:r>
          </a:p>
          <a:p>
            <a:pPr lvl="1"/>
            <a:r>
              <a:rPr lang="en-US" dirty="0"/>
              <a:t>Low threshold for </a:t>
            </a:r>
            <a:r>
              <a:rPr lang="en-US" dirty="0" err="1"/>
              <a:t>cEEG</a:t>
            </a:r>
            <a:r>
              <a:rPr lang="en-US" dirty="0"/>
              <a:t> to rule out non convulsive status in patients with depressed mental status</a:t>
            </a:r>
          </a:p>
        </p:txBody>
      </p:sp>
    </p:spTree>
    <p:extLst>
      <p:ext uri="{BB962C8B-B14F-4D97-AF65-F5344CB8AC3E}">
        <p14:creationId xmlns:p14="http://schemas.microsoft.com/office/powerpoint/2010/main" val="418311747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71D199B-5E15-43A6-BA31-F5CDFDB3A9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B3FFCFB-D934-6247-871F-1B4E4702E7DB}"/>
              </a:ext>
            </a:extLst>
          </p:cNvPr>
          <p:cNvSpPr>
            <a:spLocks noGrp="1"/>
          </p:cNvSpPr>
          <p:nvPr>
            <p:ph type="title"/>
          </p:nvPr>
        </p:nvSpPr>
        <p:spPr>
          <a:xfrm>
            <a:off x="448056" y="393192"/>
            <a:ext cx="11301984" cy="859536"/>
          </a:xfrm>
        </p:spPr>
        <p:txBody>
          <a:bodyPr anchor="b">
            <a:normAutofit/>
          </a:bodyPr>
          <a:lstStyle/>
          <a:p>
            <a:r>
              <a:rPr lang="en-US" dirty="0"/>
              <a:t>Outcomes </a:t>
            </a:r>
          </a:p>
        </p:txBody>
      </p:sp>
      <p:cxnSp>
        <p:nvCxnSpPr>
          <p:cNvPr id="10" name="Straight Connector 9">
            <a:extLst>
              <a:ext uri="{FF2B5EF4-FFF2-40B4-BE49-F238E27FC236}">
                <a16:creationId xmlns:a16="http://schemas.microsoft.com/office/drawing/2014/main" id="{6C52BBAB-664F-48C3-A5C1-4CE9D3555D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9400" y="16092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71169A3-03A2-904C-9274-552110F10864}"/>
              </a:ext>
            </a:extLst>
          </p:cNvPr>
          <p:cNvSpPr>
            <a:spLocks noGrp="1"/>
          </p:cNvSpPr>
          <p:nvPr>
            <p:ph idx="1"/>
          </p:nvPr>
        </p:nvSpPr>
        <p:spPr>
          <a:xfrm>
            <a:off x="448056" y="1947672"/>
            <a:ext cx="7379208" cy="4005072"/>
          </a:xfrm>
        </p:spPr>
        <p:txBody>
          <a:bodyPr>
            <a:normAutofit/>
          </a:bodyPr>
          <a:lstStyle/>
          <a:p>
            <a:r>
              <a:rPr lang="en-US" dirty="0"/>
              <a:t>~20% of SAH patients treated at experience high volume centers do not survive to discharge</a:t>
            </a:r>
          </a:p>
          <a:p>
            <a:r>
              <a:rPr lang="en-US" dirty="0"/>
              <a:t>Survivors are disabled by cognitive impairment, long term problems in memory, concentration, executive function, depression, anxiety</a:t>
            </a:r>
          </a:p>
          <a:p>
            <a:r>
              <a:rPr lang="en-US" dirty="0"/>
              <a:t>Cognitive and physical rehabilitation essential for maximizing recovery </a:t>
            </a:r>
          </a:p>
        </p:txBody>
      </p:sp>
    </p:spTree>
    <p:extLst>
      <p:ext uri="{BB962C8B-B14F-4D97-AF65-F5344CB8AC3E}">
        <p14:creationId xmlns:p14="http://schemas.microsoft.com/office/powerpoint/2010/main" val="257147895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1BFD0-915C-BA44-9EF6-15B60B74620F}"/>
              </a:ext>
            </a:extLst>
          </p:cNvPr>
          <p:cNvSpPr>
            <a:spLocks noGrp="1"/>
          </p:cNvSpPr>
          <p:nvPr>
            <p:ph type="title"/>
          </p:nvPr>
        </p:nvSpPr>
        <p:spPr/>
        <p:txBody>
          <a:bodyPr/>
          <a:lstStyle/>
          <a:p>
            <a:r>
              <a:rPr lang="en-US" dirty="0"/>
              <a:t>Venous Thrombosis</a:t>
            </a:r>
          </a:p>
        </p:txBody>
      </p:sp>
      <p:sp>
        <p:nvSpPr>
          <p:cNvPr id="3" name="Text Placeholder 2">
            <a:extLst>
              <a:ext uri="{FF2B5EF4-FFF2-40B4-BE49-F238E27FC236}">
                <a16:creationId xmlns:a16="http://schemas.microsoft.com/office/drawing/2014/main" id="{8A83E81D-42CA-2148-A94D-56BCF909765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9787766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8F66-980E-FB46-8A0E-A143E619A285}"/>
              </a:ext>
            </a:extLst>
          </p:cNvPr>
          <p:cNvSpPr>
            <a:spLocks noGrp="1"/>
          </p:cNvSpPr>
          <p:nvPr>
            <p:ph type="title"/>
          </p:nvPr>
        </p:nvSpPr>
        <p:spPr>
          <a:xfrm>
            <a:off x="448056" y="388800"/>
            <a:ext cx="11300532" cy="986400"/>
          </a:xfrm>
        </p:spPr>
        <p:txBody>
          <a:bodyPr anchor="b">
            <a:normAutofit/>
          </a:bodyPr>
          <a:lstStyle/>
          <a:p>
            <a:r>
              <a:rPr lang="en-US" sz="6400" dirty="0"/>
              <a:t>Cerebral Venous Thrombosis</a:t>
            </a:r>
          </a:p>
        </p:txBody>
      </p:sp>
      <p:sp>
        <p:nvSpPr>
          <p:cNvPr id="3" name="Content Placeholder 2">
            <a:extLst>
              <a:ext uri="{FF2B5EF4-FFF2-40B4-BE49-F238E27FC236}">
                <a16:creationId xmlns:a16="http://schemas.microsoft.com/office/drawing/2014/main" id="{500FDCA1-AB56-A44B-908F-D9F16A1977D7}"/>
              </a:ext>
            </a:extLst>
          </p:cNvPr>
          <p:cNvSpPr>
            <a:spLocks noGrp="1"/>
          </p:cNvSpPr>
          <p:nvPr>
            <p:ph idx="1"/>
          </p:nvPr>
        </p:nvSpPr>
        <p:spPr>
          <a:xfrm>
            <a:off x="5756030" y="1570892"/>
            <a:ext cx="5990769" cy="4898308"/>
          </a:xfrm>
        </p:spPr>
        <p:txBody>
          <a:bodyPr>
            <a:normAutofit/>
          </a:bodyPr>
          <a:lstStyle/>
          <a:p>
            <a:r>
              <a:rPr lang="en-US" sz="2000" dirty="0"/>
              <a:t>Thrombosis of the </a:t>
            </a:r>
            <a:r>
              <a:rPr lang="en-US" sz="2000" dirty="0" err="1"/>
              <a:t>dural</a:t>
            </a:r>
            <a:r>
              <a:rPr lang="en-US" sz="2000" dirty="0"/>
              <a:t> sinus and/or cerebral veins (CVT) </a:t>
            </a:r>
          </a:p>
          <a:p>
            <a:pPr lvl="1"/>
            <a:r>
              <a:rPr lang="en-US" sz="2000" dirty="0"/>
              <a:t>most commonly affected venous sinus is the superior sagittal (62%) followed by transverse sinus (41% to 45%)</a:t>
            </a:r>
          </a:p>
          <a:p>
            <a:r>
              <a:rPr lang="en-US" sz="2000" dirty="0"/>
              <a:t>Causes dysfunction by 2 mechanisms:</a:t>
            </a:r>
          </a:p>
          <a:p>
            <a:pPr lvl="1"/>
            <a:r>
              <a:rPr lang="en-US" sz="2000" dirty="0"/>
              <a:t>(1) </a:t>
            </a:r>
            <a:r>
              <a:rPr lang="en-US" sz="2000" b="1" dirty="0">
                <a:solidFill>
                  <a:srgbClr val="92D050">
                    <a:alpha val="55000"/>
                  </a:srgbClr>
                </a:solidFill>
              </a:rPr>
              <a:t>Localized edema </a:t>
            </a:r>
            <a:r>
              <a:rPr lang="en-US" sz="2000" dirty="0"/>
              <a:t>of the brain and venous infarction. </a:t>
            </a:r>
          </a:p>
          <a:p>
            <a:pPr lvl="1"/>
            <a:r>
              <a:rPr lang="en-US" sz="2000" dirty="0"/>
              <a:t>(2) Thrombosis of the major sinuses leads to </a:t>
            </a:r>
            <a:r>
              <a:rPr lang="en-US" sz="2000" b="1" dirty="0">
                <a:solidFill>
                  <a:srgbClr val="92D050">
                    <a:alpha val="55000"/>
                  </a:srgbClr>
                </a:solidFill>
              </a:rPr>
              <a:t>intracranial hypertension</a:t>
            </a:r>
            <a:r>
              <a:rPr lang="en-US" sz="2000" dirty="0"/>
              <a:t> as a result of increased venous pressure and impaired absorption of CSF - </a:t>
            </a:r>
            <a:r>
              <a:rPr lang="en-US" sz="2000" b="1" dirty="0">
                <a:solidFill>
                  <a:srgbClr val="92D050">
                    <a:alpha val="55000"/>
                  </a:srgbClr>
                </a:solidFill>
              </a:rPr>
              <a:t>hydrocephalus.</a:t>
            </a:r>
          </a:p>
        </p:txBody>
      </p:sp>
      <p:pic>
        <p:nvPicPr>
          <p:cNvPr id="5" name="Picture 4" descr="Diagram&#10;&#10;Description automatically generated">
            <a:extLst>
              <a:ext uri="{FF2B5EF4-FFF2-40B4-BE49-F238E27FC236}">
                <a16:creationId xmlns:a16="http://schemas.microsoft.com/office/drawing/2014/main" id="{34454067-A106-9646-98A0-4E0DF0812AD8}"/>
              </a:ext>
            </a:extLst>
          </p:cNvPr>
          <p:cNvPicPr>
            <a:picLocks noChangeAspect="1"/>
          </p:cNvPicPr>
          <p:nvPr/>
        </p:nvPicPr>
        <p:blipFill>
          <a:blip r:embed="rId3"/>
          <a:stretch>
            <a:fillRect/>
          </a:stretch>
        </p:blipFill>
        <p:spPr>
          <a:xfrm>
            <a:off x="237880" y="1795482"/>
            <a:ext cx="5390932" cy="4303835"/>
          </a:xfrm>
          <a:prstGeom prst="rect">
            <a:avLst/>
          </a:prstGeom>
        </p:spPr>
      </p:pic>
    </p:spTree>
    <p:extLst>
      <p:ext uri="{BB962C8B-B14F-4D97-AF65-F5344CB8AC3E}">
        <p14:creationId xmlns:p14="http://schemas.microsoft.com/office/powerpoint/2010/main" val="200190983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1425D08-6505-4F53-9B03-D2F289363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25F43F-D3FC-C049-94BE-17E1D35CDD3D}"/>
              </a:ext>
            </a:extLst>
          </p:cNvPr>
          <p:cNvSpPr>
            <a:spLocks noGrp="1"/>
          </p:cNvSpPr>
          <p:nvPr>
            <p:ph type="title"/>
          </p:nvPr>
        </p:nvSpPr>
        <p:spPr>
          <a:xfrm>
            <a:off x="448056" y="388800"/>
            <a:ext cx="5432044" cy="860400"/>
          </a:xfrm>
        </p:spPr>
        <p:txBody>
          <a:bodyPr anchor="b">
            <a:normAutofit/>
          </a:bodyPr>
          <a:lstStyle/>
          <a:p>
            <a:r>
              <a:rPr lang="en-US" dirty="0"/>
              <a:t>CVT Epidemiology &amp; Risk Factors</a:t>
            </a:r>
          </a:p>
        </p:txBody>
      </p:sp>
      <p:cxnSp>
        <p:nvCxnSpPr>
          <p:cNvPr id="17" name="Straight Connector 16">
            <a:extLst>
              <a:ext uri="{FF2B5EF4-FFF2-40B4-BE49-F238E27FC236}">
                <a16:creationId xmlns:a16="http://schemas.microsoft.com/office/drawing/2014/main" id="{B32E796E-8D19-4926-B7B8-653B019390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0000" y="1609200"/>
            <a:ext cx="5434694"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C5AF808-3969-C545-8874-8853898C1F31}"/>
              </a:ext>
            </a:extLst>
          </p:cNvPr>
          <p:cNvSpPr>
            <a:spLocks noGrp="1"/>
          </p:cNvSpPr>
          <p:nvPr>
            <p:ph idx="1"/>
          </p:nvPr>
        </p:nvSpPr>
        <p:spPr>
          <a:xfrm>
            <a:off x="448056" y="1944000"/>
            <a:ext cx="5432044" cy="4609200"/>
          </a:xfrm>
        </p:spPr>
        <p:txBody>
          <a:bodyPr>
            <a:normAutofit/>
          </a:bodyPr>
          <a:lstStyle/>
          <a:p>
            <a:pPr>
              <a:lnSpc>
                <a:spcPct val="110000"/>
              </a:lnSpc>
            </a:pPr>
            <a:r>
              <a:rPr lang="en-US" sz="1800" dirty="0"/>
              <a:t>Rare type of stroke</a:t>
            </a:r>
          </a:p>
          <a:p>
            <a:pPr lvl="1">
              <a:lnSpc>
                <a:spcPct val="110000"/>
              </a:lnSpc>
            </a:pPr>
            <a:r>
              <a:rPr lang="en-US" sz="1800" dirty="0"/>
              <a:t>0.5% of patients with strokes</a:t>
            </a:r>
          </a:p>
          <a:p>
            <a:pPr lvl="1">
              <a:lnSpc>
                <a:spcPct val="110000"/>
              </a:lnSpc>
            </a:pPr>
            <a:r>
              <a:rPr lang="en-US" sz="1800" dirty="0"/>
              <a:t>Primarily younger individuals </a:t>
            </a:r>
            <a:r>
              <a:rPr lang="en-US" sz="1800" b="1" dirty="0"/>
              <a:t>age &lt;50 </a:t>
            </a:r>
            <a:r>
              <a:rPr lang="en-US" sz="1800" b="1" dirty="0" err="1"/>
              <a:t>yo</a:t>
            </a:r>
            <a:r>
              <a:rPr lang="en-US" sz="1800" b="1" dirty="0"/>
              <a:t>, </a:t>
            </a:r>
            <a:r>
              <a:rPr lang="en-US" sz="1800" dirty="0"/>
              <a:t>median age 37 </a:t>
            </a:r>
            <a:r>
              <a:rPr lang="en-US" sz="1800" dirty="0" err="1"/>
              <a:t>yo</a:t>
            </a:r>
            <a:r>
              <a:rPr lang="en-US" sz="1800" dirty="0"/>
              <a:t> </a:t>
            </a:r>
          </a:p>
          <a:p>
            <a:pPr>
              <a:lnSpc>
                <a:spcPct val="110000"/>
              </a:lnSpc>
            </a:pPr>
            <a:r>
              <a:rPr lang="en-US" sz="1800" dirty="0"/>
              <a:t>75% of CVT cases are in </a:t>
            </a:r>
            <a:r>
              <a:rPr lang="en-US" sz="1800" b="1" dirty="0"/>
              <a:t>women</a:t>
            </a:r>
          </a:p>
          <a:p>
            <a:pPr>
              <a:lnSpc>
                <a:spcPct val="110000"/>
              </a:lnSpc>
            </a:pPr>
            <a:r>
              <a:rPr lang="en-US" sz="1800" dirty="0"/>
              <a:t>Incidence in children is 0.67 per 100,000 per year</a:t>
            </a:r>
          </a:p>
          <a:p>
            <a:pPr lvl="1">
              <a:lnSpc>
                <a:spcPct val="110000"/>
              </a:lnSpc>
            </a:pPr>
            <a:r>
              <a:rPr lang="en-US" sz="1800" dirty="0"/>
              <a:t>43% of those in neonates</a:t>
            </a:r>
          </a:p>
          <a:p>
            <a:pPr>
              <a:lnSpc>
                <a:spcPct val="110000"/>
              </a:lnSpc>
            </a:pPr>
            <a:r>
              <a:rPr lang="en-US" sz="1800" dirty="0"/>
              <a:t>Risk Factors: Female Sex (3:1)</a:t>
            </a:r>
          </a:p>
          <a:p>
            <a:pPr lvl="1">
              <a:lnSpc>
                <a:spcPct val="110000"/>
              </a:lnSpc>
            </a:pPr>
            <a:r>
              <a:rPr lang="en-US" sz="1800" dirty="0"/>
              <a:t>65% of identifiable causes of CVT in women related to a risk factor unique to women: </a:t>
            </a:r>
          </a:p>
          <a:p>
            <a:pPr lvl="2">
              <a:lnSpc>
                <a:spcPct val="110000"/>
              </a:lnSpc>
            </a:pPr>
            <a:r>
              <a:rPr lang="en-US" sz="1800" dirty="0"/>
              <a:t>oral contraceptives, pregnancy, post partum period, and hormone therapy.</a:t>
            </a:r>
          </a:p>
          <a:p>
            <a:pPr lvl="1">
              <a:lnSpc>
                <a:spcPct val="110000"/>
              </a:lnSpc>
            </a:pPr>
            <a:endParaRPr lang="en-US" sz="1500" dirty="0"/>
          </a:p>
          <a:p>
            <a:pPr>
              <a:lnSpc>
                <a:spcPct val="110000"/>
              </a:lnSpc>
            </a:pPr>
            <a:endParaRPr lang="en-US" sz="1500" dirty="0"/>
          </a:p>
        </p:txBody>
      </p:sp>
      <p:pic>
        <p:nvPicPr>
          <p:cNvPr id="6" name="Picture 5" descr="Table&#10;&#10;Description automatically generated">
            <a:extLst>
              <a:ext uri="{FF2B5EF4-FFF2-40B4-BE49-F238E27FC236}">
                <a16:creationId xmlns:a16="http://schemas.microsoft.com/office/drawing/2014/main" id="{7FA7C5B7-3D5F-9E4B-9CC5-2F5231A20010}"/>
              </a:ext>
            </a:extLst>
          </p:cNvPr>
          <p:cNvPicPr>
            <a:picLocks noChangeAspect="1"/>
          </p:cNvPicPr>
          <p:nvPr/>
        </p:nvPicPr>
        <p:blipFill rotWithShape="1">
          <a:blip r:embed="rId2"/>
          <a:srcRect r="-2" b="1049"/>
          <a:stretch/>
        </p:blipFill>
        <p:spPr>
          <a:xfrm>
            <a:off x="6307308" y="649291"/>
            <a:ext cx="5441280" cy="5508000"/>
          </a:xfrm>
          <a:prstGeom prst="rect">
            <a:avLst/>
          </a:prstGeom>
        </p:spPr>
      </p:pic>
    </p:spTree>
    <p:extLst>
      <p:ext uri="{BB962C8B-B14F-4D97-AF65-F5344CB8AC3E}">
        <p14:creationId xmlns:p14="http://schemas.microsoft.com/office/powerpoint/2010/main" val="428560327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D86DADD-940E-4CC1-AF60-0D36FB29B1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749C0B-A9CD-8445-872F-D734D05AAF0F}"/>
              </a:ext>
            </a:extLst>
          </p:cNvPr>
          <p:cNvSpPr>
            <a:spLocks noGrp="1"/>
          </p:cNvSpPr>
          <p:nvPr>
            <p:ph type="title"/>
          </p:nvPr>
        </p:nvSpPr>
        <p:spPr>
          <a:xfrm>
            <a:off x="448056" y="388800"/>
            <a:ext cx="5432044" cy="860400"/>
          </a:xfrm>
        </p:spPr>
        <p:txBody>
          <a:bodyPr anchor="b">
            <a:normAutofit/>
          </a:bodyPr>
          <a:lstStyle/>
          <a:p>
            <a:r>
              <a:rPr lang="en-US" dirty="0"/>
              <a:t>Clinical presentation</a:t>
            </a:r>
          </a:p>
        </p:txBody>
      </p:sp>
      <p:cxnSp>
        <p:nvCxnSpPr>
          <p:cNvPr id="21" name="Straight Connector 20">
            <a:extLst>
              <a:ext uri="{FF2B5EF4-FFF2-40B4-BE49-F238E27FC236}">
                <a16:creationId xmlns:a16="http://schemas.microsoft.com/office/drawing/2014/main" id="{B32E796E-8D19-4926-B7B8-653B019390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0000" y="1609200"/>
            <a:ext cx="5434694"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9" name="Content Placeholder 8">
            <a:extLst>
              <a:ext uri="{FF2B5EF4-FFF2-40B4-BE49-F238E27FC236}">
                <a16:creationId xmlns:a16="http://schemas.microsoft.com/office/drawing/2014/main" id="{01A00BD0-AFEC-4FAC-A1D0-68B17D358D8B}"/>
              </a:ext>
            </a:extLst>
          </p:cNvPr>
          <p:cNvSpPr>
            <a:spLocks noGrp="1"/>
          </p:cNvSpPr>
          <p:nvPr>
            <p:ph idx="1"/>
          </p:nvPr>
        </p:nvSpPr>
        <p:spPr>
          <a:xfrm>
            <a:off x="448056" y="1944000"/>
            <a:ext cx="11300532" cy="4006800"/>
          </a:xfrm>
        </p:spPr>
        <p:txBody>
          <a:bodyPr>
            <a:normAutofit lnSpcReduction="10000"/>
          </a:bodyPr>
          <a:lstStyle/>
          <a:p>
            <a:r>
              <a:rPr lang="en-US" dirty="0"/>
              <a:t>(1) isolated </a:t>
            </a:r>
            <a:r>
              <a:rPr lang="en-US" b="1" dirty="0">
                <a:solidFill>
                  <a:srgbClr val="92D050">
                    <a:alpha val="55000"/>
                  </a:srgbClr>
                </a:solidFill>
              </a:rPr>
              <a:t>intracranial hypertension</a:t>
            </a:r>
            <a:r>
              <a:rPr lang="en-US" dirty="0"/>
              <a:t>: </a:t>
            </a:r>
          </a:p>
          <a:p>
            <a:pPr lvl="1"/>
            <a:r>
              <a:rPr lang="en-US" dirty="0"/>
              <a:t>Headache</a:t>
            </a:r>
          </a:p>
          <a:p>
            <a:pPr lvl="1"/>
            <a:r>
              <a:rPr lang="en-US" dirty="0"/>
              <a:t>Diplopia</a:t>
            </a:r>
          </a:p>
          <a:p>
            <a:pPr lvl="1"/>
            <a:r>
              <a:rPr lang="en-US" dirty="0"/>
              <a:t>visual impairment, severe papilledema</a:t>
            </a:r>
          </a:p>
          <a:p>
            <a:pPr lvl="1"/>
            <a:r>
              <a:rPr lang="en-US" dirty="0"/>
              <a:t>decreased level of consciousness</a:t>
            </a:r>
          </a:p>
          <a:p>
            <a:pPr lvl="1"/>
            <a:r>
              <a:rPr lang="en-US" dirty="0"/>
              <a:t>sixth nerve palsy</a:t>
            </a:r>
          </a:p>
          <a:p>
            <a:r>
              <a:rPr lang="en-US" dirty="0"/>
              <a:t>(2) </a:t>
            </a:r>
            <a:r>
              <a:rPr lang="en-US" b="1" dirty="0">
                <a:solidFill>
                  <a:srgbClr val="92D050">
                    <a:alpha val="55000"/>
                  </a:srgbClr>
                </a:solidFill>
              </a:rPr>
              <a:t>focal neurologic deficit </a:t>
            </a:r>
            <a:r>
              <a:rPr lang="en-US" dirty="0"/>
              <a:t>(</a:t>
            </a:r>
            <a:r>
              <a:rPr lang="en-US" dirty="0" err="1"/>
              <a:t>eg</a:t>
            </a:r>
            <a:r>
              <a:rPr lang="en-US" dirty="0"/>
              <a:t>, motor weakness, sensory deficit, aphasia) </a:t>
            </a:r>
          </a:p>
          <a:p>
            <a:r>
              <a:rPr lang="en-US" dirty="0"/>
              <a:t>(3) </a:t>
            </a:r>
            <a:r>
              <a:rPr lang="en-US" b="1" dirty="0">
                <a:solidFill>
                  <a:srgbClr val="92D050">
                    <a:alpha val="55000"/>
                  </a:srgbClr>
                </a:solidFill>
              </a:rPr>
              <a:t>encephalopathy</a:t>
            </a:r>
          </a:p>
          <a:p>
            <a:r>
              <a:rPr lang="en-US" dirty="0"/>
              <a:t>(4) </a:t>
            </a:r>
            <a:r>
              <a:rPr lang="en-US" b="1" dirty="0">
                <a:solidFill>
                  <a:srgbClr val="92D050">
                    <a:alpha val="55000"/>
                  </a:srgbClr>
                </a:solidFill>
              </a:rPr>
              <a:t>seizures</a:t>
            </a:r>
            <a:r>
              <a:rPr lang="en-US" dirty="0"/>
              <a:t> (with or without a focal neurologic deficit)</a:t>
            </a:r>
          </a:p>
        </p:txBody>
      </p:sp>
      <p:pic>
        <p:nvPicPr>
          <p:cNvPr id="5" name="Content Placeholder 4" descr="Table&#10;&#10;Description automatically generated with medium confidence">
            <a:extLst>
              <a:ext uri="{FF2B5EF4-FFF2-40B4-BE49-F238E27FC236}">
                <a16:creationId xmlns:a16="http://schemas.microsoft.com/office/drawing/2014/main" id="{FE9EA64A-0933-F742-9792-8CEBD36C1283}"/>
              </a:ext>
            </a:extLst>
          </p:cNvPr>
          <p:cNvPicPr>
            <a:picLocks noChangeAspect="1"/>
          </p:cNvPicPr>
          <p:nvPr/>
        </p:nvPicPr>
        <p:blipFill>
          <a:blip r:embed="rId2"/>
          <a:stretch>
            <a:fillRect/>
          </a:stretch>
        </p:blipFill>
        <p:spPr>
          <a:xfrm>
            <a:off x="6315410" y="1036800"/>
            <a:ext cx="5441280" cy="2135701"/>
          </a:xfrm>
          <a:prstGeom prst="rect">
            <a:avLst/>
          </a:prstGeom>
        </p:spPr>
      </p:pic>
    </p:spTree>
    <p:extLst>
      <p:ext uri="{BB962C8B-B14F-4D97-AF65-F5344CB8AC3E}">
        <p14:creationId xmlns:p14="http://schemas.microsoft.com/office/powerpoint/2010/main" val="16676820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1D9D766-3B0F-47FE-96C2-31AB8A958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CFA57A-3FD7-F346-9B93-DCC6FB07A743}"/>
              </a:ext>
            </a:extLst>
          </p:cNvPr>
          <p:cNvSpPr>
            <a:spLocks noGrp="1"/>
          </p:cNvSpPr>
          <p:nvPr>
            <p:ph type="title"/>
          </p:nvPr>
        </p:nvSpPr>
        <p:spPr>
          <a:xfrm>
            <a:off x="448056" y="388800"/>
            <a:ext cx="3452432" cy="860400"/>
          </a:xfrm>
        </p:spPr>
        <p:txBody>
          <a:bodyPr anchor="b">
            <a:normAutofit/>
          </a:bodyPr>
          <a:lstStyle/>
          <a:p>
            <a:r>
              <a:rPr lang="en-US" sz="3000" dirty="0"/>
              <a:t>Diagnosis </a:t>
            </a:r>
            <a:br>
              <a:rPr lang="en-US" sz="3000" dirty="0"/>
            </a:br>
            <a:endParaRPr lang="en-US" sz="3000" dirty="0"/>
          </a:p>
        </p:txBody>
      </p:sp>
      <p:cxnSp>
        <p:nvCxnSpPr>
          <p:cNvPr id="14" name="Straight Connector 13">
            <a:extLst>
              <a:ext uri="{FF2B5EF4-FFF2-40B4-BE49-F238E27FC236}">
                <a16:creationId xmlns:a16="http://schemas.microsoft.com/office/drawing/2014/main" id="{B32E796E-8D19-4926-B7B8-653B019390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0000" y="1609200"/>
            <a:ext cx="3454116"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A57EF7D-31B4-B24E-A26E-A70337475840}"/>
              </a:ext>
            </a:extLst>
          </p:cNvPr>
          <p:cNvSpPr>
            <a:spLocks noGrp="1"/>
          </p:cNvSpPr>
          <p:nvPr>
            <p:ph idx="1"/>
          </p:nvPr>
        </p:nvSpPr>
        <p:spPr>
          <a:xfrm>
            <a:off x="269632" y="1756431"/>
            <a:ext cx="3917583" cy="4006800"/>
          </a:xfrm>
        </p:spPr>
        <p:txBody>
          <a:bodyPr>
            <a:noAutofit/>
          </a:bodyPr>
          <a:lstStyle/>
          <a:p>
            <a:pPr>
              <a:lnSpc>
                <a:spcPct val="110000"/>
              </a:lnSpc>
            </a:pPr>
            <a:r>
              <a:rPr lang="en-US" sz="1800" dirty="0"/>
              <a:t>High level of clinical suspicion needed</a:t>
            </a:r>
          </a:p>
          <a:p>
            <a:pPr>
              <a:lnSpc>
                <a:spcPct val="110000"/>
              </a:lnSpc>
            </a:pPr>
            <a:r>
              <a:rPr lang="en-US" sz="1800" dirty="0"/>
              <a:t>Labs: d-dimer</a:t>
            </a:r>
          </a:p>
          <a:p>
            <a:pPr lvl="1">
              <a:lnSpc>
                <a:spcPct val="110000"/>
              </a:lnSpc>
            </a:pPr>
            <a:r>
              <a:rPr lang="en-US" sz="1800" dirty="0"/>
              <a:t>Elevated in acute phase or with extensive clot</a:t>
            </a:r>
          </a:p>
          <a:p>
            <a:pPr lvl="1">
              <a:lnSpc>
                <a:spcPct val="110000"/>
              </a:lnSpc>
            </a:pPr>
            <a:r>
              <a:rPr lang="en-US" sz="1800" dirty="0"/>
              <a:t>In subacute/chronic phase low d-dimer doesn’t rule out CVT</a:t>
            </a:r>
          </a:p>
          <a:p>
            <a:pPr>
              <a:lnSpc>
                <a:spcPct val="110000"/>
              </a:lnSpc>
            </a:pPr>
            <a:r>
              <a:rPr lang="en-US" sz="1800" dirty="0"/>
              <a:t>Imaging: </a:t>
            </a:r>
          </a:p>
          <a:p>
            <a:pPr lvl="1">
              <a:lnSpc>
                <a:spcPct val="110000"/>
              </a:lnSpc>
            </a:pPr>
            <a:r>
              <a:rPr lang="en-US" sz="1800" dirty="0"/>
              <a:t>CT brain</a:t>
            </a:r>
          </a:p>
          <a:p>
            <a:pPr lvl="1">
              <a:lnSpc>
                <a:spcPct val="110000"/>
              </a:lnSpc>
            </a:pPr>
            <a:r>
              <a:rPr lang="en-US" sz="1800" dirty="0"/>
              <a:t>CT venogram</a:t>
            </a:r>
          </a:p>
          <a:p>
            <a:pPr lvl="1">
              <a:lnSpc>
                <a:spcPct val="110000"/>
              </a:lnSpc>
            </a:pPr>
            <a:r>
              <a:rPr lang="en-US" sz="1800" dirty="0"/>
              <a:t>MRI brain</a:t>
            </a:r>
          </a:p>
          <a:p>
            <a:pPr lvl="1">
              <a:lnSpc>
                <a:spcPct val="110000"/>
              </a:lnSpc>
            </a:pPr>
            <a:r>
              <a:rPr lang="en-US" sz="1800" dirty="0"/>
              <a:t>Magnetic resonance venogram (MRV)</a:t>
            </a:r>
          </a:p>
          <a:p>
            <a:pPr lvl="1">
              <a:lnSpc>
                <a:spcPct val="110000"/>
              </a:lnSpc>
            </a:pPr>
            <a:r>
              <a:rPr lang="en-US" sz="1800" dirty="0"/>
              <a:t>Conventional angiogram</a:t>
            </a:r>
          </a:p>
        </p:txBody>
      </p:sp>
      <p:pic>
        <p:nvPicPr>
          <p:cNvPr id="5" name="Picture 4" descr="A picture containing timeline&#10;&#10;Description automatically generated">
            <a:extLst>
              <a:ext uri="{FF2B5EF4-FFF2-40B4-BE49-F238E27FC236}">
                <a16:creationId xmlns:a16="http://schemas.microsoft.com/office/drawing/2014/main" id="{054ACCF4-647D-F843-81EB-F19FE08BE250}"/>
              </a:ext>
            </a:extLst>
          </p:cNvPr>
          <p:cNvPicPr>
            <a:picLocks noChangeAspect="1"/>
          </p:cNvPicPr>
          <p:nvPr/>
        </p:nvPicPr>
        <p:blipFill rotWithShape="1">
          <a:blip r:embed="rId2"/>
          <a:srcRect l="7616" r="4636"/>
          <a:stretch/>
        </p:blipFill>
        <p:spPr>
          <a:xfrm>
            <a:off x="4566505" y="707907"/>
            <a:ext cx="3600687" cy="5508001"/>
          </a:xfrm>
          <a:custGeom>
            <a:avLst/>
            <a:gdLst/>
            <a:ahLst/>
            <a:cxnLst/>
            <a:rect l="l" t="t" r="r" b="b"/>
            <a:pathLst>
              <a:path w="3600687" h="5508001">
                <a:moveTo>
                  <a:pt x="0" y="0"/>
                </a:moveTo>
                <a:lnTo>
                  <a:pt x="3600687" y="0"/>
                </a:lnTo>
                <a:lnTo>
                  <a:pt x="3600687" y="5508001"/>
                </a:lnTo>
                <a:lnTo>
                  <a:pt x="0" y="5508000"/>
                </a:lnTo>
                <a:close/>
              </a:path>
            </a:pathLst>
          </a:custGeom>
        </p:spPr>
      </p:pic>
      <p:pic>
        <p:nvPicPr>
          <p:cNvPr id="7" name="Picture 6" descr="A picture containing text&#10;&#10;Description automatically generated">
            <a:extLst>
              <a:ext uri="{FF2B5EF4-FFF2-40B4-BE49-F238E27FC236}">
                <a16:creationId xmlns:a16="http://schemas.microsoft.com/office/drawing/2014/main" id="{D67CF77C-9BA3-4347-91E8-3C452A9E7F0D}"/>
              </a:ext>
            </a:extLst>
          </p:cNvPr>
          <p:cNvPicPr>
            <a:picLocks noChangeAspect="1"/>
          </p:cNvPicPr>
          <p:nvPr/>
        </p:nvPicPr>
        <p:blipFill rotWithShape="1">
          <a:blip r:embed="rId3"/>
          <a:srcRect l="4217"/>
          <a:stretch/>
        </p:blipFill>
        <p:spPr>
          <a:xfrm>
            <a:off x="8265130" y="707907"/>
            <a:ext cx="3600689" cy="5508001"/>
          </a:xfrm>
          <a:custGeom>
            <a:avLst/>
            <a:gdLst/>
            <a:ahLst/>
            <a:cxnLst/>
            <a:rect l="l" t="t" r="r" b="b"/>
            <a:pathLst>
              <a:path w="3600689" h="5508001">
                <a:moveTo>
                  <a:pt x="0" y="0"/>
                </a:moveTo>
                <a:lnTo>
                  <a:pt x="3600689" y="1"/>
                </a:lnTo>
                <a:lnTo>
                  <a:pt x="3600689" y="5508001"/>
                </a:lnTo>
                <a:lnTo>
                  <a:pt x="0" y="5508001"/>
                </a:lnTo>
                <a:close/>
              </a:path>
            </a:pathLst>
          </a:custGeom>
        </p:spPr>
      </p:pic>
      <p:sp>
        <p:nvSpPr>
          <p:cNvPr id="8" name="TextBox 7">
            <a:extLst>
              <a:ext uri="{FF2B5EF4-FFF2-40B4-BE49-F238E27FC236}">
                <a16:creationId xmlns:a16="http://schemas.microsoft.com/office/drawing/2014/main" id="{8826EAAE-3D6B-E446-8B1D-7D15BA430BB5}"/>
              </a:ext>
            </a:extLst>
          </p:cNvPr>
          <p:cNvSpPr txBox="1"/>
          <p:nvPr/>
        </p:nvSpPr>
        <p:spPr>
          <a:xfrm>
            <a:off x="9716147" y="6352288"/>
            <a:ext cx="698653" cy="369332"/>
          </a:xfrm>
          <a:prstGeom prst="rect">
            <a:avLst/>
          </a:prstGeom>
          <a:noFill/>
        </p:spPr>
        <p:txBody>
          <a:bodyPr wrap="none" rtlCol="0">
            <a:spAutoFit/>
          </a:bodyPr>
          <a:lstStyle/>
          <a:p>
            <a:r>
              <a:rPr lang="en-US" dirty="0"/>
              <a:t>MRV</a:t>
            </a:r>
          </a:p>
        </p:txBody>
      </p:sp>
      <p:sp>
        <p:nvSpPr>
          <p:cNvPr id="9" name="TextBox 8">
            <a:extLst>
              <a:ext uri="{FF2B5EF4-FFF2-40B4-BE49-F238E27FC236}">
                <a16:creationId xmlns:a16="http://schemas.microsoft.com/office/drawing/2014/main" id="{33D4B4FA-6DB9-944F-98CE-53C485A71211}"/>
              </a:ext>
            </a:extLst>
          </p:cNvPr>
          <p:cNvSpPr txBox="1"/>
          <p:nvPr/>
        </p:nvSpPr>
        <p:spPr>
          <a:xfrm>
            <a:off x="5868955" y="328790"/>
            <a:ext cx="995785" cy="369332"/>
          </a:xfrm>
          <a:prstGeom prst="rect">
            <a:avLst/>
          </a:prstGeom>
          <a:noFill/>
        </p:spPr>
        <p:txBody>
          <a:bodyPr wrap="none" rtlCol="0">
            <a:spAutoFit/>
          </a:bodyPr>
          <a:lstStyle/>
          <a:p>
            <a:r>
              <a:rPr lang="en-US" dirty="0"/>
              <a:t>CT head</a:t>
            </a:r>
          </a:p>
        </p:txBody>
      </p:sp>
      <p:sp>
        <p:nvSpPr>
          <p:cNvPr id="10" name="TextBox 9">
            <a:extLst>
              <a:ext uri="{FF2B5EF4-FFF2-40B4-BE49-F238E27FC236}">
                <a16:creationId xmlns:a16="http://schemas.microsoft.com/office/drawing/2014/main" id="{ED39C05F-8286-5E4A-BC64-39D6A77CD799}"/>
              </a:ext>
            </a:extLst>
          </p:cNvPr>
          <p:cNvSpPr txBox="1"/>
          <p:nvPr/>
        </p:nvSpPr>
        <p:spPr>
          <a:xfrm>
            <a:off x="5611384" y="6308895"/>
            <a:ext cx="1510926" cy="369332"/>
          </a:xfrm>
          <a:prstGeom prst="rect">
            <a:avLst/>
          </a:prstGeom>
          <a:noFill/>
        </p:spPr>
        <p:txBody>
          <a:bodyPr wrap="none" rtlCol="0">
            <a:spAutoFit/>
          </a:bodyPr>
          <a:lstStyle/>
          <a:p>
            <a:r>
              <a:rPr lang="en-US" dirty="0"/>
              <a:t>CT venogram</a:t>
            </a:r>
          </a:p>
        </p:txBody>
      </p:sp>
    </p:spTree>
    <p:extLst>
      <p:ext uri="{BB962C8B-B14F-4D97-AF65-F5344CB8AC3E}">
        <p14:creationId xmlns:p14="http://schemas.microsoft.com/office/powerpoint/2010/main" val="226036120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D86DADD-940E-4CC1-AF60-0D36FB29B1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B4B734-4785-FC4E-A682-7D9E9119EBF3}"/>
              </a:ext>
            </a:extLst>
          </p:cNvPr>
          <p:cNvSpPr>
            <a:spLocks noGrp="1"/>
          </p:cNvSpPr>
          <p:nvPr>
            <p:ph type="title"/>
          </p:nvPr>
        </p:nvSpPr>
        <p:spPr>
          <a:xfrm>
            <a:off x="448056" y="388800"/>
            <a:ext cx="5432044" cy="860400"/>
          </a:xfrm>
        </p:spPr>
        <p:txBody>
          <a:bodyPr anchor="b">
            <a:normAutofit/>
          </a:bodyPr>
          <a:lstStyle/>
          <a:p>
            <a:r>
              <a:rPr lang="en-US" dirty="0"/>
              <a:t>Acute Management</a:t>
            </a:r>
          </a:p>
        </p:txBody>
      </p:sp>
      <p:cxnSp>
        <p:nvCxnSpPr>
          <p:cNvPr id="19" name="Straight Connector 18">
            <a:extLst>
              <a:ext uri="{FF2B5EF4-FFF2-40B4-BE49-F238E27FC236}">
                <a16:creationId xmlns:a16="http://schemas.microsoft.com/office/drawing/2014/main" id="{B32E796E-8D19-4926-B7B8-653B019390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0000" y="1609200"/>
            <a:ext cx="5434694"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E6D6AFC-5CF0-984F-B1AD-07E3B92F6E91}"/>
              </a:ext>
            </a:extLst>
          </p:cNvPr>
          <p:cNvSpPr>
            <a:spLocks noGrp="1"/>
          </p:cNvSpPr>
          <p:nvPr>
            <p:ph idx="1"/>
          </p:nvPr>
        </p:nvSpPr>
        <p:spPr>
          <a:xfrm>
            <a:off x="448055" y="1760447"/>
            <a:ext cx="6468560" cy="4609200"/>
          </a:xfrm>
        </p:spPr>
        <p:txBody>
          <a:bodyPr>
            <a:noAutofit/>
          </a:bodyPr>
          <a:lstStyle/>
          <a:p>
            <a:r>
              <a:rPr lang="en-US" sz="1800" b="1" u="sng" dirty="0">
                <a:solidFill>
                  <a:srgbClr val="92D050">
                    <a:alpha val="55000"/>
                  </a:srgbClr>
                </a:solidFill>
              </a:rPr>
              <a:t>Anticoagulation:</a:t>
            </a:r>
          </a:p>
          <a:p>
            <a:pPr lvl="1"/>
            <a:r>
              <a:rPr lang="en-US" sz="1800" dirty="0"/>
              <a:t>Limited evidence from large RCTs</a:t>
            </a:r>
          </a:p>
          <a:p>
            <a:pPr lvl="1"/>
            <a:r>
              <a:rPr lang="en-US" sz="1800" dirty="0"/>
              <a:t>Used to prevent thrombus growth, to facilitate recanalization, and to prevent other thrombotic events such as deep venous thrombosis and pulmonary embolism</a:t>
            </a:r>
          </a:p>
          <a:p>
            <a:r>
              <a:rPr lang="en-US" sz="1800" u="sng" dirty="0"/>
              <a:t>Endovascular Therapy:</a:t>
            </a:r>
            <a:r>
              <a:rPr lang="en-US" sz="1800" dirty="0"/>
              <a:t> thrombectomy or thrombolysis</a:t>
            </a:r>
          </a:p>
          <a:p>
            <a:pPr lvl="1"/>
            <a:r>
              <a:rPr lang="en-US" sz="1800" dirty="0"/>
              <a:t>For patients who develop progressive neurologic deterioration despite intensive medical treatment</a:t>
            </a:r>
          </a:p>
          <a:p>
            <a:r>
              <a:rPr lang="en-US" sz="1800" u="sng" dirty="0"/>
              <a:t>Decompressive Hemicraniectomy</a:t>
            </a:r>
          </a:p>
          <a:p>
            <a:pPr lvl="1"/>
            <a:r>
              <a:rPr lang="en-US" sz="1800" dirty="0"/>
              <a:t>Should be reserved for young patients who develop a malignant hemispheric stroke due to CVT with progressive neurologic deterioration despite intensive medical treatment.</a:t>
            </a:r>
          </a:p>
        </p:txBody>
      </p:sp>
      <p:pic>
        <p:nvPicPr>
          <p:cNvPr id="5" name="Picture 4" descr="Diagram&#10;&#10;Description automatically generated">
            <a:extLst>
              <a:ext uri="{FF2B5EF4-FFF2-40B4-BE49-F238E27FC236}">
                <a16:creationId xmlns:a16="http://schemas.microsoft.com/office/drawing/2014/main" id="{D48B3E4A-7906-8847-98F4-E12D79AD3D6D}"/>
              </a:ext>
            </a:extLst>
          </p:cNvPr>
          <p:cNvPicPr>
            <a:picLocks noChangeAspect="1"/>
          </p:cNvPicPr>
          <p:nvPr/>
        </p:nvPicPr>
        <p:blipFill>
          <a:blip r:embed="rId2"/>
          <a:stretch>
            <a:fillRect/>
          </a:stretch>
        </p:blipFill>
        <p:spPr>
          <a:xfrm>
            <a:off x="7098567" y="1924570"/>
            <a:ext cx="4645377" cy="3484032"/>
          </a:xfrm>
          <a:prstGeom prst="rect">
            <a:avLst/>
          </a:prstGeom>
        </p:spPr>
      </p:pic>
    </p:spTree>
    <p:extLst>
      <p:ext uri="{BB962C8B-B14F-4D97-AF65-F5344CB8AC3E}">
        <p14:creationId xmlns:p14="http://schemas.microsoft.com/office/powerpoint/2010/main" val="82901666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9625A-08A9-BE47-8E8E-75C7E59B4E1F}"/>
              </a:ext>
            </a:extLst>
          </p:cNvPr>
          <p:cNvSpPr>
            <a:spLocks noGrp="1"/>
          </p:cNvSpPr>
          <p:nvPr>
            <p:ph type="title"/>
          </p:nvPr>
        </p:nvSpPr>
        <p:spPr/>
        <p:txBody>
          <a:bodyPr/>
          <a:lstStyle/>
          <a:p>
            <a:r>
              <a:rPr lang="en-US" dirty="0"/>
              <a:t>Management of complications </a:t>
            </a:r>
          </a:p>
        </p:txBody>
      </p:sp>
      <p:graphicFrame>
        <p:nvGraphicFramePr>
          <p:cNvPr id="6" name="Content Placeholder 2">
            <a:extLst>
              <a:ext uri="{FF2B5EF4-FFF2-40B4-BE49-F238E27FC236}">
                <a16:creationId xmlns:a16="http://schemas.microsoft.com/office/drawing/2014/main" id="{9994726A-220B-4AA8-BB3E-DC8BFD927A11}"/>
              </a:ext>
            </a:extLst>
          </p:cNvPr>
          <p:cNvGraphicFramePr>
            <a:graphicFrameLocks noGrp="1"/>
          </p:cNvGraphicFramePr>
          <p:nvPr>
            <p:ph idx="1"/>
            <p:extLst>
              <p:ext uri="{D42A27DB-BD31-4B8C-83A1-F6EECF244321}">
                <p14:modId xmlns:p14="http://schemas.microsoft.com/office/powerpoint/2010/main" val="3533360617"/>
              </p:ext>
            </p:extLst>
          </p:nvPr>
        </p:nvGraphicFramePr>
        <p:xfrm>
          <a:off x="448056" y="1184032"/>
          <a:ext cx="11293200" cy="5404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5266980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8D92C-D04F-AA41-BE5B-F4E1BAD75C26}"/>
              </a:ext>
            </a:extLst>
          </p:cNvPr>
          <p:cNvSpPr>
            <a:spLocks noGrp="1"/>
          </p:cNvSpPr>
          <p:nvPr>
            <p:ph type="title"/>
          </p:nvPr>
        </p:nvSpPr>
        <p:spPr/>
        <p:txBody>
          <a:bodyPr/>
          <a:lstStyle/>
          <a:p>
            <a:r>
              <a:rPr lang="en-US" dirty="0"/>
              <a:t>Prognosis</a:t>
            </a:r>
          </a:p>
        </p:txBody>
      </p:sp>
      <p:sp>
        <p:nvSpPr>
          <p:cNvPr id="3" name="Content Placeholder 2">
            <a:extLst>
              <a:ext uri="{FF2B5EF4-FFF2-40B4-BE49-F238E27FC236}">
                <a16:creationId xmlns:a16="http://schemas.microsoft.com/office/drawing/2014/main" id="{166FD3AA-BD8D-F64F-86B2-75001168AD80}"/>
              </a:ext>
            </a:extLst>
          </p:cNvPr>
          <p:cNvSpPr>
            <a:spLocks noGrp="1"/>
          </p:cNvSpPr>
          <p:nvPr>
            <p:ph idx="1"/>
          </p:nvPr>
        </p:nvSpPr>
        <p:spPr>
          <a:xfrm>
            <a:off x="448056" y="1336431"/>
            <a:ext cx="11293200" cy="5132769"/>
          </a:xfrm>
        </p:spPr>
        <p:txBody>
          <a:bodyPr>
            <a:normAutofit/>
          </a:bodyPr>
          <a:lstStyle/>
          <a:p>
            <a:r>
              <a:rPr lang="en-US" dirty="0"/>
              <a:t>Outcomes after CVT are </a:t>
            </a:r>
            <a:r>
              <a:rPr lang="en-US" u="sng" dirty="0"/>
              <a:t>generally favorable</a:t>
            </a:r>
          </a:p>
          <a:p>
            <a:r>
              <a:rPr lang="en-US" dirty="0"/>
              <a:t>Women do better than men if they had a sex-specific risk factor</a:t>
            </a:r>
          </a:p>
          <a:p>
            <a:pPr lvl="1"/>
            <a:r>
              <a:rPr lang="en-US" dirty="0"/>
              <a:t>In one study 81% of women had complete recovery versus 71% of men</a:t>
            </a:r>
          </a:p>
          <a:p>
            <a:pPr lvl="1"/>
            <a:r>
              <a:rPr lang="en-US" dirty="0"/>
              <a:t>Women without sex-specific risk factors tended to have a worse outcome than women with these risk factors (OR for poor outcome 3.7; 95% CI, 1.9 to 7.4)</a:t>
            </a:r>
          </a:p>
          <a:p>
            <a:r>
              <a:rPr lang="en-US" dirty="0"/>
              <a:t>Risk of any thrombotic event after a CVT is about 6.5% per year (DVT, PE, Stroke, </a:t>
            </a:r>
            <a:r>
              <a:rPr lang="en-US" dirty="0" err="1"/>
              <a:t>etc</a:t>
            </a:r>
            <a:r>
              <a:rPr lang="en-US" dirty="0"/>
              <a:t>)</a:t>
            </a:r>
          </a:p>
          <a:p>
            <a:r>
              <a:rPr lang="en-US" u="sng" dirty="0"/>
              <a:t>Chronic anticoagulation:</a:t>
            </a:r>
            <a:r>
              <a:rPr lang="en-US" dirty="0"/>
              <a:t> Depends on risk factors</a:t>
            </a:r>
            <a:endParaRPr lang="en-US" u="sng" dirty="0"/>
          </a:p>
          <a:p>
            <a:pPr lvl="1"/>
            <a:r>
              <a:rPr lang="en-US" dirty="0"/>
              <a:t>Provoked CVT: 3-6 months of anticoagulation </a:t>
            </a:r>
          </a:p>
          <a:p>
            <a:pPr lvl="1"/>
            <a:r>
              <a:rPr lang="en-US" dirty="0"/>
              <a:t>Unprovoked CVT: 6-12 months of anticoagulation warfarin </a:t>
            </a:r>
          </a:p>
          <a:p>
            <a:pPr lvl="1"/>
            <a:r>
              <a:rPr lang="en-US" dirty="0"/>
              <a:t>Recurrent CVT, venous thromboembolism after CVT, or first CVT (provoked or unprovoked) with severe thrombophilia:  indefinite anticoagulation may be considered</a:t>
            </a:r>
          </a:p>
        </p:txBody>
      </p:sp>
    </p:spTree>
    <p:extLst>
      <p:ext uri="{BB962C8B-B14F-4D97-AF65-F5344CB8AC3E}">
        <p14:creationId xmlns:p14="http://schemas.microsoft.com/office/powerpoint/2010/main" val="1483323579"/>
      </p:ext>
    </p:extLst>
  </p:cSld>
  <p:clrMapOvr>
    <a:masterClrMapping/>
  </p:clrMapOvr>
</p:sld>
</file>

<file path=ppt/theme/theme1.xml><?xml version="1.0" encoding="utf-8"?>
<a:theme xmlns:a="http://schemas.openxmlformats.org/drawingml/2006/main" name="ThinLineVTI">
  <a:themeElements>
    <a:clrScheme name="Blue">
      <a:dk1>
        <a:srgbClr val="000000"/>
      </a:dk1>
      <a:lt1>
        <a:srgbClr val="FFFFFF"/>
      </a:lt1>
      <a:dk2>
        <a:srgbClr val="153A63"/>
      </a:dk2>
      <a:lt2>
        <a:srgbClr val="DBEFF9"/>
      </a:lt2>
      <a:accent1>
        <a:srgbClr val="0F6FC6"/>
      </a:accent1>
      <a:accent2>
        <a:srgbClr val="009DD9"/>
      </a:accent2>
      <a:accent3>
        <a:srgbClr val="09B8C0"/>
      </a:accent3>
      <a:accent4>
        <a:srgbClr val="0EBC8C"/>
      </a:accent4>
      <a:accent5>
        <a:srgbClr val="71B959"/>
      </a:accent5>
      <a:accent6>
        <a:srgbClr val="96B042"/>
      </a:accent6>
      <a:hlink>
        <a:srgbClr val="C37400"/>
      </a:hlink>
      <a:folHlink>
        <a:srgbClr val="4F9085"/>
      </a:folHlink>
    </a:clrScheme>
    <a:fontScheme name="Custom 3">
      <a:majorFont>
        <a:latin typeface="Bell MT"/>
        <a:ea typeface=""/>
        <a:cs typeface=""/>
      </a:majorFont>
      <a:minorFont>
        <a:latin typeface="Bell MT"/>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inLineVTI" id="{DA2A884B-D36C-4F63-9FE8-3C89F2B99A40}" vid="{62C1F77B-42AE-47B9-869B-5CE48C8ED8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16243</TotalTime>
  <Words>5286</Words>
  <Application>Microsoft Macintosh PowerPoint</Application>
  <PresentationFormat>Widescreen</PresentationFormat>
  <Paragraphs>637</Paragraphs>
  <Slides>70</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70</vt:i4>
      </vt:variant>
    </vt:vector>
  </HeadingPairs>
  <TitlesOfParts>
    <vt:vector size="76" baseType="lpstr">
      <vt:lpstr>Arial</vt:lpstr>
      <vt:lpstr>Bell MT</vt:lpstr>
      <vt:lpstr>Calibri</vt:lpstr>
      <vt:lpstr>Calibri Light</vt:lpstr>
      <vt:lpstr>Wingdings</vt:lpstr>
      <vt:lpstr>ThinLineVTI</vt:lpstr>
      <vt:lpstr>Cerebrovascular Disease</vt:lpstr>
      <vt:lpstr>Learning Objectives</vt:lpstr>
      <vt:lpstr>Learning Objectives</vt:lpstr>
      <vt:lpstr>Definitions</vt:lpstr>
      <vt:lpstr>What is a Stroke?</vt:lpstr>
      <vt:lpstr>Time is brain…</vt:lpstr>
      <vt:lpstr>Different strokes for different folks</vt:lpstr>
      <vt:lpstr>Epidemiology</vt:lpstr>
      <vt:lpstr>Acute Ischemic Stroke and TIA</vt:lpstr>
      <vt:lpstr>Ischemic Stroke</vt:lpstr>
      <vt:lpstr>PowerPoint Presentation</vt:lpstr>
      <vt:lpstr>Pathophysiology</vt:lpstr>
      <vt:lpstr>Vascular territories </vt:lpstr>
      <vt:lpstr>PowerPoint Presentation</vt:lpstr>
      <vt:lpstr>Mechanisms of acute ischemic stroke</vt:lpstr>
      <vt:lpstr>Risk Factors</vt:lpstr>
      <vt:lpstr>Clinical Presentation</vt:lpstr>
      <vt:lpstr>Differential Diagnosis Considerations</vt:lpstr>
      <vt:lpstr>Treatment/management principles</vt:lpstr>
      <vt:lpstr>IV tPA – Mechanism of action and establishment of efficacy</vt:lpstr>
      <vt:lpstr>Acute thrombolysis with IV tPA: eligibility algorithm</vt:lpstr>
      <vt:lpstr>Physical Examination</vt:lpstr>
      <vt:lpstr>NIHSS</vt:lpstr>
      <vt:lpstr>NIHSS Instruction</vt:lpstr>
      <vt:lpstr>Initial Imaging in Acute Stroke</vt:lpstr>
      <vt:lpstr>Imaging in  acute stroke</vt:lpstr>
      <vt:lpstr>History</vt:lpstr>
      <vt:lpstr>Treatment  algorithm</vt:lpstr>
      <vt:lpstr>Acute thrombolysis with IV tPA</vt:lpstr>
      <vt:lpstr>Contraindications to IV tPA</vt:lpstr>
      <vt:lpstr>Post IV tPA management</vt:lpstr>
      <vt:lpstr>Mechanical Thrombectomy for Large Vessel Occlusion</vt:lpstr>
      <vt:lpstr>Mechanical Thrombectomy for Large Vessel Occlusion</vt:lpstr>
      <vt:lpstr>Extended Window for Thrombectomy</vt:lpstr>
      <vt:lpstr>Subacute stroke </vt:lpstr>
      <vt:lpstr>Secondary Stroke Prevention  (for all stroke patients whether they got tPA/thrombectomy or not)</vt:lpstr>
      <vt:lpstr>Malignant Hemispheric Stroke</vt:lpstr>
      <vt:lpstr>Case Example</vt:lpstr>
      <vt:lpstr>Case Example</vt:lpstr>
      <vt:lpstr>Case Example</vt:lpstr>
      <vt:lpstr>Case Example</vt:lpstr>
      <vt:lpstr>Case Example</vt:lpstr>
      <vt:lpstr>Hemorrhagic Stroke</vt:lpstr>
      <vt:lpstr>Intracerebral Hemorrhage (ICH)</vt:lpstr>
      <vt:lpstr>ICH pathophysiology</vt:lpstr>
      <vt:lpstr>Clinical presentation </vt:lpstr>
      <vt:lpstr>Risk factors/triggers</vt:lpstr>
      <vt:lpstr>Work up </vt:lpstr>
      <vt:lpstr>Treatment/management principles</vt:lpstr>
      <vt:lpstr>Treatment/management principles </vt:lpstr>
      <vt:lpstr>Treatment/management principles</vt:lpstr>
      <vt:lpstr>Prognosis</vt:lpstr>
      <vt:lpstr>Subarachnoid Hemorrhage</vt:lpstr>
      <vt:lpstr>Epidemiology / Risk Factors</vt:lpstr>
      <vt:lpstr>Pathophysiology</vt:lpstr>
      <vt:lpstr>Clinical presentation </vt:lpstr>
      <vt:lpstr>Diagnosis / Work up </vt:lpstr>
      <vt:lpstr>Grading Scales</vt:lpstr>
      <vt:lpstr>Treatment / management principles </vt:lpstr>
      <vt:lpstr>Treatment/ management principles</vt:lpstr>
      <vt:lpstr>Treatment / management principles</vt:lpstr>
      <vt:lpstr>Outcomes </vt:lpstr>
      <vt:lpstr>Venous Thrombosis</vt:lpstr>
      <vt:lpstr>Cerebral Venous Thrombosis</vt:lpstr>
      <vt:lpstr>CVT Epidemiology &amp; Risk Factors</vt:lpstr>
      <vt:lpstr>Clinical presentation</vt:lpstr>
      <vt:lpstr>Diagnosis  </vt:lpstr>
      <vt:lpstr>Acute Management</vt:lpstr>
      <vt:lpstr>Management of complications </vt:lpstr>
      <vt:lpstr>Prognosis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Cerebrovascular Disease</dc:title>
  <dc:creator>Jason Massa</dc:creator>
  <cp:lastModifiedBy>Jason Massa</cp:lastModifiedBy>
  <cp:revision>71</cp:revision>
  <dcterms:created xsi:type="dcterms:W3CDTF">2021-03-17T15:40:37Z</dcterms:created>
  <dcterms:modified xsi:type="dcterms:W3CDTF">2021-10-20T14:42:28Z</dcterms:modified>
</cp:coreProperties>
</file>